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16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938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51 from the Department of Software Engineering, presenting our final year project, BuilderConnect.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number is 51. The project is BuilderConnect — an online marketplace connecting clients with verified builders and contractors across Pakistan.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of four. Ali Hasan Sheikh is group leader and full-stack developer who architected the system; Hammad built the React front-end; Jahanzaib owned the data model and testing; Ahmed led documentation and quality assurance.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Pakistan, hiring a builder is still driven by word of mouth. There is no verification, no transparent pricing, and no way to track a project — clients carry all the risk.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BuilderConnect is a single trusted marketplace: verified builders, structured bidding, and the full project lifecycle managed in one place — with AI assistance built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is a full web platform serving eight roles across the construction lifecycle. The purpose is to make hiring transparent, trustworthy and efficient.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a classic three tier: a React single-page app talks over REST and WebSocket to a Spring Boot backend, which persists to MySQL through Flyway-managed schema. External services handle files, payments, and 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flow: a verified client posts a project, builders bid, the client awards one, a contract is signed, work proceeds milestone by milestone with payment on approval, and the project closes with a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React and TypeScript on the front end, Java Spring Boot on the back end, MySQL for data, WebSocket for realtime, and integrations for payments, AI and maps. Hardware needs are modest — a standard development machine and cloud hosting.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Agile Scrum. Each sprint shipped a working module — plan, build, test, review — over a twelve-week plan across five phases.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built: eight working roles, twenty-five REST controllers, forty-seven database migrations, and a four-feature AI suite — all running end to end.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product, BuilderConnect is a working web application. These are the key surfaces clients and builders use every 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two-sided marketplace: free for clients to attract demand, monetized through builder subscriptions and lead credits on the supply side.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leans on free and open-source tools, so build cost is mostly time plus modest cloud and AI usage. Revenue comes from the builder subscription tiers shown here, from Free up to Enterprise at Rs 14,999 per 30 days.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native mobile apps, full online escrow payments, smarter AI matching, deeper supplier logistics, multi-city expansion and a full Urdu interface.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BuilderConnect solves a real problem in Pakistan's construction market with a complete, AI-enhanced, scalable platform.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1143000" y="1048351"/>
            <a:ext cx="17602200" cy="330200"/>
          </a:xfrm>
          <a:prstGeom prst="rect">
            <a:avLst/>
          </a:prstGeom>
          <a:noFill/>
          <a:ln/>
        </p:spPr>
        <p:txBody>
          <a:bodyPr wrap="square" lIns="25400" tIns="25400" rIns="25400" bIns="25400" rtlCol="0" anchor="t">
            <a:normAutofit/>
          </a:bodyPr>
          <a:lstStyle/>
          <a:p>
            <a:pPr marL="0" indent="0" algn="l">
              <a:buNone/>
            </a:pPr>
            <a:r>
              <a:rPr lang="en-US" sz="1800" kern="0" spc="504" dirty="0">
                <a:solidFill>
                  <a:srgbClr val="F2661A"/>
                </a:solidFill>
                <a:latin typeface="Courier New" pitchFamily="34" charset="0"/>
                <a:ea typeface="Courier New" pitchFamily="34" charset="-122"/>
                <a:cs typeface="Courier New" pitchFamily="34" charset="-120"/>
              </a:rPr>
              <a:t>SIR SYED UNIVERSITY OF ENGINEERING &amp; TECHNOLOGY</a:t>
            </a:r>
            <a:endParaRPr lang="en-US" sz="1800" dirty="0"/>
          </a:p>
        </p:txBody>
      </p:sp>
      <p:sp>
        <p:nvSpPr>
          <p:cNvPr id="3" name="Shape 1"/>
          <p:cNvSpPr/>
          <p:nvPr/>
        </p:nvSpPr>
        <p:spPr>
          <a:xfrm>
            <a:off x="13716000" y="5911320"/>
            <a:ext cx="5905500" cy="5905500"/>
          </a:xfrm>
          <a:prstGeom prst="ellipse">
            <a:avLst/>
          </a:prstGeom>
          <a:ln w="12700">
            <a:solidFill>
              <a:srgbClr val="F2661A">
                <a:alpha val="16000"/>
              </a:srgbClr>
            </a:solidFill>
            <a:prstDash val="solid"/>
          </a:ln>
        </p:spPr>
      </p:sp>
      <p:sp>
        <p:nvSpPr>
          <p:cNvPr id="4" name="Shape 2"/>
          <p:cNvSpPr/>
          <p:nvPr/>
        </p:nvSpPr>
        <p:spPr>
          <a:xfrm>
            <a:off x="14668500" y="6495759"/>
            <a:ext cx="3429000" cy="3429000"/>
          </a:xfrm>
          <a:prstGeom prst="ellipse">
            <a:avLst/>
          </a:prstGeom>
          <a:ln w="12700">
            <a:solidFill>
              <a:srgbClr val="F2661A">
                <a:alpha val="9000"/>
              </a:srgbClr>
            </a:solidFill>
            <a:prstDash val="solid"/>
          </a:ln>
        </p:spPr>
      </p:sp>
      <p:sp>
        <p:nvSpPr>
          <p:cNvPr id="5" name="Shape 3"/>
          <p:cNvSpPr/>
          <p:nvPr/>
        </p:nvSpPr>
        <p:spPr>
          <a:xfrm>
            <a:off x="1143000" y="3451377"/>
            <a:ext cx="914400" cy="57150"/>
          </a:xfrm>
          <a:prstGeom prst="rect">
            <a:avLst/>
          </a:prstGeom>
          <a:solidFill>
            <a:srgbClr val="F2661A">
              <a:alpha val="83000"/>
            </a:srgbClr>
          </a:solidFill>
          <a:ln/>
        </p:spPr>
      </p:sp>
      <p:sp>
        <p:nvSpPr>
          <p:cNvPr id="6" name="Text 4"/>
          <p:cNvSpPr/>
          <p:nvPr/>
        </p:nvSpPr>
        <p:spPr>
          <a:xfrm>
            <a:off x="1143000" y="3927627"/>
            <a:ext cx="11772900" cy="2240756"/>
          </a:xfrm>
          <a:prstGeom prst="rect">
            <a:avLst/>
          </a:prstGeom>
          <a:noFill/>
          <a:ln/>
        </p:spPr>
        <p:txBody>
          <a:bodyPr wrap="square" lIns="25400" tIns="25400" rIns="25400" bIns="25400" rtlCol="0" anchor="t">
            <a:normAutofit lnSpcReduction="10000"/>
          </a:bodyPr>
          <a:lstStyle/>
          <a:p>
            <a:pPr marL="0" indent="0" algn="l">
              <a:lnSpc>
                <a:spcPct val="85029"/>
              </a:lnSpc>
              <a:buNone/>
            </a:pPr>
            <a:r>
              <a:rPr lang="en-US" sz="8850" b="1" kern="0" spc="-177" dirty="0">
                <a:solidFill>
                  <a:srgbClr val="F7F4EF">
                    <a:alpha val="83000"/>
                  </a:srgbClr>
                </a:solidFill>
                <a:latin typeface="Arial" pitchFamily="34" charset="0"/>
                <a:ea typeface="Arial" pitchFamily="34" charset="-122"/>
                <a:cs typeface="Arial" pitchFamily="34" charset="-120"/>
              </a:rPr>
              <a:t>Final Year Project Presentation</a:t>
            </a:r>
            <a:endParaRPr lang="en-US" sz="8850" dirty="0"/>
          </a:p>
        </p:txBody>
      </p:sp>
      <p:sp>
        <p:nvSpPr>
          <p:cNvPr id="7" name="Text 5"/>
          <p:cNvSpPr/>
          <p:nvPr/>
        </p:nvSpPr>
        <p:spPr>
          <a:xfrm>
            <a:off x="1143000" y="6511283"/>
            <a:ext cx="12573000" cy="457200"/>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9BEB2">
                    <a:alpha val="83000"/>
                  </a:srgbClr>
                </a:solidFill>
                <a:latin typeface="Arial" pitchFamily="34" charset="0"/>
                <a:ea typeface="Arial" pitchFamily="34" charset="-122"/>
                <a:cs typeface="Arial" pitchFamily="34" charset="-120"/>
              </a:rPr>
              <a:t>Department of Software Engineering</a:t>
            </a:r>
            <a:endParaRPr lang="en-US" sz="2850" dirty="0"/>
          </a:p>
        </p:txBody>
      </p:sp>
      <p:sp>
        <p:nvSpPr>
          <p:cNvPr id="8" name="Text 6"/>
          <p:cNvSpPr/>
          <p:nvPr/>
        </p:nvSpPr>
        <p:spPr>
          <a:xfrm>
            <a:off x="1143000" y="9034578"/>
            <a:ext cx="4287480" cy="317500"/>
          </a:xfrm>
          <a:prstGeom prst="rect">
            <a:avLst/>
          </a:prstGeom>
          <a:noFill/>
          <a:ln/>
        </p:spPr>
        <p:txBody>
          <a:bodyPr wrap="square" lIns="25400" tIns="25400" rIns="25400" bIns="25400" rtlCol="0" anchor="t">
            <a:normAutofit/>
          </a:bodyPr>
          <a:lstStyle/>
          <a:p>
            <a:pPr marL="0" indent="0" algn="l">
              <a:buNone/>
            </a:pPr>
            <a:r>
              <a:rPr lang="en-US" sz="1650" dirty="0">
                <a:solidFill>
                  <a:srgbClr val="8F857A">
                    <a:alpha val="70000"/>
                  </a:srgbClr>
                </a:solidFill>
                <a:latin typeface="Courier New" pitchFamily="34" charset="0"/>
                <a:ea typeface="Courier New" pitchFamily="34" charset="-122"/>
                <a:cs typeface="Courier New" pitchFamily="34" charset="-120"/>
              </a:rPr>
              <a:t>Batch 2022F · Session 2025–2026</a:t>
            </a:r>
            <a:endParaRPr lang="en-US" sz="1650" dirty="0"/>
          </a:p>
        </p:txBody>
      </p:sp>
      <p:sp>
        <p:nvSpPr>
          <p:cNvPr id="9" name="Text 7"/>
          <p:cNvSpPr/>
          <p:nvPr/>
        </p:nvSpPr>
        <p:spPr>
          <a:xfrm>
            <a:off x="15384661" y="9034578"/>
            <a:ext cx="1936373" cy="317500"/>
          </a:xfrm>
          <a:prstGeom prst="rect">
            <a:avLst/>
          </a:prstGeom>
          <a:noFill/>
          <a:ln/>
        </p:spPr>
        <p:txBody>
          <a:bodyPr wrap="square" lIns="25400" tIns="25400" rIns="25400" bIns="25400" rtlCol="0" anchor="t">
            <a:normAutofit/>
          </a:bodyPr>
          <a:lstStyle/>
          <a:p>
            <a:pPr marL="0" indent="0" algn="l">
              <a:buNone/>
            </a:pPr>
            <a:r>
              <a:rPr lang="en-US" sz="1650" dirty="0">
                <a:solidFill>
                  <a:srgbClr val="F2661A">
                    <a:alpha val="70000"/>
                  </a:srgbClr>
                </a:solidFill>
                <a:latin typeface="Courier New" pitchFamily="34" charset="0"/>
                <a:ea typeface="Courier New" pitchFamily="34" charset="-122"/>
                <a:cs typeface="Courier New" pitchFamily="34" charset="-120"/>
              </a:rPr>
              <a:t>Project No. 51</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1143000" y="2779135"/>
            <a:ext cx="2323604" cy="330200"/>
          </a:xfrm>
          <a:prstGeom prst="rect">
            <a:avLst/>
          </a:prstGeom>
          <a:noFill/>
          <a:ln/>
        </p:spPr>
        <p:txBody>
          <a:bodyPr wrap="square" lIns="25400" tIns="25400" rIns="25400" bIns="25400" rtlCol="0" anchor="t">
            <a:normAutofit/>
          </a:bodyPr>
          <a:lstStyle/>
          <a:p>
            <a:pPr marL="0" indent="0" algn="l">
              <a:buNone/>
            </a:pPr>
            <a:r>
              <a:rPr lang="en-US" sz="1800" kern="0" spc="432" dirty="0">
                <a:solidFill>
                  <a:srgbClr val="6B625A"/>
                </a:solidFill>
                <a:latin typeface="Courier New" pitchFamily="34" charset="0"/>
                <a:ea typeface="Courier New" pitchFamily="34" charset="-122"/>
                <a:cs typeface="Courier New" pitchFamily="34" charset="-120"/>
              </a:rPr>
              <a:t>PROJECT NO.</a:t>
            </a:r>
            <a:endParaRPr lang="en-US" sz="1800" dirty="0"/>
          </a:p>
        </p:txBody>
      </p:sp>
      <p:sp>
        <p:nvSpPr>
          <p:cNvPr id="3" name="Text 1"/>
          <p:cNvSpPr/>
          <p:nvPr/>
        </p:nvSpPr>
        <p:spPr>
          <a:xfrm>
            <a:off x="3445867" y="2499735"/>
            <a:ext cx="754261" cy="647700"/>
          </a:xfrm>
          <a:prstGeom prst="rect">
            <a:avLst/>
          </a:prstGeom>
          <a:noFill/>
          <a:ln/>
        </p:spPr>
        <p:txBody>
          <a:bodyPr wrap="square" lIns="25400" tIns="25400" rIns="25400" bIns="25400" rtlCol="0" anchor="t">
            <a:normAutofit lnSpcReduction="10000"/>
          </a:bodyPr>
          <a:lstStyle/>
          <a:p>
            <a:pPr marL="0" indent="0" algn="l">
              <a:lnSpc>
                <a:spcPct val="87273"/>
              </a:lnSpc>
              <a:buNone/>
            </a:pPr>
            <a:r>
              <a:rPr lang="en-US" sz="4800" b="1" dirty="0">
                <a:solidFill>
                  <a:srgbClr val="F2661A"/>
                </a:solidFill>
                <a:latin typeface="Arial" pitchFamily="34" charset="0"/>
                <a:ea typeface="Arial" pitchFamily="34" charset="-122"/>
                <a:cs typeface="Arial" pitchFamily="34" charset="-120"/>
              </a:rPr>
              <a:t>51</a:t>
            </a:r>
            <a:endParaRPr lang="en-US" sz="4800" dirty="0"/>
          </a:p>
        </p:txBody>
      </p:sp>
      <p:sp>
        <p:nvSpPr>
          <p:cNvPr id="4" name="Text 2"/>
          <p:cNvSpPr/>
          <p:nvPr/>
        </p:nvSpPr>
        <p:spPr>
          <a:xfrm>
            <a:off x="1143000" y="3376035"/>
            <a:ext cx="10286940" cy="1008856"/>
          </a:xfrm>
          <a:prstGeom prst="rect">
            <a:avLst/>
          </a:prstGeom>
          <a:noFill/>
          <a:ln/>
        </p:spPr>
        <p:txBody>
          <a:bodyPr wrap="square" lIns="25400" tIns="25400" rIns="25400" bIns="25400" rtlCol="0" anchor="t">
            <a:normAutofit lnSpcReduction="10000"/>
          </a:bodyPr>
          <a:lstStyle/>
          <a:p>
            <a:pPr marL="0" indent="0" algn="l">
              <a:lnSpc>
                <a:spcPct val="84000"/>
              </a:lnSpc>
              <a:buNone/>
            </a:pPr>
            <a:r>
              <a:rPr lang="en-US" sz="7800" b="1" kern="0" spc="-156" dirty="0">
                <a:solidFill>
                  <a:srgbClr val="1A1714"/>
                </a:solidFill>
                <a:latin typeface="Arial" pitchFamily="34" charset="0"/>
                <a:ea typeface="Arial" pitchFamily="34" charset="-122"/>
                <a:cs typeface="Arial" pitchFamily="34" charset="-120"/>
              </a:rPr>
              <a:t>BuilderConnect</a:t>
            </a:r>
            <a:endParaRPr lang="en-US" sz="7800" dirty="0"/>
          </a:p>
        </p:txBody>
      </p:sp>
      <p:sp>
        <p:nvSpPr>
          <p:cNvPr id="5" name="Text 3"/>
          <p:cNvSpPr/>
          <p:nvPr/>
        </p:nvSpPr>
        <p:spPr>
          <a:xfrm>
            <a:off x="1143000" y="4613491"/>
            <a:ext cx="8044815" cy="1524000"/>
          </a:xfrm>
          <a:prstGeom prst="rect">
            <a:avLst/>
          </a:prstGeom>
          <a:noFill/>
          <a:ln/>
        </p:spPr>
        <p:txBody>
          <a:bodyPr wrap="square" lIns="25400" tIns="25400" rIns="25400" bIns="25400" rtlCol="0" anchor="t">
            <a:normAutofit/>
          </a:bodyPr>
          <a:lstStyle/>
          <a:p>
            <a:pPr marL="0" indent="0" algn="l">
              <a:buNone/>
            </a:pPr>
            <a:r>
              <a:rPr lang="en-US" sz="3000" dirty="0">
                <a:solidFill>
                  <a:srgbClr val="4A423B"/>
                </a:solidFill>
                <a:latin typeface="Arial" pitchFamily="34" charset="0"/>
                <a:ea typeface="Arial" pitchFamily="34" charset="-122"/>
                <a:cs typeface="Arial" pitchFamily="34" charset="-120"/>
              </a:rPr>
              <a:t>An online marketplace for builders &amp; contractors — bringing trust and transparency to Pakistan's construction industry.</a:t>
            </a:r>
            <a:endParaRPr lang="en-US" sz="3000" dirty="0"/>
          </a:p>
        </p:txBody>
      </p:sp>
      <p:sp>
        <p:nvSpPr>
          <p:cNvPr id="6" name="Shape 4"/>
          <p:cNvSpPr/>
          <p:nvPr/>
        </p:nvSpPr>
        <p:spPr>
          <a:xfrm>
            <a:off x="1143000" y="6556592"/>
            <a:ext cx="762000" cy="57150"/>
          </a:xfrm>
          <a:prstGeom prst="rect">
            <a:avLst/>
          </a:prstGeom>
          <a:solidFill>
            <a:srgbClr val="2F8F57"/>
          </a:solidFill>
          <a:ln/>
        </p:spPr>
      </p:sp>
      <p:sp>
        <p:nvSpPr>
          <p:cNvPr id="7" name="Text 5"/>
          <p:cNvSpPr/>
          <p:nvPr/>
        </p:nvSpPr>
        <p:spPr>
          <a:xfrm>
            <a:off x="1143000" y="6994742"/>
            <a:ext cx="10286940" cy="317500"/>
          </a:xfrm>
          <a:prstGeom prst="rect">
            <a:avLst/>
          </a:prstGeom>
          <a:noFill/>
          <a:ln/>
        </p:spPr>
        <p:txBody>
          <a:bodyPr wrap="square" lIns="25400" tIns="25400" rIns="25400" bIns="25400" rtlCol="0" anchor="t">
            <a:normAutofit/>
          </a:bodyPr>
          <a:lstStyle/>
          <a:p>
            <a:pPr marL="0" indent="0" algn="l">
              <a:buNone/>
            </a:pPr>
            <a:r>
              <a:rPr lang="en-US" sz="1650" kern="0" spc="231" dirty="0">
                <a:solidFill>
                  <a:srgbClr val="6B625A"/>
                </a:solidFill>
                <a:latin typeface="Courier New" pitchFamily="34" charset="0"/>
                <a:ea typeface="Courier New" pitchFamily="34" charset="-122"/>
                <a:cs typeface="Courier New" pitchFamily="34" charset="-120"/>
              </a:rPr>
              <a:t>SUPERVISED BY</a:t>
            </a:r>
            <a:endParaRPr lang="en-US" sz="1650" dirty="0"/>
          </a:p>
        </p:txBody>
      </p:sp>
      <p:sp>
        <p:nvSpPr>
          <p:cNvPr id="8" name="Text 6"/>
          <p:cNvSpPr/>
          <p:nvPr/>
        </p:nvSpPr>
        <p:spPr>
          <a:xfrm>
            <a:off x="1143000" y="7369391"/>
            <a:ext cx="10286940" cy="457200"/>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A1714"/>
                </a:solidFill>
                <a:latin typeface="Arial" pitchFamily="34" charset="0"/>
                <a:ea typeface="Arial" pitchFamily="34" charset="-122"/>
                <a:cs typeface="Arial" pitchFamily="34" charset="-120"/>
              </a:rPr>
              <a:t>Miss Kiran Hidayat</a:t>
            </a:r>
            <a:endParaRPr lang="en-US" sz="2850" dirty="0"/>
          </a:p>
        </p:txBody>
      </p:sp>
      <p:pic>
        <p:nvPicPr>
          <p:cNvPr id="9" name="Image 0" descr="preencoded.png"/>
          <p:cNvPicPr>
            <a:picLocks noChangeAspect="1"/>
          </p:cNvPicPr>
          <p:nvPr/>
        </p:nvPicPr>
        <p:blipFill>
          <a:blip r:embed="rId3"/>
          <a:stretch>
            <a:fillRect/>
          </a:stretch>
        </p:blipFill>
        <p:spPr>
          <a:xfrm>
            <a:off x="11805246" y="2280752"/>
            <a:ext cx="4791075" cy="52673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857250" y="553527"/>
            <a:ext cx="1823085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THE TEAM</a:t>
            </a:r>
            <a:endParaRPr lang="en-US" sz="1650" dirty="0"/>
          </a:p>
        </p:txBody>
      </p:sp>
      <p:sp>
        <p:nvSpPr>
          <p:cNvPr id="3" name="Text 1"/>
          <p:cNvSpPr/>
          <p:nvPr/>
        </p:nvSpPr>
        <p:spPr>
          <a:xfrm>
            <a:off x="857250" y="934478"/>
            <a:ext cx="18230850" cy="647700"/>
          </a:xfrm>
          <a:prstGeom prst="rect">
            <a:avLst/>
          </a:prstGeom>
          <a:noFill/>
          <a:ln/>
        </p:spPr>
        <p:txBody>
          <a:bodyPr wrap="square" lIns="25400" tIns="25400" rIns="25400" bIns="25400" rtlCol="0" anchor="t">
            <a:normAutofit lnSpcReduction="10000"/>
          </a:bodyPr>
          <a:lstStyle/>
          <a:p>
            <a:pPr marL="0" indent="0" algn="l">
              <a:buNone/>
            </a:pPr>
            <a:r>
              <a:rPr lang="en-US" sz="4200" b="1" kern="0" spc="-42" dirty="0">
                <a:solidFill>
                  <a:srgbClr val="1A1714">
                    <a:alpha val="97000"/>
                  </a:srgbClr>
                </a:solidFill>
                <a:latin typeface="Arial" pitchFamily="34" charset="0"/>
                <a:ea typeface="Arial" pitchFamily="34" charset="-122"/>
                <a:cs typeface="Arial" pitchFamily="34" charset="-120"/>
              </a:rPr>
              <a:t>Team Members &amp; Work Distribution</a:t>
            </a:r>
            <a:endParaRPr lang="en-US" sz="4200" dirty="0"/>
          </a:p>
        </p:txBody>
      </p:sp>
      <p:sp>
        <p:nvSpPr>
          <p:cNvPr id="4" name="Shape 2"/>
          <p:cNvSpPr/>
          <p:nvPr/>
        </p:nvSpPr>
        <p:spPr>
          <a:xfrm>
            <a:off x="857250" y="1844484"/>
            <a:ext cx="3957638" cy="7912100"/>
          </a:xfrm>
          <a:prstGeom prst="roundRect">
            <a:avLst>
              <a:gd name="adj" fmla="val 3851"/>
            </a:avLst>
          </a:prstGeom>
          <a:solidFill>
            <a:srgbClr val="FFFFFF">
              <a:alpha val="91000"/>
            </a:srgbClr>
          </a:solidFill>
          <a:ln/>
          <a:effectLst>
            <a:outerShdw blurRad="323850" dist="114300" dir="5400000" algn="bl" rotWithShape="0">
              <a:srgbClr val="1A1714">
                <a:alpha val="6377"/>
              </a:srgbClr>
            </a:outerShdw>
          </a:effectLst>
        </p:spPr>
      </p:sp>
      <p:sp>
        <p:nvSpPr>
          <p:cNvPr id="5" name="Shape 3"/>
          <p:cNvSpPr/>
          <p:nvPr/>
        </p:nvSpPr>
        <p:spPr>
          <a:xfrm>
            <a:off x="857250" y="1844484"/>
            <a:ext cx="3957638" cy="50800"/>
          </a:xfrm>
          <a:prstGeom prst="rect">
            <a:avLst/>
          </a:prstGeom>
          <a:solidFill>
            <a:srgbClr val="F2661A">
              <a:alpha val="91000"/>
            </a:srgbClr>
          </a:solidFill>
          <a:ln/>
        </p:spPr>
      </p:sp>
      <p:pic>
        <p:nvPicPr>
          <p:cNvPr id="6" name="Image 0" descr="preencoded.png"/>
          <p:cNvPicPr>
            <a:picLocks noChangeAspect="1"/>
          </p:cNvPicPr>
          <p:nvPr/>
        </p:nvPicPr>
        <p:blipFill>
          <a:blip r:embed="rId3"/>
          <a:stretch>
            <a:fillRect/>
          </a:stretch>
        </p:blipFill>
        <p:spPr>
          <a:xfrm>
            <a:off x="2216944" y="2200084"/>
            <a:ext cx="1238250" cy="1238250"/>
          </a:xfrm>
          <a:prstGeom prst="rect">
            <a:avLst/>
          </a:prstGeom>
        </p:spPr>
      </p:pic>
      <p:sp>
        <p:nvSpPr>
          <p:cNvPr id="7" name="Text 4"/>
          <p:cNvSpPr/>
          <p:nvPr/>
        </p:nvSpPr>
        <p:spPr>
          <a:xfrm>
            <a:off x="1758851" y="3628834"/>
            <a:ext cx="2154436" cy="330200"/>
          </a:xfrm>
          <a:prstGeom prst="rect">
            <a:avLst/>
          </a:prstGeom>
          <a:noFill/>
          <a:ln/>
        </p:spPr>
        <p:txBody>
          <a:bodyPr wrap="square" lIns="25400" tIns="25400" rIns="25400" bIns="25400" rtlCol="0" anchor="t">
            <a:normAutofit lnSpcReduction="10000"/>
          </a:bodyPr>
          <a:lstStyle/>
          <a:p>
            <a:pPr marL="0" indent="0" algn="ctr">
              <a:buNone/>
            </a:pPr>
            <a:r>
              <a:rPr lang="en-US" sz="2025" b="1" dirty="0">
                <a:solidFill>
                  <a:srgbClr val="1A1714">
                    <a:alpha val="91000"/>
                  </a:srgbClr>
                </a:solidFill>
                <a:latin typeface="Arial" pitchFamily="34" charset="0"/>
                <a:ea typeface="Arial" pitchFamily="34" charset="-122"/>
                <a:cs typeface="Arial" pitchFamily="34" charset="-120"/>
              </a:rPr>
              <a:t>Ali Hasan Sheikh</a:t>
            </a:r>
            <a:endParaRPr lang="en-US" sz="2025" dirty="0"/>
          </a:p>
        </p:txBody>
      </p:sp>
      <p:sp>
        <p:nvSpPr>
          <p:cNvPr id="8" name="Text 5"/>
          <p:cNvSpPr/>
          <p:nvPr/>
        </p:nvSpPr>
        <p:spPr>
          <a:xfrm>
            <a:off x="2100461" y="3978084"/>
            <a:ext cx="1471216"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F2661A">
                    <a:alpha val="91000"/>
                  </a:srgbClr>
                </a:solidFill>
                <a:latin typeface="Courier New" pitchFamily="34" charset="0"/>
                <a:ea typeface="Courier New" pitchFamily="34" charset="-122"/>
                <a:cs typeface="Courier New" pitchFamily="34" charset="-120"/>
              </a:rPr>
              <a:t>2022F-BSE-178</a:t>
            </a:r>
            <a:endParaRPr lang="en-US" sz="1350" dirty="0"/>
          </a:p>
        </p:txBody>
      </p:sp>
      <p:sp>
        <p:nvSpPr>
          <p:cNvPr id="9" name="Shape 6"/>
          <p:cNvSpPr/>
          <p:nvPr/>
        </p:nvSpPr>
        <p:spPr>
          <a:xfrm>
            <a:off x="2186781" y="4301934"/>
            <a:ext cx="1298575" cy="241300"/>
          </a:xfrm>
          <a:prstGeom prst="roundRect">
            <a:avLst>
              <a:gd name="adj" fmla="val 50000"/>
            </a:avLst>
          </a:prstGeom>
          <a:solidFill>
            <a:srgbClr val="F2661A">
              <a:alpha val="91000"/>
            </a:srgbClr>
          </a:solidFill>
          <a:ln/>
        </p:spPr>
      </p:sp>
      <p:sp>
        <p:nvSpPr>
          <p:cNvPr id="10" name="Text 7"/>
          <p:cNvSpPr/>
          <p:nvPr/>
        </p:nvSpPr>
        <p:spPr>
          <a:xfrm>
            <a:off x="2262981" y="4340034"/>
            <a:ext cx="1146175" cy="203200"/>
          </a:xfrm>
          <a:prstGeom prst="rect">
            <a:avLst/>
          </a:prstGeom>
          <a:noFill/>
          <a:ln/>
        </p:spPr>
        <p:txBody>
          <a:bodyPr wrap="square" lIns="25400" tIns="25400" rIns="25400" bIns="25400" rtlCol="0" anchor="t">
            <a:normAutofit/>
          </a:bodyPr>
          <a:lstStyle/>
          <a:p>
            <a:pPr marL="0" indent="0" algn="ctr">
              <a:buNone/>
            </a:pPr>
            <a:r>
              <a:rPr lang="en-US" sz="975" kern="0" spc="117" dirty="0">
                <a:solidFill>
                  <a:srgbClr val="FFFFFF">
                    <a:alpha val="91000"/>
                  </a:srgbClr>
                </a:solidFill>
                <a:latin typeface="Courier New" pitchFamily="34" charset="0"/>
                <a:ea typeface="Courier New" pitchFamily="34" charset="-122"/>
                <a:cs typeface="Courier New" pitchFamily="34" charset="-120"/>
              </a:rPr>
              <a:t>GROUP LEADER</a:t>
            </a:r>
            <a:endParaRPr lang="en-US" sz="975" dirty="0"/>
          </a:p>
        </p:txBody>
      </p:sp>
      <p:sp>
        <p:nvSpPr>
          <p:cNvPr id="11" name="Text 8"/>
          <p:cNvSpPr/>
          <p:nvPr/>
        </p:nvSpPr>
        <p:spPr>
          <a:xfrm>
            <a:off x="1071275" y="4676584"/>
            <a:ext cx="3529390" cy="241300"/>
          </a:xfrm>
          <a:prstGeom prst="rect">
            <a:avLst/>
          </a:prstGeom>
          <a:noFill/>
          <a:ln/>
        </p:spPr>
        <p:txBody>
          <a:bodyPr wrap="square" lIns="25400" tIns="25400" rIns="25400" bIns="25400" rtlCol="0" anchor="t">
            <a:normAutofit fontScale="92500" lnSpcReduction="10000"/>
          </a:bodyPr>
          <a:lstStyle/>
          <a:p>
            <a:pPr marL="0" indent="0" algn="ctr">
              <a:buNone/>
            </a:pPr>
            <a:r>
              <a:rPr lang="en-US" sz="1425" b="1" dirty="0">
                <a:solidFill>
                  <a:srgbClr val="2F8F57">
                    <a:alpha val="91000"/>
                  </a:srgbClr>
                </a:solidFill>
                <a:latin typeface="Arial" pitchFamily="34" charset="0"/>
                <a:ea typeface="Arial" pitchFamily="34" charset="-122"/>
                <a:cs typeface="Arial" pitchFamily="34" charset="-120"/>
              </a:rPr>
              <a:t>Full-Stack Developer &amp; Project Architect</a:t>
            </a:r>
            <a:endParaRPr lang="en-US" sz="1425" dirty="0"/>
          </a:p>
        </p:txBody>
      </p:sp>
      <p:sp>
        <p:nvSpPr>
          <p:cNvPr id="12" name="Text 9"/>
          <p:cNvSpPr/>
          <p:nvPr/>
        </p:nvSpPr>
        <p:spPr>
          <a:xfrm>
            <a:off x="1052965" y="5013134"/>
            <a:ext cx="3566208" cy="1323975"/>
          </a:xfrm>
          <a:prstGeom prst="rect">
            <a:avLst/>
          </a:prstGeom>
          <a:noFill/>
          <a:ln/>
        </p:spPr>
        <p:txBody>
          <a:bodyPr wrap="square" lIns="25400" tIns="25400" rIns="25400" bIns="25400" rtlCol="0" anchor="t">
            <a:normAutofit fontScale="92500"/>
          </a:bodyPr>
          <a:lstStyle/>
          <a:p>
            <a:pPr marL="0" indent="0" algn="ctr">
              <a:lnSpc>
                <a:spcPct val="135000"/>
              </a:lnSpc>
              <a:buNone/>
            </a:pPr>
            <a:r>
              <a:rPr lang="en-US" sz="1350" dirty="0">
                <a:solidFill>
                  <a:srgbClr val="4A423B">
                    <a:alpha val="91000"/>
                  </a:srgbClr>
                </a:solidFill>
                <a:latin typeface="Arial" pitchFamily="34" charset="0"/>
                <a:ea typeface="Arial" pitchFamily="34" charset="-122"/>
                <a:cs typeface="Arial" pitchFamily="34" charset="-120"/>
              </a:rPr>
              <a:t>Defined the architecture and planned the sprints. Built the Spring Boot backend — auth &amp; security, REST APIs, the bidding &amp; milestone lifecycle and the Flyway schema — and led AI-suite and Stripe integration.</a:t>
            </a:r>
            <a:endParaRPr lang="en-US" sz="1350" dirty="0"/>
          </a:p>
        </p:txBody>
      </p:sp>
      <p:sp>
        <p:nvSpPr>
          <p:cNvPr id="13" name="Shape 10"/>
          <p:cNvSpPr/>
          <p:nvPr/>
        </p:nvSpPr>
        <p:spPr>
          <a:xfrm>
            <a:off x="5062538" y="1844484"/>
            <a:ext cx="3957638" cy="7912100"/>
          </a:xfrm>
          <a:prstGeom prst="roundRect">
            <a:avLst>
              <a:gd name="adj" fmla="val 3851"/>
            </a:avLst>
          </a:prstGeom>
          <a:solidFill>
            <a:srgbClr val="FFFFFF">
              <a:alpha val="91000"/>
            </a:srgbClr>
          </a:solidFill>
          <a:ln/>
          <a:effectLst>
            <a:outerShdw blurRad="323850" dist="114300" dir="5400000" algn="bl" rotWithShape="0">
              <a:srgbClr val="1A1714">
                <a:alpha val="6377"/>
              </a:srgbClr>
            </a:outerShdw>
          </a:effectLst>
        </p:spPr>
      </p:sp>
      <p:sp>
        <p:nvSpPr>
          <p:cNvPr id="14" name="Shape 11"/>
          <p:cNvSpPr/>
          <p:nvPr/>
        </p:nvSpPr>
        <p:spPr>
          <a:xfrm>
            <a:off x="5062538" y="1844484"/>
            <a:ext cx="3957638" cy="50800"/>
          </a:xfrm>
          <a:prstGeom prst="rect">
            <a:avLst/>
          </a:prstGeom>
          <a:solidFill>
            <a:srgbClr val="CBB8A6">
              <a:alpha val="91000"/>
            </a:srgbClr>
          </a:solidFill>
          <a:ln/>
        </p:spPr>
      </p:sp>
      <p:pic>
        <p:nvPicPr>
          <p:cNvPr id="15" name="Image 1" descr="preencoded.png"/>
          <p:cNvPicPr>
            <a:picLocks noChangeAspect="1"/>
          </p:cNvPicPr>
          <p:nvPr/>
        </p:nvPicPr>
        <p:blipFill>
          <a:blip r:embed="rId4"/>
          <a:stretch>
            <a:fillRect/>
          </a:stretch>
        </p:blipFill>
        <p:spPr>
          <a:xfrm>
            <a:off x="6422231" y="2200084"/>
            <a:ext cx="1238250" cy="1238250"/>
          </a:xfrm>
          <a:prstGeom prst="rect">
            <a:avLst/>
          </a:prstGeom>
        </p:spPr>
      </p:pic>
      <p:sp>
        <p:nvSpPr>
          <p:cNvPr id="16" name="Text 12"/>
          <p:cNvSpPr/>
          <p:nvPr/>
        </p:nvSpPr>
        <p:spPr>
          <a:xfrm>
            <a:off x="5917208" y="3628834"/>
            <a:ext cx="2248297" cy="330200"/>
          </a:xfrm>
          <a:prstGeom prst="rect">
            <a:avLst/>
          </a:prstGeom>
          <a:noFill/>
          <a:ln/>
        </p:spPr>
        <p:txBody>
          <a:bodyPr wrap="square" lIns="25400" tIns="25400" rIns="25400" bIns="25400" rtlCol="0" anchor="t">
            <a:normAutofit lnSpcReduction="10000"/>
          </a:bodyPr>
          <a:lstStyle/>
          <a:p>
            <a:pPr marL="0" indent="0" algn="ctr">
              <a:buNone/>
            </a:pPr>
            <a:r>
              <a:rPr lang="en-US" sz="2025" b="1" dirty="0">
                <a:solidFill>
                  <a:srgbClr val="1A1714">
                    <a:alpha val="91000"/>
                  </a:srgbClr>
                </a:solidFill>
                <a:latin typeface="Arial" pitchFamily="34" charset="0"/>
                <a:ea typeface="Arial" pitchFamily="34" charset="-122"/>
                <a:cs typeface="Arial" pitchFamily="34" charset="-120"/>
              </a:rPr>
              <a:t>Hammad Hussain</a:t>
            </a:r>
            <a:endParaRPr lang="en-US" sz="2025" dirty="0"/>
          </a:p>
        </p:txBody>
      </p:sp>
      <p:sp>
        <p:nvSpPr>
          <p:cNvPr id="17" name="Text 13"/>
          <p:cNvSpPr/>
          <p:nvPr/>
        </p:nvSpPr>
        <p:spPr>
          <a:xfrm>
            <a:off x="6305749" y="3978084"/>
            <a:ext cx="1471216"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F2661A">
                    <a:alpha val="91000"/>
                  </a:srgbClr>
                </a:solidFill>
                <a:latin typeface="Courier New" pitchFamily="34" charset="0"/>
                <a:ea typeface="Courier New" pitchFamily="34" charset="-122"/>
                <a:cs typeface="Courier New" pitchFamily="34" charset="-120"/>
              </a:rPr>
              <a:t>2022F-BSE-088</a:t>
            </a:r>
            <a:endParaRPr lang="en-US" sz="1350" dirty="0"/>
          </a:p>
        </p:txBody>
      </p:sp>
      <p:sp>
        <p:nvSpPr>
          <p:cNvPr id="18" name="Text 14"/>
          <p:cNvSpPr/>
          <p:nvPr/>
        </p:nvSpPr>
        <p:spPr>
          <a:xfrm>
            <a:off x="5774452" y="4320984"/>
            <a:ext cx="2533809" cy="241300"/>
          </a:xfrm>
          <a:prstGeom prst="rect">
            <a:avLst/>
          </a:prstGeom>
          <a:noFill/>
          <a:ln/>
        </p:spPr>
        <p:txBody>
          <a:bodyPr wrap="square" lIns="25400" tIns="25400" rIns="25400" bIns="25400" rtlCol="0" anchor="t">
            <a:normAutofit fontScale="92500" lnSpcReduction="10000"/>
          </a:bodyPr>
          <a:lstStyle/>
          <a:p>
            <a:pPr marL="0" indent="0" algn="ctr">
              <a:buNone/>
            </a:pPr>
            <a:r>
              <a:rPr lang="en-US" sz="1425" b="1" dirty="0">
                <a:solidFill>
                  <a:srgbClr val="2F8F57">
                    <a:alpha val="91000"/>
                  </a:srgbClr>
                </a:solidFill>
                <a:latin typeface="Arial" pitchFamily="34" charset="0"/>
                <a:ea typeface="Arial" pitchFamily="34" charset="-122"/>
                <a:cs typeface="Arial" pitchFamily="34" charset="-120"/>
              </a:rPr>
              <a:t>Frontend &amp; UI/UX Developer</a:t>
            </a:r>
            <a:endParaRPr lang="en-US" sz="1425" dirty="0"/>
          </a:p>
        </p:txBody>
      </p:sp>
      <p:sp>
        <p:nvSpPr>
          <p:cNvPr id="19" name="Text 15"/>
          <p:cNvSpPr/>
          <p:nvPr/>
        </p:nvSpPr>
        <p:spPr>
          <a:xfrm>
            <a:off x="5258252" y="4657534"/>
            <a:ext cx="3566208" cy="809625"/>
          </a:xfrm>
          <a:prstGeom prst="rect">
            <a:avLst/>
          </a:prstGeom>
          <a:noFill/>
          <a:ln/>
        </p:spPr>
        <p:txBody>
          <a:bodyPr wrap="square" lIns="25400" tIns="25400" rIns="25400" bIns="25400" rtlCol="0" anchor="t">
            <a:normAutofit fontScale="92500"/>
          </a:bodyPr>
          <a:lstStyle/>
          <a:p>
            <a:pPr marL="0" indent="0" algn="ctr">
              <a:lnSpc>
                <a:spcPct val="135000"/>
              </a:lnSpc>
              <a:buNone/>
            </a:pPr>
            <a:r>
              <a:rPr lang="en-US" sz="1350" dirty="0">
                <a:solidFill>
                  <a:srgbClr val="4A423B">
                    <a:alpha val="91000"/>
                  </a:srgbClr>
                </a:solidFill>
                <a:latin typeface="Arial" pitchFamily="34" charset="0"/>
                <a:ea typeface="Arial" pitchFamily="34" charset="-122"/>
                <a:cs typeface="Arial" pitchFamily="34" charset="-120"/>
              </a:rPr>
              <a:t>Built the React + TypeScript single-page app, the role-based dashboards, responsive layouts and the shared component library.</a:t>
            </a:r>
            <a:endParaRPr lang="en-US" sz="1350" dirty="0"/>
          </a:p>
        </p:txBody>
      </p:sp>
      <p:sp>
        <p:nvSpPr>
          <p:cNvPr id="20" name="Shape 16"/>
          <p:cNvSpPr/>
          <p:nvPr/>
        </p:nvSpPr>
        <p:spPr>
          <a:xfrm>
            <a:off x="9267825" y="1844484"/>
            <a:ext cx="3957638" cy="7912100"/>
          </a:xfrm>
          <a:prstGeom prst="roundRect">
            <a:avLst>
              <a:gd name="adj" fmla="val 3851"/>
            </a:avLst>
          </a:prstGeom>
          <a:solidFill>
            <a:srgbClr val="FFFFFF">
              <a:alpha val="91000"/>
            </a:srgbClr>
          </a:solidFill>
          <a:ln/>
          <a:effectLst>
            <a:outerShdw blurRad="323850" dist="114300" dir="5400000" algn="bl" rotWithShape="0">
              <a:srgbClr val="1A1714">
                <a:alpha val="6377"/>
              </a:srgbClr>
            </a:outerShdw>
          </a:effectLst>
        </p:spPr>
      </p:sp>
      <p:sp>
        <p:nvSpPr>
          <p:cNvPr id="21" name="Shape 17"/>
          <p:cNvSpPr/>
          <p:nvPr/>
        </p:nvSpPr>
        <p:spPr>
          <a:xfrm>
            <a:off x="9267825" y="1844484"/>
            <a:ext cx="3957638" cy="50800"/>
          </a:xfrm>
          <a:prstGeom prst="rect">
            <a:avLst/>
          </a:prstGeom>
          <a:solidFill>
            <a:srgbClr val="CBB8A6">
              <a:alpha val="91000"/>
            </a:srgbClr>
          </a:solidFill>
          <a:ln/>
        </p:spPr>
      </p:sp>
      <p:pic>
        <p:nvPicPr>
          <p:cNvPr id="22" name="Image 2" descr="preencoded.png"/>
          <p:cNvPicPr>
            <a:picLocks noChangeAspect="1"/>
          </p:cNvPicPr>
          <p:nvPr/>
        </p:nvPicPr>
        <p:blipFill>
          <a:blip r:embed="rId5"/>
          <a:stretch>
            <a:fillRect/>
          </a:stretch>
        </p:blipFill>
        <p:spPr>
          <a:xfrm>
            <a:off x="10627519" y="2200084"/>
            <a:ext cx="1238250" cy="1238250"/>
          </a:xfrm>
          <a:prstGeom prst="rect">
            <a:avLst/>
          </a:prstGeom>
        </p:spPr>
      </p:pic>
      <p:sp>
        <p:nvSpPr>
          <p:cNvPr id="23" name="Text 18"/>
          <p:cNvSpPr/>
          <p:nvPr/>
        </p:nvSpPr>
        <p:spPr>
          <a:xfrm>
            <a:off x="10035620" y="3628834"/>
            <a:ext cx="2422049" cy="330200"/>
          </a:xfrm>
          <a:prstGeom prst="rect">
            <a:avLst/>
          </a:prstGeom>
          <a:noFill/>
          <a:ln/>
        </p:spPr>
        <p:txBody>
          <a:bodyPr wrap="square" lIns="25400" tIns="25400" rIns="25400" bIns="25400" rtlCol="0" anchor="t">
            <a:normAutofit lnSpcReduction="10000"/>
          </a:bodyPr>
          <a:lstStyle/>
          <a:p>
            <a:pPr marL="0" indent="0" algn="ctr">
              <a:buNone/>
            </a:pPr>
            <a:r>
              <a:rPr lang="en-US" sz="2025" b="1" dirty="0">
                <a:solidFill>
                  <a:srgbClr val="1A1714">
                    <a:alpha val="91000"/>
                  </a:srgbClr>
                </a:solidFill>
                <a:latin typeface="Arial" pitchFamily="34" charset="0"/>
                <a:ea typeface="Arial" pitchFamily="34" charset="-122"/>
                <a:cs typeface="Arial" pitchFamily="34" charset="-120"/>
              </a:rPr>
              <a:t>M. Jahanzaib Khan</a:t>
            </a:r>
            <a:endParaRPr lang="en-US" sz="2025" dirty="0"/>
          </a:p>
        </p:txBody>
      </p:sp>
      <p:sp>
        <p:nvSpPr>
          <p:cNvPr id="24" name="Text 19"/>
          <p:cNvSpPr/>
          <p:nvPr/>
        </p:nvSpPr>
        <p:spPr>
          <a:xfrm>
            <a:off x="10511037" y="3978084"/>
            <a:ext cx="1471216"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F2661A">
                    <a:alpha val="91000"/>
                  </a:srgbClr>
                </a:solidFill>
                <a:latin typeface="Courier New" pitchFamily="34" charset="0"/>
                <a:ea typeface="Courier New" pitchFamily="34" charset="-122"/>
                <a:cs typeface="Courier New" pitchFamily="34" charset="-120"/>
              </a:rPr>
              <a:t>2022F-BSE-277</a:t>
            </a:r>
            <a:endParaRPr lang="en-US" sz="1350" dirty="0"/>
          </a:p>
        </p:txBody>
      </p:sp>
      <p:sp>
        <p:nvSpPr>
          <p:cNvPr id="25" name="Text 20"/>
          <p:cNvSpPr/>
          <p:nvPr/>
        </p:nvSpPr>
        <p:spPr>
          <a:xfrm>
            <a:off x="10047635" y="4320984"/>
            <a:ext cx="2397820" cy="241300"/>
          </a:xfrm>
          <a:prstGeom prst="rect">
            <a:avLst/>
          </a:prstGeom>
          <a:noFill/>
          <a:ln/>
        </p:spPr>
        <p:txBody>
          <a:bodyPr wrap="square" lIns="25400" tIns="25400" rIns="25400" bIns="25400" rtlCol="0" anchor="t">
            <a:normAutofit fontScale="92500" lnSpcReduction="10000"/>
          </a:bodyPr>
          <a:lstStyle/>
          <a:p>
            <a:pPr marL="0" indent="0" algn="ctr">
              <a:buNone/>
            </a:pPr>
            <a:r>
              <a:rPr lang="en-US" sz="1425" b="1" dirty="0">
                <a:solidFill>
                  <a:srgbClr val="2F8F57">
                    <a:alpha val="91000"/>
                  </a:srgbClr>
                </a:solidFill>
                <a:latin typeface="Arial" pitchFamily="34" charset="0"/>
                <a:ea typeface="Arial" pitchFamily="34" charset="-122"/>
                <a:cs typeface="Arial" pitchFamily="34" charset="-120"/>
              </a:rPr>
              <a:t>Database Design &amp; Testing</a:t>
            </a:r>
            <a:endParaRPr lang="en-US" sz="1425" dirty="0"/>
          </a:p>
        </p:txBody>
      </p:sp>
      <p:sp>
        <p:nvSpPr>
          <p:cNvPr id="26" name="Text 21"/>
          <p:cNvSpPr/>
          <p:nvPr/>
        </p:nvSpPr>
        <p:spPr>
          <a:xfrm>
            <a:off x="9463540" y="4657534"/>
            <a:ext cx="3566208" cy="1323975"/>
          </a:xfrm>
          <a:prstGeom prst="rect">
            <a:avLst/>
          </a:prstGeom>
          <a:noFill/>
          <a:ln/>
        </p:spPr>
        <p:txBody>
          <a:bodyPr wrap="square" lIns="25400" tIns="25400" rIns="25400" bIns="25400" rtlCol="0" anchor="t">
            <a:normAutofit fontScale="92500"/>
          </a:bodyPr>
          <a:lstStyle/>
          <a:p>
            <a:pPr marL="0" indent="0" algn="ctr">
              <a:lnSpc>
                <a:spcPct val="135000"/>
              </a:lnSpc>
              <a:buNone/>
            </a:pPr>
            <a:r>
              <a:rPr lang="en-US" sz="1350" dirty="0">
                <a:solidFill>
                  <a:srgbClr val="4A423B">
                    <a:alpha val="91000"/>
                  </a:srgbClr>
                </a:solidFill>
                <a:latin typeface="Arial" pitchFamily="34" charset="0"/>
                <a:ea typeface="Arial" pitchFamily="34" charset="-122"/>
                <a:cs typeface="Arial" pitchFamily="34" charset="-120"/>
              </a:rPr>
              <a:t>Designed the relational data model and database connectivity, implemented authentication and contributed to the AI assessment module, and led unit &amp; integration testing of the backend services.</a:t>
            </a:r>
            <a:endParaRPr lang="en-US" sz="1350" dirty="0"/>
          </a:p>
        </p:txBody>
      </p:sp>
      <p:sp>
        <p:nvSpPr>
          <p:cNvPr id="27" name="Shape 22"/>
          <p:cNvSpPr/>
          <p:nvPr/>
        </p:nvSpPr>
        <p:spPr>
          <a:xfrm>
            <a:off x="13473113" y="1844484"/>
            <a:ext cx="3957638" cy="7912100"/>
          </a:xfrm>
          <a:prstGeom prst="roundRect">
            <a:avLst>
              <a:gd name="adj" fmla="val 3851"/>
            </a:avLst>
          </a:prstGeom>
          <a:solidFill>
            <a:srgbClr val="FFFFFF">
              <a:alpha val="91000"/>
            </a:srgbClr>
          </a:solidFill>
          <a:ln/>
          <a:effectLst>
            <a:outerShdw blurRad="323850" dist="114300" dir="5400000" algn="bl" rotWithShape="0">
              <a:srgbClr val="1A1714">
                <a:alpha val="6377"/>
              </a:srgbClr>
            </a:outerShdw>
          </a:effectLst>
        </p:spPr>
      </p:sp>
      <p:sp>
        <p:nvSpPr>
          <p:cNvPr id="28" name="Shape 23"/>
          <p:cNvSpPr/>
          <p:nvPr/>
        </p:nvSpPr>
        <p:spPr>
          <a:xfrm>
            <a:off x="13473113" y="1844484"/>
            <a:ext cx="3957638" cy="50800"/>
          </a:xfrm>
          <a:prstGeom prst="rect">
            <a:avLst/>
          </a:prstGeom>
          <a:solidFill>
            <a:srgbClr val="CBB8A6">
              <a:alpha val="91000"/>
            </a:srgbClr>
          </a:solidFill>
          <a:ln/>
        </p:spPr>
      </p:sp>
      <p:pic>
        <p:nvPicPr>
          <p:cNvPr id="29" name="Image 3" descr="preencoded.png"/>
          <p:cNvPicPr>
            <a:picLocks noChangeAspect="1"/>
          </p:cNvPicPr>
          <p:nvPr/>
        </p:nvPicPr>
        <p:blipFill>
          <a:blip r:embed="rId6"/>
          <a:stretch>
            <a:fillRect/>
          </a:stretch>
        </p:blipFill>
        <p:spPr>
          <a:xfrm>
            <a:off x="14832806" y="2200084"/>
            <a:ext cx="1238250" cy="1238250"/>
          </a:xfrm>
          <a:prstGeom prst="rect">
            <a:avLst/>
          </a:prstGeom>
        </p:spPr>
      </p:pic>
      <p:sp>
        <p:nvSpPr>
          <p:cNvPr id="30" name="Text 24"/>
          <p:cNvSpPr/>
          <p:nvPr/>
        </p:nvSpPr>
        <p:spPr>
          <a:xfrm>
            <a:off x="14461153" y="3628834"/>
            <a:ext cx="1981557" cy="330200"/>
          </a:xfrm>
          <a:prstGeom prst="rect">
            <a:avLst/>
          </a:prstGeom>
          <a:noFill/>
          <a:ln/>
        </p:spPr>
        <p:txBody>
          <a:bodyPr wrap="square" lIns="25400" tIns="25400" rIns="25400" bIns="25400" rtlCol="0" anchor="t">
            <a:normAutofit fontScale="92500" lnSpcReduction="10000"/>
          </a:bodyPr>
          <a:lstStyle/>
          <a:p>
            <a:pPr marL="0" indent="0" algn="ctr">
              <a:buNone/>
            </a:pPr>
            <a:r>
              <a:rPr lang="en-US" sz="2025" b="1" dirty="0">
                <a:solidFill>
                  <a:srgbClr val="1A1714">
                    <a:alpha val="91000"/>
                  </a:srgbClr>
                </a:solidFill>
                <a:latin typeface="Arial" pitchFamily="34" charset="0"/>
                <a:ea typeface="Arial" pitchFamily="34" charset="-122"/>
                <a:cs typeface="Arial" pitchFamily="34" charset="-120"/>
              </a:rPr>
              <a:t>Syed Ahmed Ali</a:t>
            </a:r>
            <a:endParaRPr lang="en-US" sz="2025" dirty="0"/>
          </a:p>
        </p:txBody>
      </p:sp>
      <p:sp>
        <p:nvSpPr>
          <p:cNvPr id="31" name="Text 25"/>
          <p:cNvSpPr/>
          <p:nvPr/>
        </p:nvSpPr>
        <p:spPr>
          <a:xfrm>
            <a:off x="14716324" y="3978084"/>
            <a:ext cx="1471216" cy="266700"/>
          </a:xfrm>
          <a:prstGeom prst="rect">
            <a:avLst/>
          </a:prstGeom>
          <a:noFill/>
          <a:ln/>
        </p:spPr>
        <p:txBody>
          <a:bodyPr wrap="square" lIns="25400" tIns="25400" rIns="25400" bIns="25400" rtlCol="0" anchor="t">
            <a:normAutofit/>
          </a:bodyPr>
          <a:lstStyle/>
          <a:p>
            <a:pPr marL="0" indent="0" algn="ctr">
              <a:buNone/>
            </a:pPr>
            <a:r>
              <a:rPr lang="en-US" sz="1350" dirty="0">
                <a:solidFill>
                  <a:srgbClr val="F2661A">
                    <a:alpha val="91000"/>
                  </a:srgbClr>
                </a:solidFill>
                <a:latin typeface="Courier New" pitchFamily="34" charset="0"/>
                <a:ea typeface="Courier New" pitchFamily="34" charset="-122"/>
                <a:cs typeface="Courier New" pitchFamily="34" charset="-120"/>
              </a:rPr>
              <a:t>2022F-BSE-054</a:t>
            </a:r>
            <a:endParaRPr lang="en-US" sz="1350" dirty="0"/>
          </a:p>
        </p:txBody>
      </p:sp>
      <p:sp>
        <p:nvSpPr>
          <p:cNvPr id="32" name="Text 26"/>
          <p:cNvSpPr/>
          <p:nvPr/>
        </p:nvSpPr>
        <p:spPr>
          <a:xfrm>
            <a:off x="13858479" y="4320984"/>
            <a:ext cx="3186906" cy="241300"/>
          </a:xfrm>
          <a:prstGeom prst="rect">
            <a:avLst/>
          </a:prstGeom>
          <a:noFill/>
          <a:ln/>
        </p:spPr>
        <p:txBody>
          <a:bodyPr wrap="square" lIns="25400" tIns="25400" rIns="25400" bIns="25400" rtlCol="0" anchor="t">
            <a:normAutofit fontScale="92500" lnSpcReduction="10000"/>
          </a:bodyPr>
          <a:lstStyle/>
          <a:p>
            <a:pPr marL="0" indent="0" algn="ctr">
              <a:buNone/>
            </a:pPr>
            <a:r>
              <a:rPr lang="en-US" sz="1425" b="1" dirty="0">
                <a:solidFill>
                  <a:srgbClr val="2F8F57">
                    <a:alpha val="91000"/>
                  </a:srgbClr>
                </a:solidFill>
                <a:latin typeface="Arial" pitchFamily="34" charset="0"/>
                <a:ea typeface="Arial" pitchFamily="34" charset="-122"/>
                <a:cs typeface="Arial" pitchFamily="34" charset="-120"/>
              </a:rPr>
              <a:t>Documentation &amp; Quality Assurance</a:t>
            </a:r>
            <a:endParaRPr lang="en-US" sz="1425" dirty="0"/>
          </a:p>
        </p:txBody>
      </p:sp>
      <p:sp>
        <p:nvSpPr>
          <p:cNvPr id="33" name="Text 27"/>
          <p:cNvSpPr/>
          <p:nvPr/>
        </p:nvSpPr>
        <p:spPr>
          <a:xfrm>
            <a:off x="13668827" y="4657534"/>
            <a:ext cx="3566208" cy="1066800"/>
          </a:xfrm>
          <a:prstGeom prst="rect">
            <a:avLst/>
          </a:prstGeom>
          <a:noFill/>
          <a:ln/>
        </p:spPr>
        <p:txBody>
          <a:bodyPr wrap="square" lIns="25400" tIns="25400" rIns="25400" bIns="25400" rtlCol="0" anchor="t">
            <a:normAutofit fontScale="92500"/>
          </a:bodyPr>
          <a:lstStyle/>
          <a:p>
            <a:pPr marL="0" indent="0" algn="ctr">
              <a:lnSpc>
                <a:spcPct val="135000"/>
              </a:lnSpc>
              <a:buNone/>
            </a:pPr>
            <a:r>
              <a:rPr lang="en-US" sz="1350" dirty="0">
                <a:solidFill>
                  <a:srgbClr val="4A423B">
                    <a:alpha val="91000"/>
                  </a:srgbClr>
                </a:solidFill>
                <a:latin typeface="Arial" pitchFamily="34" charset="0"/>
                <a:ea typeface="Arial" pitchFamily="34" charset="-122"/>
                <a:cs typeface="Arial" pitchFamily="34" charset="-120"/>
              </a:rPr>
              <a:t>Authored the project documentation (SRS, SDD, SDG), performed requirement analysis &amp; QA, and coordinated user-acceptance testing.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1143000" y="857854"/>
            <a:ext cx="176022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01 · THE GAP</a:t>
            </a:r>
            <a:endParaRPr lang="en-US" sz="1650" dirty="0"/>
          </a:p>
        </p:txBody>
      </p:sp>
      <p:sp>
        <p:nvSpPr>
          <p:cNvPr id="3" name="Text 1"/>
          <p:cNvSpPr/>
          <p:nvPr/>
        </p:nvSpPr>
        <p:spPr>
          <a:xfrm>
            <a:off x="1143000" y="1256783"/>
            <a:ext cx="17602200" cy="762000"/>
          </a:xfrm>
          <a:prstGeom prst="rect">
            <a:avLst/>
          </a:prstGeom>
          <a:noFill/>
          <a:ln/>
        </p:spPr>
        <p:txBody>
          <a:bodyPr wrap="square" lIns="25400" tIns="25400" rIns="25400" bIns="25400" rtlCol="0" anchor="t">
            <a:normAutofit lnSpcReduction="10000"/>
          </a:bodyPr>
          <a:lstStyle/>
          <a:p>
            <a:pPr marL="0" indent="0" algn="l">
              <a:buNone/>
            </a:pPr>
            <a:r>
              <a:rPr lang="en-US" sz="4950" b="1" kern="0" spc="-49" dirty="0">
                <a:solidFill>
                  <a:srgbClr val="1A1714">
                    <a:alpha val="98000"/>
                  </a:srgbClr>
                </a:solidFill>
                <a:latin typeface="Arial" pitchFamily="34" charset="0"/>
                <a:ea typeface="Arial" pitchFamily="34" charset="-122"/>
                <a:cs typeface="Arial" pitchFamily="34" charset="-120"/>
              </a:rPr>
              <a:t>Problem Statement</a:t>
            </a:r>
            <a:endParaRPr lang="en-US" sz="4950" dirty="0"/>
          </a:p>
        </p:txBody>
      </p:sp>
      <p:sp>
        <p:nvSpPr>
          <p:cNvPr id="4" name="Text 2"/>
          <p:cNvSpPr/>
          <p:nvPr/>
        </p:nvSpPr>
        <p:spPr>
          <a:xfrm>
            <a:off x="1143000" y="2184136"/>
            <a:ext cx="13620750" cy="406400"/>
          </a:xfrm>
          <a:prstGeom prst="rect">
            <a:avLst/>
          </a:prstGeom>
          <a:noFill/>
          <a:ln/>
        </p:spPr>
        <p:txBody>
          <a:bodyPr wrap="square" lIns="25400" tIns="25400" rIns="25400" bIns="25400" rtlCol="0" anchor="t">
            <a:normAutofit/>
          </a:bodyPr>
          <a:lstStyle/>
          <a:p>
            <a:pPr marL="0" indent="0" algn="l">
              <a:buNone/>
            </a:pPr>
            <a:r>
              <a:rPr lang="en-US" sz="2250" dirty="0">
                <a:solidFill>
                  <a:srgbClr val="6B625A">
                    <a:alpha val="92000"/>
                  </a:srgbClr>
                </a:solidFill>
                <a:latin typeface="Arial" pitchFamily="34" charset="0"/>
                <a:ea typeface="Arial" pitchFamily="34" charset="-122"/>
                <a:cs typeface="Arial" pitchFamily="34" charset="-120"/>
              </a:rPr>
              <a:t>Finding and hiring a reliable builder in Pakistan is informal, opaque, and risky.</a:t>
            </a:r>
            <a:endParaRPr lang="en-US" sz="2250" dirty="0"/>
          </a:p>
        </p:txBody>
      </p:sp>
      <p:sp>
        <p:nvSpPr>
          <p:cNvPr id="5" name="Shape 3"/>
          <p:cNvSpPr/>
          <p:nvPr/>
        </p:nvSpPr>
        <p:spPr>
          <a:xfrm>
            <a:off x="1143000" y="3127179"/>
            <a:ext cx="152400" cy="152400"/>
          </a:xfrm>
          <a:prstGeom prst="roundRect">
            <a:avLst>
              <a:gd name="adj" fmla="val 18750"/>
            </a:avLst>
          </a:prstGeom>
          <a:solidFill>
            <a:srgbClr val="F2661A">
              <a:alpha val="83000"/>
            </a:srgbClr>
          </a:solidFill>
          <a:ln/>
        </p:spPr>
      </p:sp>
      <p:sp>
        <p:nvSpPr>
          <p:cNvPr id="6" name="Text 4"/>
          <p:cNvSpPr/>
          <p:nvPr/>
        </p:nvSpPr>
        <p:spPr>
          <a:xfrm>
            <a:off x="1543050" y="2993829"/>
            <a:ext cx="13322999" cy="957263"/>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2550" b="1" dirty="0">
                <a:solidFill>
                  <a:srgbClr val="1A1714">
                    <a:alpha val="83000"/>
                  </a:srgbClr>
                </a:solidFill>
                <a:latin typeface="Arial" pitchFamily="34" charset="0"/>
                <a:ea typeface="Arial" pitchFamily="34" charset="-122"/>
                <a:cs typeface="Arial" pitchFamily="34" charset="-120"/>
              </a:rPr>
              <a:t>Word-of-mouth hiring </a:t>
            </a:r>
            <a:r>
              <a:rPr lang="en-US" sz="2550" dirty="0">
                <a:solidFill>
                  <a:srgbClr val="1A1714">
                    <a:alpha val="83000"/>
                  </a:srgbClr>
                </a:solidFill>
                <a:latin typeface="Arial" pitchFamily="34" charset="0"/>
                <a:ea typeface="Arial" pitchFamily="34" charset="-122"/>
                <a:cs typeface="Arial" pitchFamily="34" charset="-120"/>
              </a:rPr>
              <a:t>— clients rely on references and social-media ads with no reliable way to compare options.</a:t>
            </a:r>
            <a:endParaRPr lang="en-US" sz="2550" dirty="0"/>
          </a:p>
        </p:txBody>
      </p:sp>
      <p:sp>
        <p:nvSpPr>
          <p:cNvPr id="7" name="Shape 5"/>
          <p:cNvSpPr/>
          <p:nvPr/>
        </p:nvSpPr>
        <p:spPr>
          <a:xfrm>
            <a:off x="1143000" y="4332092"/>
            <a:ext cx="152400" cy="152400"/>
          </a:xfrm>
          <a:prstGeom prst="roundRect">
            <a:avLst>
              <a:gd name="adj" fmla="val 18750"/>
            </a:avLst>
          </a:prstGeom>
          <a:solidFill>
            <a:srgbClr val="F2661A">
              <a:alpha val="83000"/>
            </a:srgbClr>
          </a:solidFill>
          <a:ln/>
        </p:spPr>
      </p:sp>
      <p:sp>
        <p:nvSpPr>
          <p:cNvPr id="8" name="Text 6"/>
          <p:cNvSpPr/>
          <p:nvPr/>
        </p:nvSpPr>
        <p:spPr>
          <a:xfrm>
            <a:off x="1543050" y="4198742"/>
            <a:ext cx="13322999" cy="957263"/>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2550" b="1" dirty="0">
                <a:solidFill>
                  <a:srgbClr val="1A1714">
                    <a:alpha val="83000"/>
                  </a:srgbClr>
                </a:solidFill>
                <a:latin typeface="Arial" pitchFamily="34" charset="0"/>
                <a:ea typeface="Arial" pitchFamily="34" charset="-122"/>
                <a:cs typeface="Arial" pitchFamily="34" charset="-120"/>
              </a:rPr>
              <a:t>No verification or trust </a:t>
            </a:r>
            <a:r>
              <a:rPr lang="en-US" sz="2550" dirty="0">
                <a:solidFill>
                  <a:srgbClr val="1A1714">
                    <a:alpha val="83000"/>
                  </a:srgbClr>
                </a:solidFill>
                <a:latin typeface="Arial" pitchFamily="34" charset="0"/>
                <a:ea typeface="Arial" pitchFamily="34" charset="-122"/>
                <a:cs typeface="Arial" pitchFamily="34" charset="-120"/>
              </a:rPr>
              <a:t>— builder credentials, past work, and reputation are impossible to confirm.</a:t>
            </a:r>
            <a:endParaRPr lang="en-US" sz="2550" dirty="0"/>
          </a:p>
        </p:txBody>
      </p:sp>
      <p:sp>
        <p:nvSpPr>
          <p:cNvPr id="9" name="Shape 7"/>
          <p:cNvSpPr/>
          <p:nvPr/>
        </p:nvSpPr>
        <p:spPr>
          <a:xfrm>
            <a:off x="1143000" y="5537004"/>
            <a:ext cx="152400" cy="152400"/>
          </a:xfrm>
          <a:prstGeom prst="roundRect">
            <a:avLst>
              <a:gd name="adj" fmla="val 18750"/>
            </a:avLst>
          </a:prstGeom>
          <a:solidFill>
            <a:srgbClr val="F2661A">
              <a:alpha val="83000"/>
            </a:srgbClr>
          </a:solidFill>
          <a:ln/>
        </p:spPr>
      </p:sp>
      <p:sp>
        <p:nvSpPr>
          <p:cNvPr id="10" name="Text 8"/>
          <p:cNvSpPr/>
          <p:nvPr/>
        </p:nvSpPr>
        <p:spPr>
          <a:xfrm>
            <a:off x="1543050" y="5403654"/>
            <a:ext cx="12998648" cy="504031"/>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2550" b="1" dirty="0">
                <a:solidFill>
                  <a:srgbClr val="1A1714">
                    <a:alpha val="83000"/>
                  </a:srgbClr>
                </a:solidFill>
                <a:latin typeface="Arial" pitchFamily="34" charset="0"/>
                <a:ea typeface="Arial" pitchFamily="34" charset="-122"/>
                <a:cs typeface="Arial" pitchFamily="34" charset="-120"/>
              </a:rPr>
              <a:t>Opaque pricing &amp; bidding </a:t>
            </a:r>
            <a:r>
              <a:rPr lang="en-US" sz="2550" dirty="0">
                <a:solidFill>
                  <a:srgbClr val="1A1714">
                    <a:alpha val="83000"/>
                  </a:srgbClr>
                </a:solidFill>
                <a:latin typeface="Arial" pitchFamily="34" charset="0"/>
                <a:ea typeface="Arial" pitchFamily="34" charset="-122"/>
                <a:cs typeface="Arial" pitchFamily="34" charset="-120"/>
              </a:rPr>
              <a:t>— quotes are inconsistent and negotiated off the record.</a:t>
            </a:r>
            <a:endParaRPr lang="en-US" sz="2550" dirty="0"/>
          </a:p>
        </p:txBody>
      </p:sp>
      <p:sp>
        <p:nvSpPr>
          <p:cNvPr id="11" name="Shape 9"/>
          <p:cNvSpPr/>
          <p:nvPr/>
        </p:nvSpPr>
        <p:spPr>
          <a:xfrm>
            <a:off x="1143000" y="6288686"/>
            <a:ext cx="152400" cy="152400"/>
          </a:xfrm>
          <a:prstGeom prst="roundRect">
            <a:avLst>
              <a:gd name="adj" fmla="val 18750"/>
            </a:avLst>
          </a:prstGeom>
          <a:solidFill>
            <a:srgbClr val="F2661A">
              <a:alpha val="83000"/>
            </a:srgbClr>
          </a:solidFill>
          <a:ln/>
        </p:spPr>
      </p:sp>
      <p:sp>
        <p:nvSpPr>
          <p:cNvPr id="12" name="Text 10"/>
          <p:cNvSpPr/>
          <p:nvPr/>
        </p:nvSpPr>
        <p:spPr>
          <a:xfrm>
            <a:off x="1543050" y="6155336"/>
            <a:ext cx="13772019" cy="504032"/>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2550" b="1" dirty="0">
                <a:solidFill>
                  <a:srgbClr val="1A1714">
                    <a:alpha val="83000"/>
                  </a:srgbClr>
                </a:solidFill>
                <a:latin typeface="Arial" pitchFamily="34" charset="0"/>
                <a:ea typeface="Arial" pitchFamily="34" charset="-122"/>
                <a:cs typeface="Arial" pitchFamily="34" charset="-120"/>
              </a:rPr>
              <a:t>Poor communication &amp; tracking </a:t>
            </a:r>
            <a:r>
              <a:rPr lang="en-US" sz="2550" dirty="0">
                <a:solidFill>
                  <a:srgbClr val="1A1714">
                    <a:alpha val="83000"/>
                  </a:srgbClr>
                </a:solidFill>
                <a:latin typeface="Arial" pitchFamily="34" charset="0"/>
                <a:ea typeface="Arial" pitchFamily="34" charset="-122"/>
                <a:cs typeface="Arial" pitchFamily="34" charset="-120"/>
              </a:rPr>
              <a:t>— no shared record of progress, payments, or disputes.</a:t>
            </a:r>
            <a:endParaRPr lang="en-US" sz="2550" dirty="0"/>
          </a:p>
        </p:txBody>
      </p:sp>
      <p:sp>
        <p:nvSpPr>
          <p:cNvPr id="13" name="Shape 11"/>
          <p:cNvSpPr/>
          <p:nvPr/>
        </p:nvSpPr>
        <p:spPr>
          <a:xfrm>
            <a:off x="1143000" y="7040367"/>
            <a:ext cx="152400" cy="152400"/>
          </a:xfrm>
          <a:prstGeom prst="roundRect">
            <a:avLst>
              <a:gd name="adj" fmla="val 18750"/>
            </a:avLst>
          </a:prstGeom>
          <a:solidFill>
            <a:srgbClr val="F2661A">
              <a:alpha val="83000"/>
            </a:srgbClr>
          </a:solidFill>
          <a:ln/>
        </p:spPr>
      </p:sp>
      <p:sp>
        <p:nvSpPr>
          <p:cNvPr id="14" name="Text 12"/>
          <p:cNvSpPr/>
          <p:nvPr/>
        </p:nvSpPr>
        <p:spPr>
          <a:xfrm>
            <a:off x="1543050" y="6907017"/>
            <a:ext cx="13322999" cy="957263"/>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2550" b="1" dirty="0">
                <a:solidFill>
                  <a:srgbClr val="1A1714">
                    <a:alpha val="83000"/>
                  </a:srgbClr>
                </a:solidFill>
                <a:latin typeface="Arial" pitchFamily="34" charset="0"/>
                <a:ea typeface="Arial" pitchFamily="34" charset="-122"/>
                <a:cs typeface="Arial" pitchFamily="34" charset="-120"/>
              </a:rPr>
              <a:t>No local platform </a:t>
            </a:r>
            <a:r>
              <a:rPr lang="en-US" sz="2550" dirty="0">
                <a:solidFill>
                  <a:srgbClr val="1A1714">
                    <a:alpha val="83000"/>
                  </a:srgbClr>
                </a:solidFill>
                <a:latin typeface="Arial" pitchFamily="34" charset="0"/>
                <a:ea typeface="Arial" pitchFamily="34" charset="-122"/>
                <a:cs typeface="Arial" pitchFamily="34" charset="-120"/>
              </a:rPr>
              <a:t>— global tools like Houzz or HomeAdvisor aren't built for Pakistan's market.</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1143000" y="857850"/>
            <a:ext cx="176022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02 · THE IDEA</a:t>
            </a:r>
            <a:endParaRPr lang="en-US" sz="1650" dirty="0"/>
          </a:p>
        </p:txBody>
      </p:sp>
      <p:sp>
        <p:nvSpPr>
          <p:cNvPr id="3" name="Text 1"/>
          <p:cNvSpPr/>
          <p:nvPr/>
        </p:nvSpPr>
        <p:spPr>
          <a:xfrm>
            <a:off x="1143000" y="1256769"/>
            <a:ext cx="17602200" cy="762000"/>
          </a:xfrm>
          <a:prstGeom prst="rect">
            <a:avLst/>
          </a:prstGeom>
          <a:noFill/>
          <a:ln/>
        </p:spPr>
        <p:txBody>
          <a:bodyPr wrap="square" lIns="25400" tIns="25400" rIns="25400" bIns="25400" rtlCol="0" anchor="t">
            <a:normAutofit lnSpcReduction="10000"/>
          </a:bodyPr>
          <a:lstStyle/>
          <a:p>
            <a:pPr marL="0" indent="0" algn="l">
              <a:buNone/>
            </a:pPr>
            <a:r>
              <a:rPr lang="en-US" sz="4950" b="1" kern="0" spc="-49" dirty="0">
                <a:solidFill>
                  <a:srgbClr val="F7F4EF">
                    <a:alpha val="98000"/>
                  </a:srgbClr>
                </a:solidFill>
                <a:latin typeface="Arial" pitchFamily="34" charset="0"/>
                <a:ea typeface="Arial" pitchFamily="34" charset="-122"/>
                <a:cs typeface="Arial" pitchFamily="34" charset="-120"/>
              </a:rPr>
              <a:t>Idea / Solution</a:t>
            </a:r>
            <a:endParaRPr lang="en-US" sz="4950" dirty="0"/>
          </a:p>
        </p:txBody>
      </p:sp>
      <p:sp>
        <p:nvSpPr>
          <p:cNvPr id="4" name="Text 2"/>
          <p:cNvSpPr/>
          <p:nvPr/>
        </p:nvSpPr>
        <p:spPr>
          <a:xfrm>
            <a:off x="1143000" y="2184108"/>
            <a:ext cx="12753975" cy="774700"/>
          </a:xfrm>
          <a:prstGeom prst="rect">
            <a:avLst/>
          </a:prstGeom>
          <a:noFill/>
          <a:ln/>
        </p:spPr>
        <p:txBody>
          <a:bodyPr wrap="square" lIns="25400" tIns="25400" rIns="25400" bIns="25400" rtlCol="0" anchor="t">
            <a:normAutofit/>
          </a:bodyPr>
          <a:lstStyle/>
          <a:p>
            <a:pPr marL="0" indent="0" algn="l">
              <a:buNone/>
            </a:pPr>
            <a:r>
              <a:rPr lang="en-US" sz="2250" dirty="0">
                <a:solidFill>
                  <a:srgbClr val="C9BEB2">
                    <a:alpha val="92000"/>
                  </a:srgbClr>
                </a:solidFill>
                <a:latin typeface="Arial" pitchFamily="34" charset="0"/>
                <a:ea typeface="Arial" pitchFamily="34" charset="-122"/>
                <a:cs typeface="Arial" pitchFamily="34" charset="-120"/>
              </a:rPr>
              <a:t>A trusted digital marketplace that manages the whole journey — from posting a project to the final review.</a:t>
            </a:r>
            <a:endParaRPr lang="en-US" sz="2250" dirty="0"/>
          </a:p>
        </p:txBody>
      </p:sp>
      <p:sp>
        <p:nvSpPr>
          <p:cNvPr id="5" name="Shape 3"/>
          <p:cNvSpPr/>
          <p:nvPr/>
        </p:nvSpPr>
        <p:spPr>
          <a:xfrm>
            <a:off x="1143000" y="3495428"/>
            <a:ext cx="133350" cy="133350"/>
          </a:xfrm>
          <a:prstGeom prst="roundRect">
            <a:avLst>
              <a:gd name="adj" fmla="val 21429"/>
            </a:avLst>
          </a:prstGeom>
          <a:solidFill>
            <a:srgbClr val="2F8F57">
              <a:alpha val="83000"/>
            </a:srgbClr>
          </a:solidFill>
          <a:ln/>
        </p:spPr>
      </p:sp>
      <p:sp>
        <p:nvSpPr>
          <p:cNvPr id="6" name="Text 4"/>
          <p:cNvSpPr/>
          <p:nvPr/>
        </p:nvSpPr>
        <p:spPr>
          <a:xfrm>
            <a:off x="1485900" y="3362078"/>
            <a:ext cx="7147838" cy="464145"/>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Verified profiles </a:t>
            </a:r>
            <a:r>
              <a:rPr lang="en-US" sz="2325" dirty="0">
                <a:solidFill>
                  <a:srgbClr val="F7F4EF">
                    <a:alpha val="83000"/>
                  </a:srgbClr>
                </a:solidFill>
                <a:latin typeface="Arial" pitchFamily="34" charset="0"/>
                <a:ea typeface="Arial" pitchFamily="34" charset="-122"/>
                <a:cs typeface="Arial" pitchFamily="34" charset="-120"/>
              </a:rPr>
              <a:t>with portfolios, ratings &amp; reviews.</a:t>
            </a:r>
            <a:endParaRPr lang="en-US" sz="2325" dirty="0"/>
          </a:p>
        </p:txBody>
      </p:sp>
      <p:sp>
        <p:nvSpPr>
          <p:cNvPr id="7" name="Shape 5"/>
          <p:cNvSpPr/>
          <p:nvPr/>
        </p:nvSpPr>
        <p:spPr>
          <a:xfrm>
            <a:off x="8905875" y="3495428"/>
            <a:ext cx="133350" cy="133350"/>
          </a:xfrm>
          <a:prstGeom prst="roundRect">
            <a:avLst>
              <a:gd name="adj" fmla="val 21429"/>
            </a:avLst>
          </a:prstGeom>
          <a:solidFill>
            <a:srgbClr val="2F8F57">
              <a:alpha val="83000"/>
            </a:srgbClr>
          </a:solidFill>
          <a:ln/>
        </p:spPr>
      </p:sp>
      <p:sp>
        <p:nvSpPr>
          <p:cNvPr id="8" name="Text 6"/>
          <p:cNvSpPr/>
          <p:nvPr/>
        </p:nvSpPr>
        <p:spPr>
          <a:xfrm>
            <a:off x="9248775" y="3362078"/>
            <a:ext cx="6955822" cy="8774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Structured bidding </a:t>
            </a:r>
            <a:r>
              <a:rPr lang="en-US" sz="2325" dirty="0">
                <a:solidFill>
                  <a:srgbClr val="F7F4EF">
                    <a:alpha val="83000"/>
                  </a:srgbClr>
                </a:solidFill>
                <a:latin typeface="Arial" pitchFamily="34" charset="0"/>
                <a:ea typeface="Arial" pitchFamily="34" charset="-122"/>
                <a:cs typeface="Arial" pitchFamily="34" charset="-120"/>
              </a:rPr>
              <a:t>— clients post, builders bid, clients award.</a:t>
            </a:r>
            <a:endParaRPr lang="en-US" sz="2325" dirty="0"/>
          </a:p>
        </p:txBody>
      </p:sp>
      <p:sp>
        <p:nvSpPr>
          <p:cNvPr id="9" name="Shape 7"/>
          <p:cNvSpPr/>
          <p:nvPr/>
        </p:nvSpPr>
        <p:spPr>
          <a:xfrm>
            <a:off x="1143000" y="4582469"/>
            <a:ext cx="133350" cy="133350"/>
          </a:xfrm>
          <a:prstGeom prst="roundRect">
            <a:avLst>
              <a:gd name="adj" fmla="val 21429"/>
            </a:avLst>
          </a:prstGeom>
          <a:solidFill>
            <a:srgbClr val="2F8F57">
              <a:alpha val="83000"/>
            </a:srgbClr>
          </a:solidFill>
          <a:ln/>
        </p:spPr>
      </p:sp>
      <p:sp>
        <p:nvSpPr>
          <p:cNvPr id="10" name="Text 8"/>
          <p:cNvSpPr/>
          <p:nvPr/>
        </p:nvSpPr>
        <p:spPr>
          <a:xfrm>
            <a:off x="1485900" y="4449119"/>
            <a:ext cx="6955822" cy="8774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End-to-end lifecycle </a:t>
            </a:r>
            <a:r>
              <a:rPr lang="en-US" sz="2325" dirty="0">
                <a:solidFill>
                  <a:srgbClr val="F7F4EF">
                    <a:alpha val="83000"/>
                  </a:srgbClr>
                </a:solidFill>
                <a:latin typeface="Arial" pitchFamily="34" charset="0"/>
                <a:ea typeface="Arial" pitchFamily="34" charset="-122"/>
                <a:cs typeface="Arial" pitchFamily="34" charset="-120"/>
              </a:rPr>
              <a:t>— contracts, milestones, payments &amp; sign-off.</a:t>
            </a:r>
            <a:endParaRPr lang="en-US" sz="2325" dirty="0"/>
          </a:p>
        </p:txBody>
      </p:sp>
      <p:sp>
        <p:nvSpPr>
          <p:cNvPr id="11" name="Shape 9"/>
          <p:cNvSpPr/>
          <p:nvPr/>
        </p:nvSpPr>
        <p:spPr>
          <a:xfrm>
            <a:off x="8905875" y="4582469"/>
            <a:ext cx="133350" cy="133350"/>
          </a:xfrm>
          <a:prstGeom prst="roundRect">
            <a:avLst>
              <a:gd name="adj" fmla="val 21429"/>
            </a:avLst>
          </a:prstGeom>
          <a:solidFill>
            <a:srgbClr val="2F8F57">
              <a:alpha val="83000"/>
            </a:srgbClr>
          </a:solidFill>
          <a:ln/>
        </p:spPr>
      </p:sp>
      <p:sp>
        <p:nvSpPr>
          <p:cNvPr id="12" name="Text 10"/>
          <p:cNvSpPr/>
          <p:nvPr/>
        </p:nvSpPr>
        <p:spPr>
          <a:xfrm>
            <a:off x="9248775" y="4449119"/>
            <a:ext cx="6955822" cy="8774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Real-time chat </a:t>
            </a:r>
            <a:r>
              <a:rPr lang="en-US" sz="2325" dirty="0">
                <a:solidFill>
                  <a:srgbClr val="F7F4EF">
                    <a:alpha val="83000"/>
                  </a:srgbClr>
                </a:solidFill>
                <a:latin typeface="Arial" pitchFamily="34" charset="0"/>
                <a:ea typeface="Arial" pitchFamily="34" charset="-122"/>
                <a:cs typeface="Arial" pitchFamily="34" charset="-120"/>
              </a:rPr>
              <a:t>plus a supervisor &amp; inspector layer for oversight.</a:t>
            </a:r>
            <a:endParaRPr lang="en-US" sz="2325" dirty="0"/>
          </a:p>
        </p:txBody>
      </p:sp>
      <p:sp>
        <p:nvSpPr>
          <p:cNvPr id="13" name="Shape 11"/>
          <p:cNvSpPr/>
          <p:nvPr/>
        </p:nvSpPr>
        <p:spPr>
          <a:xfrm>
            <a:off x="1143000" y="5669509"/>
            <a:ext cx="133350" cy="133350"/>
          </a:xfrm>
          <a:prstGeom prst="roundRect">
            <a:avLst>
              <a:gd name="adj" fmla="val 21429"/>
            </a:avLst>
          </a:prstGeom>
          <a:solidFill>
            <a:srgbClr val="2F8F57">
              <a:alpha val="83000"/>
            </a:srgbClr>
          </a:solidFill>
          <a:ln/>
        </p:spPr>
      </p:sp>
      <p:sp>
        <p:nvSpPr>
          <p:cNvPr id="14" name="Text 12"/>
          <p:cNvSpPr/>
          <p:nvPr/>
        </p:nvSpPr>
        <p:spPr>
          <a:xfrm>
            <a:off x="1485900" y="5536159"/>
            <a:ext cx="6955822" cy="8774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AI suite </a:t>
            </a:r>
            <a:r>
              <a:rPr lang="en-US" sz="2325" dirty="0">
                <a:solidFill>
                  <a:srgbClr val="F7F4EF">
                    <a:alpha val="83000"/>
                  </a:srgbClr>
                </a:solidFill>
                <a:latin typeface="Arial" pitchFamily="34" charset="0"/>
                <a:ea typeface="Arial" pitchFamily="34" charset="-122"/>
                <a:cs typeface="Arial" pitchFamily="34" charset="-120"/>
              </a:rPr>
              <a:t>— assistant, FAQ chatbot, floor-plan &amp; budget tools.</a:t>
            </a:r>
            <a:endParaRPr lang="en-US" sz="2325" dirty="0"/>
          </a:p>
        </p:txBody>
      </p:sp>
      <p:sp>
        <p:nvSpPr>
          <p:cNvPr id="15" name="Shape 13"/>
          <p:cNvSpPr/>
          <p:nvPr/>
        </p:nvSpPr>
        <p:spPr>
          <a:xfrm>
            <a:off x="8905875" y="5669509"/>
            <a:ext cx="133350" cy="133350"/>
          </a:xfrm>
          <a:prstGeom prst="roundRect">
            <a:avLst>
              <a:gd name="adj" fmla="val 21429"/>
            </a:avLst>
          </a:prstGeom>
          <a:solidFill>
            <a:srgbClr val="2F8F57">
              <a:alpha val="83000"/>
            </a:srgbClr>
          </a:solidFill>
          <a:ln/>
        </p:spPr>
      </p:sp>
      <p:sp>
        <p:nvSpPr>
          <p:cNvPr id="16" name="Text 14"/>
          <p:cNvSpPr/>
          <p:nvPr/>
        </p:nvSpPr>
        <p:spPr>
          <a:xfrm>
            <a:off x="9248775" y="5536159"/>
            <a:ext cx="6955822" cy="877491"/>
          </a:xfrm>
          <a:prstGeom prst="rect">
            <a:avLst/>
          </a:prstGeom>
          <a:noFill/>
          <a:ln/>
        </p:spPr>
        <p:txBody>
          <a:bodyPr wrap="square" lIns="25400" tIns="25400" rIns="25400" bIns="25400" rtlCol="0" anchor="t">
            <a:normAutofit lnSpcReduction="10000"/>
          </a:bodyPr>
          <a:lstStyle/>
          <a:p>
            <a:pPr marL="0" indent="0" algn="l">
              <a:lnSpc>
                <a:spcPct val="120556"/>
              </a:lnSpc>
              <a:buNone/>
            </a:pPr>
            <a:r>
              <a:rPr lang="en-US" sz="2325" b="1" dirty="0">
                <a:solidFill>
                  <a:srgbClr val="F7F4EF">
                    <a:alpha val="83000"/>
                  </a:srgbClr>
                </a:solidFill>
                <a:latin typeface="Arial" pitchFamily="34" charset="0"/>
                <a:ea typeface="Arial" pitchFamily="34" charset="-122"/>
                <a:cs typeface="Arial" pitchFamily="34" charset="-120"/>
              </a:rPr>
              <a:t>Built for Pakistan </a:t>
            </a:r>
            <a:r>
              <a:rPr lang="en-US" sz="2325" dirty="0">
                <a:solidFill>
                  <a:srgbClr val="F7F4EF">
                    <a:alpha val="83000"/>
                  </a:srgbClr>
                </a:solidFill>
                <a:latin typeface="Arial" pitchFamily="34" charset="0"/>
                <a:ea typeface="Arial" pitchFamily="34" charset="-122"/>
                <a:cs typeface="Arial" pitchFamily="34" charset="-120"/>
              </a:rPr>
              <a:t>— PKR, local areas &amp; Roman-Urdu support.</a:t>
            </a:r>
            <a:endParaRPr lang="en-US" sz="23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1143000" y="857851"/>
            <a:ext cx="176022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03 · BOUNDARIES &amp; GOALS</a:t>
            </a:r>
            <a:endParaRPr lang="en-US" sz="1650" dirty="0"/>
          </a:p>
        </p:txBody>
      </p:sp>
      <p:sp>
        <p:nvSpPr>
          <p:cNvPr id="3" name="Text 1"/>
          <p:cNvSpPr/>
          <p:nvPr/>
        </p:nvSpPr>
        <p:spPr>
          <a:xfrm>
            <a:off x="1143000" y="1256772"/>
            <a:ext cx="17602200" cy="762000"/>
          </a:xfrm>
          <a:prstGeom prst="rect">
            <a:avLst/>
          </a:prstGeom>
          <a:noFill/>
          <a:ln/>
        </p:spPr>
        <p:txBody>
          <a:bodyPr wrap="square" lIns="25400" tIns="25400" rIns="25400" bIns="25400" rtlCol="0" anchor="t">
            <a:normAutofit lnSpcReduction="10000"/>
          </a:bodyPr>
          <a:lstStyle/>
          <a:p>
            <a:pPr marL="0" indent="0" algn="l">
              <a:buNone/>
            </a:pPr>
            <a:r>
              <a:rPr lang="en-US" sz="4950" b="1" kern="0" spc="-49" dirty="0">
                <a:solidFill>
                  <a:srgbClr val="1A1714">
                    <a:alpha val="98000"/>
                  </a:srgbClr>
                </a:solidFill>
                <a:latin typeface="Arial" pitchFamily="34" charset="0"/>
                <a:ea typeface="Arial" pitchFamily="34" charset="-122"/>
                <a:cs typeface="Arial" pitchFamily="34" charset="-120"/>
              </a:rPr>
              <a:t>Scope and Purpose</a:t>
            </a:r>
            <a:endParaRPr lang="en-US" sz="4950" dirty="0"/>
          </a:p>
        </p:txBody>
      </p:sp>
      <p:sp>
        <p:nvSpPr>
          <p:cNvPr id="4" name="Text 2"/>
          <p:cNvSpPr/>
          <p:nvPr/>
        </p:nvSpPr>
        <p:spPr>
          <a:xfrm>
            <a:off x="1143000" y="2412713"/>
            <a:ext cx="8062436" cy="3937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2661A">
                    <a:alpha val="92000"/>
                  </a:srgbClr>
                </a:solidFill>
                <a:latin typeface="Arial" pitchFamily="34" charset="0"/>
                <a:ea typeface="Arial" pitchFamily="34" charset="-122"/>
                <a:cs typeface="Arial" pitchFamily="34" charset="-120"/>
              </a:rPr>
              <a:t>Scope</a:t>
            </a:r>
            <a:endParaRPr lang="en-US" sz="2400" dirty="0"/>
          </a:p>
        </p:txBody>
      </p:sp>
      <p:sp>
        <p:nvSpPr>
          <p:cNvPr id="5" name="Shape 3"/>
          <p:cNvSpPr/>
          <p:nvPr/>
        </p:nvSpPr>
        <p:spPr>
          <a:xfrm>
            <a:off x="1143000" y="3120738"/>
            <a:ext cx="123825" cy="123825"/>
          </a:xfrm>
          <a:prstGeom prst="roundRect">
            <a:avLst>
              <a:gd name="adj" fmla="val 23077"/>
            </a:avLst>
          </a:prstGeom>
          <a:solidFill>
            <a:srgbClr val="F2661A">
              <a:alpha val="92000"/>
            </a:srgbClr>
          </a:solidFill>
          <a:ln/>
        </p:spPr>
      </p:sp>
      <p:sp>
        <p:nvSpPr>
          <p:cNvPr id="6" name="Text 4"/>
          <p:cNvSpPr/>
          <p:nvPr/>
        </p:nvSpPr>
        <p:spPr>
          <a:xfrm>
            <a:off x="1457325" y="2996913"/>
            <a:ext cx="7225617" cy="823913"/>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dirty="0">
                <a:solidFill>
                  <a:srgbClr val="1A1714">
                    <a:alpha val="92000"/>
                  </a:srgbClr>
                </a:solidFill>
                <a:latin typeface="Arial" pitchFamily="34" charset="0"/>
                <a:ea typeface="Arial" pitchFamily="34" charset="-122"/>
                <a:cs typeface="Arial" pitchFamily="34" charset="-120"/>
              </a:rPr>
              <a:t>Web platform for </a:t>
            </a:r>
            <a:r>
              <a:rPr lang="en-US" sz="2175" b="1" dirty="0">
                <a:solidFill>
                  <a:srgbClr val="1A1714">
                    <a:alpha val="92000"/>
                  </a:srgbClr>
                </a:solidFill>
                <a:latin typeface="Arial" pitchFamily="34" charset="0"/>
                <a:ea typeface="Arial" pitchFamily="34" charset="-122"/>
                <a:cs typeface="Arial" pitchFamily="34" charset="-120"/>
              </a:rPr>
              <a:t>8 roles </a:t>
            </a:r>
            <a:r>
              <a:rPr lang="en-US" sz="2175" dirty="0">
                <a:solidFill>
                  <a:srgbClr val="1A1714">
                    <a:alpha val="92000"/>
                  </a:srgbClr>
                </a:solidFill>
                <a:latin typeface="Arial" pitchFamily="34" charset="0"/>
                <a:ea typeface="Arial" pitchFamily="34" charset="-122"/>
                <a:cs typeface="Arial" pitchFamily="34" charset="-120"/>
              </a:rPr>
              <a:t>— client, builder, supplier, supervisor, inspector, support, admin, super-admin.</a:t>
            </a:r>
            <a:endParaRPr lang="en-US" sz="2175" dirty="0"/>
          </a:p>
        </p:txBody>
      </p:sp>
      <p:sp>
        <p:nvSpPr>
          <p:cNvPr id="7" name="Shape 5"/>
          <p:cNvSpPr/>
          <p:nvPr/>
        </p:nvSpPr>
        <p:spPr>
          <a:xfrm>
            <a:off x="1143000" y="4116101"/>
            <a:ext cx="123825" cy="123825"/>
          </a:xfrm>
          <a:prstGeom prst="roundRect">
            <a:avLst>
              <a:gd name="adj" fmla="val 23077"/>
            </a:avLst>
          </a:prstGeom>
          <a:solidFill>
            <a:srgbClr val="F2661A">
              <a:alpha val="92000"/>
            </a:srgbClr>
          </a:solidFill>
          <a:ln/>
        </p:spPr>
      </p:sp>
      <p:sp>
        <p:nvSpPr>
          <p:cNvPr id="8" name="Text 6"/>
          <p:cNvSpPr/>
          <p:nvPr/>
        </p:nvSpPr>
        <p:spPr>
          <a:xfrm>
            <a:off x="1457325" y="3992276"/>
            <a:ext cx="7653814" cy="424656"/>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dirty="0">
                <a:solidFill>
                  <a:srgbClr val="1A1714">
                    <a:alpha val="92000"/>
                  </a:srgbClr>
                </a:solidFill>
                <a:latin typeface="Arial" pitchFamily="34" charset="0"/>
                <a:ea typeface="Arial" pitchFamily="34" charset="-122"/>
                <a:cs typeface="Arial" pitchFamily="34" charset="-120"/>
              </a:rPr>
              <a:t>Project posting, bidding, award &amp; contract management.</a:t>
            </a:r>
            <a:endParaRPr lang="en-US" sz="2175" dirty="0"/>
          </a:p>
        </p:txBody>
      </p:sp>
      <p:sp>
        <p:nvSpPr>
          <p:cNvPr id="9" name="Shape 7"/>
          <p:cNvSpPr/>
          <p:nvPr/>
        </p:nvSpPr>
        <p:spPr>
          <a:xfrm>
            <a:off x="1143000" y="4712207"/>
            <a:ext cx="123825" cy="123825"/>
          </a:xfrm>
          <a:prstGeom prst="roundRect">
            <a:avLst>
              <a:gd name="adj" fmla="val 23077"/>
            </a:avLst>
          </a:prstGeom>
          <a:solidFill>
            <a:srgbClr val="F2661A">
              <a:alpha val="92000"/>
            </a:srgbClr>
          </a:solidFill>
          <a:ln/>
        </p:spPr>
      </p:sp>
      <p:sp>
        <p:nvSpPr>
          <p:cNvPr id="10" name="Text 8"/>
          <p:cNvSpPr/>
          <p:nvPr/>
        </p:nvSpPr>
        <p:spPr>
          <a:xfrm>
            <a:off x="1457325" y="4588382"/>
            <a:ext cx="7225617" cy="811213"/>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dirty="0">
                <a:solidFill>
                  <a:srgbClr val="1A1714">
                    <a:alpha val="92000"/>
                  </a:srgbClr>
                </a:solidFill>
                <a:latin typeface="Arial" pitchFamily="34" charset="0"/>
                <a:ea typeface="Arial" pitchFamily="34" charset="-122"/>
                <a:cs typeface="Arial" pitchFamily="34" charset="-120"/>
              </a:rPr>
              <a:t>Milestones, site logs, inspections &amp; a material marketplace.</a:t>
            </a:r>
            <a:endParaRPr lang="en-US" sz="2175" dirty="0"/>
          </a:p>
        </p:txBody>
      </p:sp>
      <p:sp>
        <p:nvSpPr>
          <p:cNvPr id="11" name="Shape 9"/>
          <p:cNvSpPr/>
          <p:nvPr/>
        </p:nvSpPr>
        <p:spPr>
          <a:xfrm>
            <a:off x="1143000" y="5694870"/>
            <a:ext cx="123825" cy="123825"/>
          </a:xfrm>
          <a:prstGeom prst="roundRect">
            <a:avLst>
              <a:gd name="adj" fmla="val 23077"/>
            </a:avLst>
          </a:prstGeom>
          <a:solidFill>
            <a:srgbClr val="F2661A">
              <a:alpha val="92000"/>
            </a:srgbClr>
          </a:solidFill>
          <a:ln/>
        </p:spPr>
      </p:sp>
      <p:sp>
        <p:nvSpPr>
          <p:cNvPr id="12" name="Text 10"/>
          <p:cNvSpPr/>
          <p:nvPr/>
        </p:nvSpPr>
        <p:spPr>
          <a:xfrm>
            <a:off x="1457325" y="5571045"/>
            <a:ext cx="7063581" cy="424656"/>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dirty="0">
                <a:solidFill>
                  <a:srgbClr val="1A1714">
                    <a:alpha val="92000"/>
                  </a:srgbClr>
                </a:solidFill>
                <a:latin typeface="Arial" pitchFamily="34" charset="0"/>
                <a:ea typeface="Arial" pitchFamily="34" charset="-122"/>
                <a:cs typeface="Arial" pitchFamily="34" charset="-120"/>
              </a:rPr>
              <a:t>AI assistant, chatbot, floor-plan &amp; budget estimator.</a:t>
            </a:r>
            <a:endParaRPr lang="en-US" sz="2175" dirty="0"/>
          </a:p>
        </p:txBody>
      </p:sp>
      <p:sp>
        <p:nvSpPr>
          <p:cNvPr id="13" name="Shape 11"/>
          <p:cNvSpPr/>
          <p:nvPr/>
        </p:nvSpPr>
        <p:spPr>
          <a:xfrm>
            <a:off x="9139238" y="2412713"/>
            <a:ext cx="9525" cy="7035800"/>
          </a:xfrm>
          <a:prstGeom prst="rect">
            <a:avLst/>
          </a:prstGeom>
          <a:solidFill>
            <a:srgbClr val="D9D0C5">
              <a:alpha val="92000"/>
            </a:srgbClr>
          </a:solidFill>
          <a:ln/>
        </p:spPr>
      </p:sp>
      <p:sp>
        <p:nvSpPr>
          <p:cNvPr id="14" name="Text 12"/>
          <p:cNvSpPr/>
          <p:nvPr/>
        </p:nvSpPr>
        <p:spPr>
          <a:xfrm>
            <a:off x="9815513" y="2412713"/>
            <a:ext cx="8062436" cy="3937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2F8F57">
                    <a:alpha val="92000"/>
                  </a:srgbClr>
                </a:solidFill>
                <a:latin typeface="Arial" pitchFamily="34" charset="0"/>
                <a:ea typeface="Arial" pitchFamily="34" charset="-122"/>
                <a:cs typeface="Arial" pitchFamily="34" charset="-120"/>
              </a:rPr>
              <a:t>Purpose</a:t>
            </a:r>
            <a:endParaRPr lang="en-US" sz="2400" dirty="0"/>
          </a:p>
        </p:txBody>
      </p:sp>
      <p:sp>
        <p:nvSpPr>
          <p:cNvPr id="15" name="Shape 13"/>
          <p:cNvSpPr/>
          <p:nvPr/>
        </p:nvSpPr>
        <p:spPr>
          <a:xfrm>
            <a:off x="9815513" y="3120738"/>
            <a:ext cx="123825" cy="123825"/>
          </a:xfrm>
          <a:prstGeom prst="roundRect">
            <a:avLst>
              <a:gd name="adj" fmla="val 23077"/>
            </a:avLst>
          </a:prstGeom>
          <a:solidFill>
            <a:srgbClr val="2F8F57">
              <a:alpha val="92000"/>
            </a:srgbClr>
          </a:solidFill>
          <a:ln/>
        </p:spPr>
      </p:sp>
      <p:sp>
        <p:nvSpPr>
          <p:cNvPr id="16" name="Text 14"/>
          <p:cNvSpPr/>
          <p:nvPr/>
        </p:nvSpPr>
        <p:spPr>
          <a:xfrm>
            <a:off x="10129838" y="2996913"/>
            <a:ext cx="7225617" cy="823913"/>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b="1" dirty="0">
                <a:solidFill>
                  <a:srgbClr val="1A1714">
                    <a:alpha val="92000"/>
                  </a:srgbClr>
                </a:solidFill>
                <a:latin typeface="Arial" pitchFamily="34" charset="0"/>
                <a:ea typeface="Arial" pitchFamily="34" charset="-122"/>
                <a:cs typeface="Arial" pitchFamily="34" charset="-120"/>
              </a:rPr>
              <a:t>Transparency </a:t>
            </a:r>
            <a:r>
              <a:rPr lang="en-US" sz="2175" dirty="0">
                <a:solidFill>
                  <a:srgbClr val="1A1714">
                    <a:alpha val="92000"/>
                  </a:srgbClr>
                </a:solidFill>
                <a:latin typeface="Arial" pitchFamily="34" charset="0"/>
                <a:ea typeface="Arial" pitchFamily="34" charset="-122"/>
                <a:cs typeface="Arial" pitchFamily="34" charset="-120"/>
              </a:rPr>
              <a:t>— open bids, ratings and a shared project record.</a:t>
            </a:r>
            <a:endParaRPr lang="en-US" sz="2175" dirty="0"/>
          </a:p>
        </p:txBody>
      </p:sp>
      <p:sp>
        <p:nvSpPr>
          <p:cNvPr id="17" name="Shape 15"/>
          <p:cNvSpPr/>
          <p:nvPr/>
        </p:nvSpPr>
        <p:spPr>
          <a:xfrm>
            <a:off x="9815513" y="4116101"/>
            <a:ext cx="123825" cy="123825"/>
          </a:xfrm>
          <a:prstGeom prst="roundRect">
            <a:avLst>
              <a:gd name="adj" fmla="val 23077"/>
            </a:avLst>
          </a:prstGeom>
          <a:solidFill>
            <a:srgbClr val="2F8F57">
              <a:alpha val="92000"/>
            </a:srgbClr>
          </a:solidFill>
          <a:ln/>
        </p:spPr>
      </p:sp>
      <p:sp>
        <p:nvSpPr>
          <p:cNvPr id="18" name="Text 16"/>
          <p:cNvSpPr/>
          <p:nvPr/>
        </p:nvSpPr>
        <p:spPr>
          <a:xfrm>
            <a:off x="10129838" y="3992276"/>
            <a:ext cx="7629585" cy="437356"/>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b="1" dirty="0">
                <a:solidFill>
                  <a:srgbClr val="1A1714">
                    <a:alpha val="92000"/>
                  </a:srgbClr>
                </a:solidFill>
                <a:latin typeface="Arial" pitchFamily="34" charset="0"/>
                <a:ea typeface="Arial" pitchFamily="34" charset="-122"/>
                <a:cs typeface="Arial" pitchFamily="34" charset="-120"/>
              </a:rPr>
              <a:t>Trust </a:t>
            </a:r>
            <a:r>
              <a:rPr lang="en-US" sz="2175" dirty="0">
                <a:solidFill>
                  <a:srgbClr val="1A1714">
                    <a:alpha val="92000"/>
                  </a:srgbClr>
                </a:solidFill>
                <a:latin typeface="Arial" pitchFamily="34" charset="0"/>
                <a:ea typeface="Arial" pitchFamily="34" charset="-122"/>
                <a:cs typeface="Arial" pitchFamily="34" charset="-120"/>
              </a:rPr>
              <a:t>— verified identities, reviews and dispute handling.</a:t>
            </a:r>
            <a:endParaRPr lang="en-US" sz="2175" dirty="0"/>
          </a:p>
        </p:txBody>
      </p:sp>
      <p:sp>
        <p:nvSpPr>
          <p:cNvPr id="19" name="Shape 17"/>
          <p:cNvSpPr/>
          <p:nvPr/>
        </p:nvSpPr>
        <p:spPr>
          <a:xfrm>
            <a:off x="9815513" y="4724907"/>
            <a:ext cx="123825" cy="123825"/>
          </a:xfrm>
          <a:prstGeom prst="roundRect">
            <a:avLst>
              <a:gd name="adj" fmla="val 23077"/>
            </a:avLst>
          </a:prstGeom>
          <a:solidFill>
            <a:srgbClr val="2F8F57">
              <a:alpha val="92000"/>
            </a:srgbClr>
          </a:solidFill>
          <a:ln/>
        </p:spPr>
      </p:sp>
      <p:sp>
        <p:nvSpPr>
          <p:cNvPr id="20" name="Text 18"/>
          <p:cNvSpPr/>
          <p:nvPr/>
        </p:nvSpPr>
        <p:spPr>
          <a:xfrm>
            <a:off x="10129838" y="4601082"/>
            <a:ext cx="7225617" cy="823913"/>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b="1" dirty="0">
                <a:solidFill>
                  <a:srgbClr val="1A1714">
                    <a:alpha val="92000"/>
                  </a:srgbClr>
                </a:solidFill>
                <a:latin typeface="Arial" pitchFamily="34" charset="0"/>
                <a:ea typeface="Arial" pitchFamily="34" charset="-122"/>
                <a:cs typeface="Arial" pitchFamily="34" charset="-120"/>
              </a:rPr>
              <a:t>Efficiency </a:t>
            </a:r>
            <a:r>
              <a:rPr lang="en-US" sz="2175" dirty="0">
                <a:solidFill>
                  <a:srgbClr val="1A1714">
                    <a:alpha val="92000"/>
                  </a:srgbClr>
                </a:solidFill>
                <a:latin typeface="Arial" pitchFamily="34" charset="0"/>
                <a:ea typeface="Arial" pitchFamily="34" charset="-122"/>
                <a:cs typeface="Arial" pitchFamily="34" charset="-120"/>
              </a:rPr>
              <a:t>— one place to hire, communicate and track work.</a:t>
            </a:r>
            <a:endParaRPr lang="en-US" sz="2175" dirty="0"/>
          </a:p>
        </p:txBody>
      </p:sp>
      <p:sp>
        <p:nvSpPr>
          <p:cNvPr id="21" name="Shape 19"/>
          <p:cNvSpPr/>
          <p:nvPr/>
        </p:nvSpPr>
        <p:spPr>
          <a:xfrm>
            <a:off x="9815513" y="5720269"/>
            <a:ext cx="123825" cy="123825"/>
          </a:xfrm>
          <a:prstGeom prst="roundRect">
            <a:avLst>
              <a:gd name="adj" fmla="val 23077"/>
            </a:avLst>
          </a:prstGeom>
          <a:solidFill>
            <a:srgbClr val="2F8F57">
              <a:alpha val="92000"/>
            </a:srgbClr>
          </a:solidFill>
          <a:ln/>
        </p:spPr>
      </p:sp>
      <p:sp>
        <p:nvSpPr>
          <p:cNvPr id="22" name="Text 20"/>
          <p:cNvSpPr/>
          <p:nvPr/>
        </p:nvSpPr>
        <p:spPr>
          <a:xfrm>
            <a:off x="10129838" y="5596444"/>
            <a:ext cx="7225617" cy="823913"/>
          </a:xfrm>
          <a:prstGeom prst="rect">
            <a:avLst/>
          </a:prstGeom>
          <a:noFill/>
          <a:ln/>
        </p:spPr>
        <p:txBody>
          <a:bodyPr wrap="square" lIns="25400" tIns="25400" rIns="25400" bIns="25400" rtlCol="0" anchor="t">
            <a:normAutofit lnSpcReduction="10000"/>
          </a:bodyPr>
          <a:lstStyle/>
          <a:p>
            <a:pPr marL="0" indent="0" algn="l">
              <a:lnSpc>
                <a:spcPct val="117115"/>
              </a:lnSpc>
              <a:buNone/>
            </a:pPr>
            <a:r>
              <a:rPr lang="en-US" sz="2175" b="1" dirty="0">
                <a:solidFill>
                  <a:srgbClr val="1A1714">
                    <a:alpha val="92000"/>
                  </a:srgbClr>
                </a:solidFill>
                <a:latin typeface="Arial" pitchFamily="34" charset="0"/>
                <a:ea typeface="Arial" pitchFamily="34" charset="-122"/>
                <a:cs typeface="Arial" pitchFamily="34" charset="-120"/>
              </a:rPr>
              <a:t>Accessibility </a:t>
            </a:r>
            <a:r>
              <a:rPr lang="en-US" sz="2175" dirty="0">
                <a:solidFill>
                  <a:srgbClr val="1A1714">
                    <a:alpha val="92000"/>
                  </a:srgbClr>
                </a:solidFill>
                <a:latin typeface="Arial" pitchFamily="34" charset="0"/>
                <a:ea typeface="Arial" pitchFamily="34" charset="-122"/>
                <a:cs typeface="Arial" pitchFamily="34" charset="-120"/>
              </a:rPr>
              <a:t>— mobile-friendly, localized for developing regions.</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952500" y="762604"/>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ARCHITECTURE</a:t>
            </a:r>
            <a:endParaRPr lang="en-US" sz="1650" dirty="0"/>
          </a:p>
        </p:txBody>
      </p:sp>
      <p:sp>
        <p:nvSpPr>
          <p:cNvPr id="3" name="Text 1"/>
          <p:cNvSpPr/>
          <p:nvPr/>
        </p:nvSpPr>
        <p:spPr>
          <a:xfrm>
            <a:off x="952500" y="1142483"/>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1A1714">
                    <a:alpha val="98000"/>
                  </a:srgbClr>
                </a:solidFill>
                <a:latin typeface="Arial" pitchFamily="34" charset="0"/>
                <a:ea typeface="Arial" pitchFamily="34" charset="-122"/>
                <a:cs typeface="Arial" pitchFamily="34" charset="-120"/>
              </a:rPr>
              <a:t>System Diagram</a:t>
            </a:r>
            <a:endParaRPr lang="en-US" sz="4350" dirty="0"/>
          </a:p>
        </p:txBody>
      </p:sp>
      <p:sp>
        <p:nvSpPr>
          <p:cNvPr id="4" name="Shape 2"/>
          <p:cNvSpPr/>
          <p:nvPr/>
        </p:nvSpPr>
        <p:spPr>
          <a:xfrm>
            <a:off x="952500" y="2120636"/>
            <a:ext cx="4543425" cy="7423150"/>
          </a:xfrm>
          <a:prstGeom prst="roundRect">
            <a:avLst>
              <a:gd name="adj" fmla="val 3774"/>
            </a:avLst>
          </a:prstGeom>
          <a:solidFill>
            <a:srgbClr val="FFFFFF">
              <a:alpha val="92000"/>
            </a:srgbClr>
          </a:solidFill>
          <a:ln/>
          <a:effectLst>
            <a:outerShdw blurRad="323850" dist="133350" dir="5400000" algn="bl" rotWithShape="0">
              <a:srgbClr val="1A1714">
                <a:alpha val="6469"/>
              </a:srgbClr>
            </a:outerShdw>
          </a:effectLst>
        </p:spPr>
      </p:sp>
      <p:sp>
        <p:nvSpPr>
          <p:cNvPr id="5" name="Shape 3"/>
          <p:cNvSpPr/>
          <p:nvPr/>
        </p:nvSpPr>
        <p:spPr>
          <a:xfrm>
            <a:off x="952500" y="2120636"/>
            <a:ext cx="4543425" cy="50800"/>
          </a:xfrm>
          <a:prstGeom prst="rect">
            <a:avLst/>
          </a:prstGeom>
          <a:solidFill>
            <a:srgbClr val="F2661A">
              <a:alpha val="92000"/>
            </a:srgbClr>
          </a:solidFill>
          <a:ln/>
        </p:spPr>
      </p:sp>
      <p:sp>
        <p:nvSpPr>
          <p:cNvPr id="6" name="Text 4"/>
          <p:cNvSpPr/>
          <p:nvPr/>
        </p:nvSpPr>
        <p:spPr>
          <a:xfrm>
            <a:off x="1238250" y="2495286"/>
            <a:ext cx="4369118"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B625A">
                    <a:alpha val="92000"/>
                  </a:srgbClr>
                </a:solidFill>
                <a:latin typeface="Courier New" pitchFamily="34" charset="0"/>
                <a:ea typeface="Courier New" pitchFamily="34" charset="-122"/>
                <a:cs typeface="Courier New" pitchFamily="34" charset="-120"/>
              </a:rPr>
              <a:t>PRESENTATION TIER</a:t>
            </a:r>
            <a:endParaRPr lang="en-US" sz="1350" dirty="0"/>
          </a:p>
        </p:txBody>
      </p:sp>
      <p:sp>
        <p:nvSpPr>
          <p:cNvPr id="7" name="Text 5"/>
          <p:cNvSpPr/>
          <p:nvPr/>
        </p:nvSpPr>
        <p:spPr>
          <a:xfrm>
            <a:off x="1238250" y="2800086"/>
            <a:ext cx="4369118" cy="3937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714">
                    <a:alpha val="92000"/>
                  </a:srgbClr>
                </a:solidFill>
                <a:latin typeface="Arial" pitchFamily="34" charset="0"/>
                <a:ea typeface="Arial" pitchFamily="34" charset="-122"/>
                <a:cs typeface="Arial" pitchFamily="34" charset="-120"/>
              </a:rPr>
              <a:t>React SPA</a:t>
            </a:r>
            <a:endParaRPr lang="en-US" sz="2400" dirty="0"/>
          </a:p>
        </p:txBody>
      </p:sp>
      <p:sp>
        <p:nvSpPr>
          <p:cNvPr id="8" name="Shape 6"/>
          <p:cNvSpPr/>
          <p:nvPr/>
        </p:nvSpPr>
        <p:spPr>
          <a:xfrm>
            <a:off x="1238250" y="3365236"/>
            <a:ext cx="3971925" cy="546100"/>
          </a:xfrm>
          <a:prstGeom prst="roundRect">
            <a:avLst>
              <a:gd name="adj" fmla="val 17442"/>
            </a:avLst>
          </a:prstGeom>
          <a:solidFill>
            <a:srgbClr val="F7F4EF">
              <a:alpha val="92000"/>
            </a:srgbClr>
          </a:solidFill>
          <a:ln/>
        </p:spPr>
      </p:sp>
      <p:sp>
        <p:nvSpPr>
          <p:cNvPr id="9" name="Text 7"/>
          <p:cNvSpPr/>
          <p:nvPr/>
        </p:nvSpPr>
        <p:spPr>
          <a:xfrm>
            <a:off x="1409700" y="3498586"/>
            <a:ext cx="3748183" cy="317500"/>
          </a:xfrm>
          <a:prstGeom prst="rect">
            <a:avLst/>
          </a:prstGeom>
          <a:noFill/>
          <a:ln/>
        </p:spPr>
        <p:txBody>
          <a:bodyPr wrap="square" lIns="25400" tIns="25400" rIns="25400" bIns="25400" rtlCol="0" anchor="t">
            <a:normAutofit/>
          </a:bodyPr>
          <a:lstStyle/>
          <a:p>
            <a:pPr marL="0" indent="0" algn="l">
              <a:buNone/>
            </a:pPr>
            <a:r>
              <a:rPr lang="en-US" sz="1650" dirty="0">
                <a:solidFill>
                  <a:srgbClr val="4A423B">
                    <a:alpha val="92000"/>
                  </a:srgbClr>
                </a:solidFill>
                <a:latin typeface="Arial" pitchFamily="34" charset="0"/>
                <a:ea typeface="Arial" pitchFamily="34" charset="-122"/>
                <a:cs typeface="Arial" pitchFamily="34" charset="-120"/>
              </a:rPr>
              <a:t>React 18 · TypeScript · Vite</a:t>
            </a:r>
            <a:endParaRPr lang="en-US" sz="1650" dirty="0"/>
          </a:p>
        </p:txBody>
      </p:sp>
      <p:sp>
        <p:nvSpPr>
          <p:cNvPr id="10" name="Shape 8"/>
          <p:cNvSpPr/>
          <p:nvPr/>
        </p:nvSpPr>
        <p:spPr>
          <a:xfrm>
            <a:off x="1238250" y="4025636"/>
            <a:ext cx="3971925" cy="546100"/>
          </a:xfrm>
          <a:prstGeom prst="roundRect">
            <a:avLst>
              <a:gd name="adj" fmla="val 17442"/>
            </a:avLst>
          </a:prstGeom>
          <a:solidFill>
            <a:srgbClr val="F7F4EF">
              <a:alpha val="92000"/>
            </a:srgbClr>
          </a:solidFill>
          <a:ln/>
        </p:spPr>
      </p:sp>
      <p:sp>
        <p:nvSpPr>
          <p:cNvPr id="11" name="Text 9"/>
          <p:cNvSpPr/>
          <p:nvPr/>
        </p:nvSpPr>
        <p:spPr>
          <a:xfrm>
            <a:off x="1409700" y="4158986"/>
            <a:ext cx="3748183" cy="317500"/>
          </a:xfrm>
          <a:prstGeom prst="rect">
            <a:avLst/>
          </a:prstGeom>
          <a:noFill/>
          <a:ln/>
        </p:spPr>
        <p:txBody>
          <a:bodyPr wrap="square" lIns="25400" tIns="25400" rIns="25400" bIns="25400" rtlCol="0" anchor="t">
            <a:normAutofit/>
          </a:bodyPr>
          <a:lstStyle/>
          <a:p>
            <a:pPr marL="0" indent="0" algn="l">
              <a:buNone/>
            </a:pPr>
            <a:r>
              <a:rPr lang="en-US" sz="1650" dirty="0">
                <a:solidFill>
                  <a:srgbClr val="4A423B">
                    <a:alpha val="92000"/>
                  </a:srgbClr>
                </a:solidFill>
                <a:latin typeface="Arial" pitchFamily="34" charset="0"/>
                <a:ea typeface="Arial" pitchFamily="34" charset="-122"/>
                <a:cs typeface="Arial" pitchFamily="34" charset="-120"/>
              </a:rPr>
              <a:t>Tailwind CSS · React Query</a:t>
            </a:r>
            <a:endParaRPr lang="en-US" sz="1650" dirty="0"/>
          </a:p>
        </p:txBody>
      </p:sp>
      <p:sp>
        <p:nvSpPr>
          <p:cNvPr id="12" name="Shape 10"/>
          <p:cNvSpPr/>
          <p:nvPr/>
        </p:nvSpPr>
        <p:spPr>
          <a:xfrm>
            <a:off x="1238250" y="4686036"/>
            <a:ext cx="3971925" cy="546100"/>
          </a:xfrm>
          <a:prstGeom prst="roundRect">
            <a:avLst>
              <a:gd name="adj" fmla="val 17442"/>
            </a:avLst>
          </a:prstGeom>
          <a:solidFill>
            <a:srgbClr val="F7F4EF">
              <a:alpha val="92000"/>
            </a:srgbClr>
          </a:solidFill>
          <a:ln/>
        </p:spPr>
      </p:sp>
      <p:sp>
        <p:nvSpPr>
          <p:cNvPr id="13" name="Text 11"/>
          <p:cNvSpPr/>
          <p:nvPr/>
        </p:nvSpPr>
        <p:spPr>
          <a:xfrm>
            <a:off x="1409700" y="4819386"/>
            <a:ext cx="3748183" cy="317500"/>
          </a:xfrm>
          <a:prstGeom prst="rect">
            <a:avLst/>
          </a:prstGeom>
          <a:noFill/>
          <a:ln/>
        </p:spPr>
        <p:txBody>
          <a:bodyPr wrap="square" lIns="25400" tIns="25400" rIns="25400" bIns="25400" rtlCol="0" anchor="t">
            <a:normAutofit/>
          </a:bodyPr>
          <a:lstStyle/>
          <a:p>
            <a:pPr marL="0" indent="0" algn="l">
              <a:buNone/>
            </a:pPr>
            <a:r>
              <a:rPr lang="en-US" sz="1650" dirty="0">
                <a:solidFill>
                  <a:srgbClr val="4A423B">
                    <a:alpha val="92000"/>
                  </a:srgbClr>
                </a:solidFill>
                <a:latin typeface="Arial" pitchFamily="34" charset="0"/>
                <a:ea typeface="Arial" pitchFamily="34" charset="-122"/>
                <a:cs typeface="Arial" pitchFamily="34" charset="-120"/>
              </a:rPr>
              <a:t>8 role-based dashboards</a:t>
            </a:r>
            <a:endParaRPr lang="en-US" sz="1650" dirty="0"/>
          </a:p>
        </p:txBody>
      </p:sp>
      <p:sp>
        <p:nvSpPr>
          <p:cNvPr id="14" name="Text 12"/>
          <p:cNvSpPr/>
          <p:nvPr/>
        </p:nvSpPr>
        <p:spPr>
          <a:xfrm>
            <a:off x="1238250" y="8991336"/>
            <a:ext cx="4091083"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F857A">
                    <a:alpha val="92000"/>
                  </a:srgbClr>
                </a:solidFill>
                <a:latin typeface="Courier New" pitchFamily="34" charset="0"/>
                <a:ea typeface="Courier New" pitchFamily="34" charset="-122"/>
                <a:cs typeface="Courier New" pitchFamily="34" charset="-120"/>
              </a:rPr>
              <a:t>Browser · Desktop &amp; mobile</a:t>
            </a:r>
            <a:endParaRPr lang="en-US" sz="1350" dirty="0"/>
          </a:p>
        </p:txBody>
      </p:sp>
      <p:sp>
        <p:nvSpPr>
          <p:cNvPr id="15" name="Text 13"/>
          <p:cNvSpPr/>
          <p:nvPr/>
        </p:nvSpPr>
        <p:spPr>
          <a:xfrm>
            <a:off x="5705475" y="5403586"/>
            <a:ext cx="990600" cy="419100"/>
          </a:xfrm>
          <a:prstGeom prst="rect">
            <a:avLst/>
          </a:prstGeom>
          <a:noFill/>
          <a:ln/>
        </p:spPr>
        <p:txBody>
          <a:bodyPr wrap="square" lIns="25400" tIns="25400" rIns="25400" bIns="25400" rtlCol="0" anchor="t">
            <a:normAutofit/>
          </a:bodyPr>
          <a:lstStyle/>
          <a:p>
            <a:pPr marL="0" indent="0" algn="ctr">
              <a:buNone/>
            </a:pPr>
            <a:r>
              <a:rPr lang="en-US" sz="1200" dirty="0">
                <a:solidFill>
                  <a:srgbClr val="6B625A">
                    <a:alpha val="92000"/>
                  </a:srgbClr>
                </a:solidFill>
                <a:latin typeface="Courier New" pitchFamily="34" charset="0"/>
                <a:ea typeface="Courier New" pitchFamily="34" charset="-122"/>
                <a:cs typeface="Courier New" pitchFamily="34" charset="-120"/>
              </a:rPr>
              <a:t>REST · JWT WebSocket</a:t>
            </a:r>
            <a:endParaRPr lang="en-US" sz="1200" dirty="0"/>
          </a:p>
        </p:txBody>
      </p:sp>
      <p:sp>
        <p:nvSpPr>
          <p:cNvPr id="16" name="Text 14"/>
          <p:cNvSpPr/>
          <p:nvPr/>
        </p:nvSpPr>
        <p:spPr>
          <a:xfrm>
            <a:off x="6025158" y="5841736"/>
            <a:ext cx="427434" cy="457200"/>
          </a:xfrm>
          <a:prstGeom prst="rect">
            <a:avLst/>
          </a:prstGeom>
          <a:noFill/>
          <a:ln/>
        </p:spPr>
        <p:txBody>
          <a:bodyPr wrap="square" lIns="25400" tIns="25400" rIns="25400" bIns="25400" rtlCol="0" anchor="t">
            <a:normAutofit lnSpcReduction="10000"/>
          </a:bodyPr>
          <a:lstStyle/>
          <a:p>
            <a:pPr marL="0" indent="0" algn="l">
              <a:lnSpc>
                <a:spcPct val="86842"/>
              </a:lnSpc>
              <a:buNone/>
            </a:pPr>
            <a:r>
              <a:rPr lang="en-US" sz="3300" dirty="0">
                <a:solidFill>
                  <a:srgbClr val="F2661A">
                    <a:alpha val="92000"/>
                  </a:srgbClr>
                </a:solidFill>
                <a:latin typeface="Arial" pitchFamily="34" charset="0"/>
                <a:ea typeface="Arial" pitchFamily="34" charset="-122"/>
                <a:cs typeface="Arial" pitchFamily="34" charset="-120"/>
              </a:rPr>
              <a:t>⇄</a:t>
            </a:r>
            <a:endParaRPr lang="en-US" sz="3300" dirty="0"/>
          </a:p>
        </p:txBody>
      </p:sp>
      <p:sp>
        <p:nvSpPr>
          <p:cNvPr id="17" name="Shape 15"/>
          <p:cNvSpPr/>
          <p:nvPr/>
        </p:nvSpPr>
        <p:spPr>
          <a:xfrm>
            <a:off x="6905625" y="2120636"/>
            <a:ext cx="5139333" cy="7423150"/>
          </a:xfrm>
          <a:prstGeom prst="roundRect">
            <a:avLst>
              <a:gd name="adj" fmla="val 3336"/>
            </a:avLst>
          </a:prstGeom>
          <a:solidFill>
            <a:srgbClr val="1A1714">
              <a:alpha val="92000"/>
            </a:srgbClr>
          </a:solidFill>
          <a:ln/>
          <a:effectLst>
            <a:outerShdw blurRad="323850" dist="133350" dir="5400000" algn="bl" rotWithShape="0">
              <a:srgbClr val="1A1714">
                <a:alpha val="12938"/>
              </a:srgbClr>
            </a:outerShdw>
          </a:effectLst>
        </p:spPr>
      </p:sp>
      <p:sp>
        <p:nvSpPr>
          <p:cNvPr id="18" name="Shape 16"/>
          <p:cNvSpPr/>
          <p:nvPr/>
        </p:nvSpPr>
        <p:spPr>
          <a:xfrm>
            <a:off x="6905625" y="2120636"/>
            <a:ext cx="5139333" cy="50800"/>
          </a:xfrm>
          <a:prstGeom prst="rect">
            <a:avLst/>
          </a:prstGeom>
          <a:solidFill>
            <a:srgbClr val="2F8F57">
              <a:alpha val="92000"/>
            </a:srgbClr>
          </a:solidFill>
          <a:ln/>
        </p:spPr>
      </p:sp>
      <p:sp>
        <p:nvSpPr>
          <p:cNvPr id="19" name="Text 17"/>
          <p:cNvSpPr/>
          <p:nvPr/>
        </p:nvSpPr>
        <p:spPr>
          <a:xfrm>
            <a:off x="7191375" y="2495286"/>
            <a:ext cx="5024616"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9BEB2">
                    <a:alpha val="92000"/>
                  </a:srgbClr>
                </a:solidFill>
                <a:latin typeface="Courier New" pitchFamily="34" charset="0"/>
                <a:ea typeface="Courier New" pitchFamily="34" charset="-122"/>
                <a:cs typeface="Courier New" pitchFamily="34" charset="-120"/>
              </a:rPr>
              <a:t>APPLICATION TIER</a:t>
            </a:r>
            <a:endParaRPr lang="en-US" sz="1350" dirty="0"/>
          </a:p>
        </p:txBody>
      </p:sp>
      <p:sp>
        <p:nvSpPr>
          <p:cNvPr id="20" name="Text 18"/>
          <p:cNvSpPr/>
          <p:nvPr/>
        </p:nvSpPr>
        <p:spPr>
          <a:xfrm>
            <a:off x="7191375" y="2800086"/>
            <a:ext cx="5024616" cy="3937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7F4EF">
                    <a:alpha val="92000"/>
                  </a:srgbClr>
                </a:solidFill>
                <a:latin typeface="Arial" pitchFamily="34" charset="0"/>
                <a:ea typeface="Arial" pitchFamily="34" charset="-122"/>
                <a:cs typeface="Arial" pitchFamily="34" charset="-120"/>
              </a:rPr>
              <a:t>Spring Boot API</a:t>
            </a:r>
            <a:endParaRPr lang="en-US" sz="2400" dirty="0"/>
          </a:p>
        </p:txBody>
      </p:sp>
      <p:sp>
        <p:nvSpPr>
          <p:cNvPr id="21" name="Shape 19"/>
          <p:cNvSpPr/>
          <p:nvPr/>
        </p:nvSpPr>
        <p:spPr>
          <a:xfrm>
            <a:off x="7191375" y="3365236"/>
            <a:ext cx="4567833" cy="546100"/>
          </a:xfrm>
          <a:prstGeom prst="roundRect">
            <a:avLst>
              <a:gd name="adj" fmla="val 17442"/>
            </a:avLst>
          </a:prstGeom>
          <a:solidFill>
            <a:srgbClr val="FFFFFF">
              <a:alpha val="6000"/>
            </a:srgbClr>
          </a:solidFill>
          <a:ln/>
        </p:spPr>
      </p:sp>
      <p:sp>
        <p:nvSpPr>
          <p:cNvPr id="22" name="Text 20"/>
          <p:cNvSpPr/>
          <p:nvPr/>
        </p:nvSpPr>
        <p:spPr>
          <a:xfrm>
            <a:off x="7362825" y="3498586"/>
            <a:ext cx="4361968" cy="317500"/>
          </a:xfrm>
          <a:prstGeom prst="rect">
            <a:avLst/>
          </a:prstGeom>
          <a:noFill/>
          <a:ln/>
        </p:spPr>
        <p:txBody>
          <a:bodyPr wrap="square" lIns="25400" tIns="25400" rIns="25400" bIns="25400" rtlCol="0" anchor="t">
            <a:normAutofit/>
          </a:bodyPr>
          <a:lstStyle/>
          <a:p>
            <a:pPr marL="0" indent="0" algn="l">
              <a:buNone/>
            </a:pPr>
            <a:r>
              <a:rPr lang="en-US" sz="1650" dirty="0">
                <a:solidFill>
                  <a:srgbClr val="E6DDD2">
                    <a:alpha val="92000"/>
                  </a:srgbClr>
                </a:solidFill>
                <a:latin typeface="Arial" pitchFamily="34" charset="0"/>
                <a:ea typeface="Arial" pitchFamily="34" charset="-122"/>
                <a:cs typeface="Arial" pitchFamily="34" charset="-120"/>
              </a:rPr>
              <a:t>Java 17 · Spring Boot 3.2</a:t>
            </a:r>
            <a:endParaRPr lang="en-US" sz="1650" dirty="0"/>
          </a:p>
        </p:txBody>
      </p:sp>
      <p:sp>
        <p:nvSpPr>
          <p:cNvPr id="23" name="Shape 21"/>
          <p:cNvSpPr/>
          <p:nvPr/>
        </p:nvSpPr>
        <p:spPr>
          <a:xfrm>
            <a:off x="7191375" y="4025636"/>
            <a:ext cx="4567833" cy="546100"/>
          </a:xfrm>
          <a:prstGeom prst="roundRect">
            <a:avLst>
              <a:gd name="adj" fmla="val 17442"/>
            </a:avLst>
          </a:prstGeom>
          <a:solidFill>
            <a:srgbClr val="FFFFFF">
              <a:alpha val="6000"/>
            </a:srgbClr>
          </a:solidFill>
          <a:ln/>
        </p:spPr>
      </p:sp>
      <p:sp>
        <p:nvSpPr>
          <p:cNvPr id="24" name="Text 22"/>
          <p:cNvSpPr/>
          <p:nvPr/>
        </p:nvSpPr>
        <p:spPr>
          <a:xfrm>
            <a:off x="7362825" y="4158986"/>
            <a:ext cx="4361968" cy="317500"/>
          </a:xfrm>
          <a:prstGeom prst="rect">
            <a:avLst/>
          </a:prstGeom>
          <a:noFill/>
          <a:ln/>
        </p:spPr>
        <p:txBody>
          <a:bodyPr wrap="square" lIns="25400" tIns="25400" rIns="25400" bIns="25400" rtlCol="0" anchor="t">
            <a:normAutofit/>
          </a:bodyPr>
          <a:lstStyle/>
          <a:p>
            <a:pPr marL="0" indent="0" algn="l">
              <a:buNone/>
            </a:pPr>
            <a:r>
              <a:rPr lang="en-US" sz="1650" dirty="0">
                <a:solidFill>
                  <a:srgbClr val="E6DDD2">
                    <a:alpha val="92000"/>
                  </a:srgbClr>
                </a:solidFill>
                <a:latin typeface="Arial" pitchFamily="34" charset="0"/>
                <a:ea typeface="Arial" pitchFamily="34" charset="-122"/>
                <a:cs typeface="Arial" pitchFamily="34" charset="-120"/>
              </a:rPr>
              <a:t>Spring Security + JWT auth</a:t>
            </a:r>
            <a:endParaRPr lang="en-US" sz="1650" dirty="0"/>
          </a:p>
        </p:txBody>
      </p:sp>
      <p:sp>
        <p:nvSpPr>
          <p:cNvPr id="25" name="Shape 23"/>
          <p:cNvSpPr/>
          <p:nvPr/>
        </p:nvSpPr>
        <p:spPr>
          <a:xfrm>
            <a:off x="7191375" y="4686036"/>
            <a:ext cx="4567833" cy="546100"/>
          </a:xfrm>
          <a:prstGeom prst="roundRect">
            <a:avLst>
              <a:gd name="adj" fmla="val 17442"/>
            </a:avLst>
          </a:prstGeom>
          <a:solidFill>
            <a:srgbClr val="FFFFFF">
              <a:alpha val="6000"/>
            </a:srgbClr>
          </a:solidFill>
          <a:ln/>
        </p:spPr>
      </p:sp>
      <p:sp>
        <p:nvSpPr>
          <p:cNvPr id="26" name="Text 24"/>
          <p:cNvSpPr/>
          <p:nvPr/>
        </p:nvSpPr>
        <p:spPr>
          <a:xfrm>
            <a:off x="7362825" y="4819386"/>
            <a:ext cx="4361968" cy="317500"/>
          </a:xfrm>
          <a:prstGeom prst="rect">
            <a:avLst/>
          </a:prstGeom>
          <a:noFill/>
          <a:ln/>
        </p:spPr>
        <p:txBody>
          <a:bodyPr wrap="square" lIns="25400" tIns="25400" rIns="25400" bIns="25400" rtlCol="0" anchor="t">
            <a:normAutofit/>
          </a:bodyPr>
          <a:lstStyle/>
          <a:p>
            <a:pPr marL="0" indent="0" algn="l">
              <a:buNone/>
            </a:pPr>
            <a:r>
              <a:rPr lang="en-US" sz="1650" dirty="0">
                <a:solidFill>
                  <a:srgbClr val="E6DDD2">
                    <a:alpha val="92000"/>
                  </a:srgbClr>
                </a:solidFill>
                <a:latin typeface="Arial" pitchFamily="34" charset="0"/>
                <a:ea typeface="Arial" pitchFamily="34" charset="-122"/>
                <a:cs typeface="Arial" pitchFamily="34" charset="-120"/>
              </a:rPr>
              <a:t>25 controllers · 29 services</a:t>
            </a:r>
            <a:endParaRPr lang="en-US" sz="1650" dirty="0"/>
          </a:p>
        </p:txBody>
      </p:sp>
      <p:sp>
        <p:nvSpPr>
          <p:cNvPr id="27" name="Shape 25"/>
          <p:cNvSpPr/>
          <p:nvPr/>
        </p:nvSpPr>
        <p:spPr>
          <a:xfrm>
            <a:off x="7191375" y="5346436"/>
            <a:ext cx="4567833" cy="546100"/>
          </a:xfrm>
          <a:prstGeom prst="roundRect">
            <a:avLst>
              <a:gd name="adj" fmla="val 17442"/>
            </a:avLst>
          </a:prstGeom>
          <a:solidFill>
            <a:srgbClr val="FFFFFF">
              <a:alpha val="6000"/>
            </a:srgbClr>
          </a:solidFill>
          <a:ln/>
        </p:spPr>
      </p:sp>
      <p:sp>
        <p:nvSpPr>
          <p:cNvPr id="28" name="Text 26"/>
          <p:cNvSpPr/>
          <p:nvPr/>
        </p:nvSpPr>
        <p:spPr>
          <a:xfrm>
            <a:off x="7362825" y="5479786"/>
            <a:ext cx="4361968" cy="317500"/>
          </a:xfrm>
          <a:prstGeom prst="rect">
            <a:avLst/>
          </a:prstGeom>
          <a:noFill/>
          <a:ln/>
        </p:spPr>
        <p:txBody>
          <a:bodyPr wrap="square" lIns="25400" tIns="25400" rIns="25400" bIns="25400" rtlCol="0" anchor="t">
            <a:normAutofit/>
          </a:bodyPr>
          <a:lstStyle/>
          <a:p>
            <a:pPr marL="0" indent="0" algn="l">
              <a:buNone/>
            </a:pPr>
            <a:r>
              <a:rPr lang="en-US" sz="1650" dirty="0">
                <a:solidFill>
                  <a:srgbClr val="E6DDD2">
                    <a:alpha val="92000"/>
                  </a:srgbClr>
                </a:solidFill>
                <a:latin typeface="Arial" pitchFamily="34" charset="0"/>
                <a:ea typeface="Arial" pitchFamily="34" charset="-122"/>
                <a:cs typeface="Arial" pitchFamily="34" charset="-120"/>
              </a:rPr>
              <a:t>STOMP WebSocket (chat)</a:t>
            </a:r>
            <a:endParaRPr lang="en-US" sz="1650" dirty="0"/>
          </a:p>
        </p:txBody>
      </p:sp>
      <p:sp>
        <p:nvSpPr>
          <p:cNvPr id="29" name="Text 27"/>
          <p:cNvSpPr/>
          <p:nvPr/>
        </p:nvSpPr>
        <p:spPr>
          <a:xfrm>
            <a:off x="7191375" y="8991336"/>
            <a:ext cx="4704868"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F857A">
                    <a:alpha val="92000"/>
                  </a:srgbClr>
                </a:solidFill>
                <a:latin typeface="Courier New" pitchFamily="34" charset="0"/>
                <a:ea typeface="Courier New" pitchFamily="34" charset="-122"/>
                <a:cs typeface="Courier New" pitchFamily="34" charset="-120"/>
              </a:rPr>
              <a:t>REST APIs · MVC architecture</a:t>
            </a:r>
            <a:endParaRPr lang="en-US" sz="1350" dirty="0"/>
          </a:p>
        </p:txBody>
      </p:sp>
      <p:sp>
        <p:nvSpPr>
          <p:cNvPr id="30" name="Text 28"/>
          <p:cNvSpPr/>
          <p:nvPr/>
        </p:nvSpPr>
        <p:spPr>
          <a:xfrm>
            <a:off x="12254508" y="5403586"/>
            <a:ext cx="899319" cy="419100"/>
          </a:xfrm>
          <a:prstGeom prst="rect">
            <a:avLst/>
          </a:prstGeom>
          <a:noFill/>
          <a:ln/>
        </p:spPr>
        <p:txBody>
          <a:bodyPr wrap="square" lIns="25400" tIns="25400" rIns="25400" bIns="25400" rtlCol="0" anchor="t">
            <a:normAutofit/>
          </a:bodyPr>
          <a:lstStyle/>
          <a:p>
            <a:pPr marL="0" indent="0" algn="ctr">
              <a:buNone/>
            </a:pPr>
            <a:r>
              <a:rPr lang="en-US" sz="1200" dirty="0">
                <a:solidFill>
                  <a:srgbClr val="6B625A">
                    <a:alpha val="92000"/>
                  </a:srgbClr>
                </a:solidFill>
                <a:latin typeface="Courier New" pitchFamily="34" charset="0"/>
                <a:ea typeface="Courier New" pitchFamily="34" charset="-122"/>
                <a:cs typeface="Courier New" pitchFamily="34" charset="-120"/>
              </a:rPr>
              <a:t>JPA Hibernate</a:t>
            </a:r>
            <a:endParaRPr lang="en-US" sz="1200" dirty="0"/>
          </a:p>
        </p:txBody>
      </p:sp>
      <p:sp>
        <p:nvSpPr>
          <p:cNvPr id="31" name="Text 29"/>
          <p:cNvSpPr/>
          <p:nvPr/>
        </p:nvSpPr>
        <p:spPr>
          <a:xfrm>
            <a:off x="12528550" y="5841736"/>
            <a:ext cx="427434" cy="457200"/>
          </a:xfrm>
          <a:prstGeom prst="rect">
            <a:avLst/>
          </a:prstGeom>
          <a:noFill/>
          <a:ln/>
        </p:spPr>
        <p:txBody>
          <a:bodyPr wrap="square" lIns="25400" tIns="25400" rIns="25400" bIns="25400" rtlCol="0" anchor="t">
            <a:normAutofit lnSpcReduction="10000"/>
          </a:bodyPr>
          <a:lstStyle/>
          <a:p>
            <a:pPr marL="0" indent="0" algn="l">
              <a:lnSpc>
                <a:spcPct val="86842"/>
              </a:lnSpc>
              <a:buNone/>
            </a:pPr>
            <a:r>
              <a:rPr lang="en-US" sz="3300" dirty="0">
                <a:solidFill>
                  <a:srgbClr val="2F8F57">
                    <a:alpha val="92000"/>
                  </a:srgbClr>
                </a:solidFill>
                <a:latin typeface="Arial" pitchFamily="34" charset="0"/>
                <a:ea typeface="Arial" pitchFamily="34" charset="-122"/>
                <a:cs typeface="Arial" pitchFamily="34" charset="-120"/>
              </a:rPr>
              <a:t>⇄</a:t>
            </a:r>
            <a:endParaRPr lang="en-US" sz="3300" dirty="0"/>
          </a:p>
        </p:txBody>
      </p:sp>
      <p:sp>
        <p:nvSpPr>
          <p:cNvPr id="32" name="Shape 30"/>
          <p:cNvSpPr/>
          <p:nvPr/>
        </p:nvSpPr>
        <p:spPr>
          <a:xfrm>
            <a:off x="13363377" y="2120636"/>
            <a:ext cx="3972124" cy="4067770"/>
          </a:xfrm>
          <a:prstGeom prst="roundRect">
            <a:avLst>
              <a:gd name="adj" fmla="val 4316"/>
            </a:avLst>
          </a:prstGeom>
          <a:solidFill>
            <a:srgbClr val="FFFFFF">
              <a:alpha val="92000"/>
            </a:srgbClr>
          </a:solidFill>
          <a:ln/>
          <a:effectLst>
            <a:outerShdw blurRad="323850" dist="133350" dir="5400000" algn="bl" rotWithShape="0">
              <a:srgbClr val="1A1714">
                <a:alpha val="6469"/>
              </a:srgbClr>
            </a:outerShdw>
          </a:effectLst>
        </p:spPr>
      </p:sp>
      <p:sp>
        <p:nvSpPr>
          <p:cNvPr id="33" name="Shape 31"/>
          <p:cNvSpPr/>
          <p:nvPr/>
        </p:nvSpPr>
        <p:spPr>
          <a:xfrm>
            <a:off x="13363377" y="2120636"/>
            <a:ext cx="3972124" cy="50800"/>
          </a:xfrm>
          <a:prstGeom prst="rect">
            <a:avLst/>
          </a:prstGeom>
          <a:solidFill>
            <a:srgbClr val="2F8F57">
              <a:alpha val="92000"/>
            </a:srgbClr>
          </a:solidFill>
          <a:ln/>
        </p:spPr>
      </p:sp>
      <p:sp>
        <p:nvSpPr>
          <p:cNvPr id="34" name="Text 32"/>
          <p:cNvSpPr/>
          <p:nvPr/>
        </p:nvSpPr>
        <p:spPr>
          <a:xfrm>
            <a:off x="13649127" y="2457186"/>
            <a:ext cx="3740686"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B625A">
                    <a:alpha val="92000"/>
                  </a:srgbClr>
                </a:solidFill>
                <a:latin typeface="Courier New" pitchFamily="34" charset="0"/>
                <a:ea typeface="Courier New" pitchFamily="34" charset="-122"/>
                <a:cs typeface="Courier New" pitchFamily="34" charset="-120"/>
              </a:rPr>
              <a:t>DATA TIER</a:t>
            </a:r>
            <a:endParaRPr lang="en-US" sz="1350" dirty="0"/>
          </a:p>
        </p:txBody>
      </p:sp>
      <p:sp>
        <p:nvSpPr>
          <p:cNvPr id="35" name="Text 33"/>
          <p:cNvSpPr/>
          <p:nvPr/>
        </p:nvSpPr>
        <p:spPr>
          <a:xfrm>
            <a:off x="13649127" y="2761986"/>
            <a:ext cx="3740686" cy="3683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1714">
                    <a:alpha val="92000"/>
                  </a:srgbClr>
                </a:solidFill>
                <a:latin typeface="Arial" pitchFamily="34" charset="0"/>
                <a:ea typeface="Arial" pitchFamily="34" charset="-122"/>
                <a:cs typeface="Arial" pitchFamily="34" charset="-120"/>
              </a:rPr>
              <a:t>MySQL</a:t>
            </a:r>
            <a:endParaRPr lang="en-US" sz="2250" dirty="0"/>
          </a:p>
        </p:txBody>
      </p:sp>
      <p:sp>
        <p:nvSpPr>
          <p:cNvPr id="36" name="Text 34"/>
          <p:cNvSpPr/>
          <p:nvPr/>
        </p:nvSpPr>
        <p:spPr>
          <a:xfrm>
            <a:off x="13649127" y="3244586"/>
            <a:ext cx="3502642" cy="638175"/>
          </a:xfrm>
          <a:prstGeom prst="rect">
            <a:avLst/>
          </a:prstGeom>
          <a:noFill/>
          <a:ln/>
        </p:spPr>
        <p:txBody>
          <a:bodyPr wrap="square" lIns="25400" tIns="25400" rIns="25400" bIns="25400" rtlCol="0" anchor="t">
            <a:normAutofit lnSpcReduction="10000"/>
          </a:bodyPr>
          <a:lstStyle/>
          <a:p>
            <a:pPr marL="0" indent="0" algn="l">
              <a:lnSpc>
                <a:spcPct val="131250"/>
              </a:lnSpc>
              <a:buNone/>
            </a:pPr>
            <a:r>
              <a:rPr lang="en-US" sz="1575" dirty="0">
                <a:solidFill>
                  <a:srgbClr val="4A423B">
                    <a:alpha val="92000"/>
                  </a:srgbClr>
                </a:solidFill>
                <a:latin typeface="Arial" pitchFamily="34" charset="0"/>
                <a:ea typeface="Arial" pitchFamily="34" charset="-122"/>
                <a:cs typeface="Arial" pitchFamily="34" charset="-120"/>
              </a:rPr>
              <a:t>Flyway migrations (V1–V47) · 42 entities · relational schema</a:t>
            </a:r>
            <a:endParaRPr lang="en-US" sz="1575" dirty="0"/>
          </a:p>
        </p:txBody>
      </p:sp>
      <p:sp>
        <p:nvSpPr>
          <p:cNvPr id="37" name="Shape 35"/>
          <p:cNvSpPr/>
          <p:nvPr/>
        </p:nvSpPr>
        <p:spPr>
          <a:xfrm>
            <a:off x="13363377" y="6397956"/>
            <a:ext cx="3972124" cy="3145830"/>
          </a:xfrm>
          <a:prstGeom prst="roundRect">
            <a:avLst>
              <a:gd name="adj" fmla="val 5450"/>
            </a:avLst>
          </a:prstGeom>
          <a:solidFill>
            <a:srgbClr val="EFE7DB">
              <a:alpha val="92000"/>
            </a:srgbClr>
          </a:solidFill>
          <a:ln/>
        </p:spPr>
      </p:sp>
      <p:sp>
        <p:nvSpPr>
          <p:cNvPr id="38" name="Text 36"/>
          <p:cNvSpPr/>
          <p:nvPr/>
        </p:nvSpPr>
        <p:spPr>
          <a:xfrm>
            <a:off x="13649127" y="6645606"/>
            <a:ext cx="3740686" cy="22860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F857A">
                    <a:alpha val="92000"/>
                  </a:srgbClr>
                </a:solidFill>
                <a:latin typeface="Courier New" pitchFamily="34" charset="0"/>
                <a:ea typeface="Courier New" pitchFamily="34" charset="-122"/>
                <a:cs typeface="Courier New" pitchFamily="34" charset="-120"/>
              </a:rPr>
              <a:t>EXTERNAL SERVICES</a:t>
            </a:r>
            <a:endParaRPr lang="en-US" sz="1200" dirty="0"/>
          </a:p>
        </p:txBody>
      </p:sp>
      <p:sp>
        <p:nvSpPr>
          <p:cNvPr id="39" name="Text 37"/>
          <p:cNvSpPr/>
          <p:nvPr/>
        </p:nvSpPr>
        <p:spPr>
          <a:xfrm>
            <a:off x="13649127" y="6950406"/>
            <a:ext cx="3502642" cy="698103"/>
          </a:xfrm>
          <a:prstGeom prst="rect">
            <a:avLst/>
          </a:prstGeom>
          <a:noFill/>
          <a:ln/>
        </p:spPr>
        <p:txBody>
          <a:bodyPr wrap="square" lIns="25400" tIns="25400" rIns="25400" bIns="25400" rtlCol="0" anchor="t">
            <a:normAutofit lnSpcReduction="10000"/>
          </a:bodyPr>
          <a:lstStyle/>
          <a:p>
            <a:pPr marL="0" indent="0" algn="l">
              <a:lnSpc>
                <a:spcPct val="144375"/>
              </a:lnSpc>
              <a:buNone/>
            </a:pPr>
            <a:r>
              <a:rPr lang="en-US" sz="1575" dirty="0">
                <a:solidFill>
                  <a:srgbClr val="4A423B">
                    <a:alpha val="92000"/>
                  </a:srgbClr>
                </a:solidFill>
                <a:latin typeface="Arial" pitchFamily="34" charset="0"/>
                <a:ea typeface="Arial" pitchFamily="34" charset="-122"/>
                <a:cs typeface="Arial" pitchFamily="34" charset="-120"/>
              </a:rPr>
              <a:t>File storage · Stripe payments · LLM (Claude / Gemini) · Google Places</a:t>
            </a:r>
            <a:endParaRPr lang="en-US" sz="15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952500" y="762606"/>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CORE WORKFLOW</a:t>
            </a:r>
            <a:endParaRPr lang="en-US" sz="1650" dirty="0"/>
          </a:p>
        </p:txBody>
      </p:sp>
      <p:sp>
        <p:nvSpPr>
          <p:cNvPr id="3" name="Text 1"/>
          <p:cNvSpPr/>
          <p:nvPr/>
        </p:nvSpPr>
        <p:spPr>
          <a:xfrm>
            <a:off x="952500" y="1142488"/>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F7F4EF">
                    <a:alpha val="98000"/>
                  </a:srgbClr>
                </a:solidFill>
                <a:latin typeface="Arial" pitchFamily="34" charset="0"/>
                <a:ea typeface="Arial" pitchFamily="34" charset="-122"/>
                <a:cs typeface="Arial" pitchFamily="34" charset="-120"/>
              </a:rPr>
              <a:t>Flow Chart</a:t>
            </a:r>
            <a:endParaRPr lang="en-US" sz="4350" dirty="0"/>
          </a:p>
        </p:txBody>
      </p:sp>
      <p:sp>
        <p:nvSpPr>
          <p:cNvPr id="4" name="Shape 2"/>
          <p:cNvSpPr/>
          <p:nvPr/>
        </p:nvSpPr>
        <p:spPr>
          <a:xfrm>
            <a:off x="952500" y="3889123"/>
            <a:ext cx="3595688" cy="1054100"/>
          </a:xfrm>
          <a:prstGeom prst="roundRect">
            <a:avLst>
              <a:gd name="adj" fmla="val 12651"/>
            </a:avLst>
          </a:prstGeom>
          <a:solidFill>
            <a:srgbClr val="FFFFFF">
              <a:alpha val="5000"/>
            </a:srgbClr>
          </a:solidFill>
          <a:ln w="12700">
            <a:solidFill>
              <a:srgbClr val="F2661A">
                <a:alpha val="37000"/>
              </a:srgbClr>
            </a:solidFill>
            <a:prstDash val="solid"/>
          </a:ln>
        </p:spPr>
      </p:sp>
      <p:sp>
        <p:nvSpPr>
          <p:cNvPr id="5" name="Text 3"/>
          <p:cNvSpPr/>
          <p:nvPr/>
        </p:nvSpPr>
        <p:spPr>
          <a:xfrm>
            <a:off x="996236" y="4149473"/>
            <a:ext cx="3508216"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2661A">
                    <a:alpha val="92000"/>
                  </a:srgbClr>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996236" y="4416173"/>
            <a:ext cx="3508216"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Register &amp; get verified</a:t>
            </a:r>
            <a:endParaRPr lang="en-US" sz="1800" dirty="0"/>
          </a:p>
        </p:txBody>
      </p:sp>
      <p:sp>
        <p:nvSpPr>
          <p:cNvPr id="7" name="Text 5"/>
          <p:cNvSpPr/>
          <p:nvPr/>
        </p:nvSpPr>
        <p:spPr>
          <a:xfrm>
            <a:off x="4719638" y="4206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F2661A">
                    <a:alpha val="92000"/>
                  </a:srgbClr>
                </a:solidFill>
                <a:latin typeface="Arial" pitchFamily="34" charset="0"/>
                <a:ea typeface="Arial" pitchFamily="34" charset="-122"/>
                <a:cs typeface="Arial" pitchFamily="34" charset="-120"/>
              </a:rPr>
              <a:t>→</a:t>
            </a:r>
            <a:endParaRPr lang="en-US" sz="2550" dirty="0"/>
          </a:p>
        </p:txBody>
      </p:sp>
      <p:sp>
        <p:nvSpPr>
          <p:cNvPr id="8" name="Shape 6"/>
          <p:cNvSpPr/>
          <p:nvPr/>
        </p:nvSpPr>
        <p:spPr>
          <a:xfrm>
            <a:off x="5214938" y="3889123"/>
            <a:ext cx="3595688" cy="1054100"/>
          </a:xfrm>
          <a:prstGeom prst="roundRect">
            <a:avLst>
              <a:gd name="adj" fmla="val 12651"/>
            </a:avLst>
          </a:prstGeom>
          <a:solidFill>
            <a:srgbClr val="FFFFFF">
              <a:alpha val="5000"/>
            </a:srgbClr>
          </a:solidFill>
          <a:ln w="12700">
            <a:solidFill>
              <a:srgbClr val="F2661A">
                <a:alpha val="37000"/>
              </a:srgbClr>
            </a:solidFill>
            <a:prstDash val="solid"/>
          </a:ln>
        </p:spPr>
      </p:sp>
      <p:sp>
        <p:nvSpPr>
          <p:cNvPr id="9" name="Text 7"/>
          <p:cNvSpPr/>
          <p:nvPr/>
        </p:nvSpPr>
        <p:spPr>
          <a:xfrm>
            <a:off x="5258674" y="4149473"/>
            <a:ext cx="3508216"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2661A">
                    <a:alpha val="92000"/>
                  </a:srgbClr>
                </a:solidFill>
                <a:latin typeface="Courier New" pitchFamily="34" charset="0"/>
                <a:ea typeface="Courier New" pitchFamily="34" charset="-122"/>
                <a:cs typeface="Courier New" pitchFamily="34" charset="-120"/>
              </a:rPr>
              <a:t>02</a:t>
            </a:r>
            <a:endParaRPr lang="en-US" sz="1200" dirty="0"/>
          </a:p>
        </p:txBody>
      </p:sp>
      <p:sp>
        <p:nvSpPr>
          <p:cNvPr id="10" name="Text 8"/>
          <p:cNvSpPr/>
          <p:nvPr/>
        </p:nvSpPr>
        <p:spPr>
          <a:xfrm>
            <a:off x="5258674" y="4416173"/>
            <a:ext cx="3508216"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Client posts project</a:t>
            </a:r>
            <a:endParaRPr lang="en-US" sz="1800" dirty="0"/>
          </a:p>
        </p:txBody>
      </p:sp>
      <p:sp>
        <p:nvSpPr>
          <p:cNvPr id="11" name="Text 9"/>
          <p:cNvSpPr/>
          <p:nvPr/>
        </p:nvSpPr>
        <p:spPr>
          <a:xfrm>
            <a:off x="8982075" y="4206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F2661A">
                    <a:alpha val="92000"/>
                  </a:srgbClr>
                </a:solidFill>
                <a:latin typeface="Arial" pitchFamily="34" charset="0"/>
                <a:ea typeface="Arial" pitchFamily="34" charset="-122"/>
                <a:cs typeface="Arial" pitchFamily="34" charset="-120"/>
              </a:rPr>
              <a:t>→</a:t>
            </a:r>
            <a:endParaRPr lang="en-US" sz="2550" dirty="0"/>
          </a:p>
        </p:txBody>
      </p:sp>
      <p:sp>
        <p:nvSpPr>
          <p:cNvPr id="12" name="Shape 10"/>
          <p:cNvSpPr/>
          <p:nvPr/>
        </p:nvSpPr>
        <p:spPr>
          <a:xfrm>
            <a:off x="9477375" y="3889123"/>
            <a:ext cx="3595688" cy="1054100"/>
          </a:xfrm>
          <a:prstGeom prst="roundRect">
            <a:avLst>
              <a:gd name="adj" fmla="val 12651"/>
            </a:avLst>
          </a:prstGeom>
          <a:solidFill>
            <a:srgbClr val="FFFFFF">
              <a:alpha val="5000"/>
            </a:srgbClr>
          </a:solidFill>
          <a:ln w="12700">
            <a:solidFill>
              <a:srgbClr val="F2661A">
                <a:alpha val="37000"/>
              </a:srgbClr>
            </a:solidFill>
            <a:prstDash val="solid"/>
          </a:ln>
        </p:spPr>
      </p:sp>
      <p:sp>
        <p:nvSpPr>
          <p:cNvPr id="13" name="Text 11"/>
          <p:cNvSpPr/>
          <p:nvPr/>
        </p:nvSpPr>
        <p:spPr>
          <a:xfrm>
            <a:off x="9521111" y="4149473"/>
            <a:ext cx="3508216"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2661A">
                    <a:alpha val="92000"/>
                  </a:srgbClr>
                </a:solidFill>
                <a:latin typeface="Courier New" pitchFamily="34" charset="0"/>
                <a:ea typeface="Courier New" pitchFamily="34" charset="-122"/>
                <a:cs typeface="Courier New" pitchFamily="34" charset="-120"/>
              </a:rPr>
              <a:t>03</a:t>
            </a:r>
            <a:endParaRPr lang="en-US" sz="1200" dirty="0"/>
          </a:p>
        </p:txBody>
      </p:sp>
      <p:sp>
        <p:nvSpPr>
          <p:cNvPr id="14" name="Text 12"/>
          <p:cNvSpPr/>
          <p:nvPr/>
        </p:nvSpPr>
        <p:spPr>
          <a:xfrm>
            <a:off x="9521111" y="4416173"/>
            <a:ext cx="3508216"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Builders submit bids</a:t>
            </a:r>
            <a:endParaRPr lang="en-US" sz="1800" dirty="0"/>
          </a:p>
        </p:txBody>
      </p:sp>
      <p:sp>
        <p:nvSpPr>
          <p:cNvPr id="15" name="Text 13"/>
          <p:cNvSpPr/>
          <p:nvPr/>
        </p:nvSpPr>
        <p:spPr>
          <a:xfrm>
            <a:off x="13244513" y="4206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F2661A">
                    <a:alpha val="92000"/>
                  </a:srgbClr>
                </a:solidFill>
                <a:latin typeface="Arial" pitchFamily="34" charset="0"/>
                <a:ea typeface="Arial" pitchFamily="34" charset="-122"/>
                <a:cs typeface="Arial" pitchFamily="34" charset="-120"/>
              </a:rPr>
              <a:t>→</a:t>
            </a:r>
            <a:endParaRPr lang="en-US" sz="2550" dirty="0"/>
          </a:p>
        </p:txBody>
      </p:sp>
      <p:sp>
        <p:nvSpPr>
          <p:cNvPr id="16" name="Shape 14"/>
          <p:cNvSpPr/>
          <p:nvPr/>
        </p:nvSpPr>
        <p:spPr>
          <a:xfrm>
            <a:off x="13739813" y="3889123"/>
            <a:ext cx="3595688" cy="1054100"/>
          </a:xfrm>
          <a:prstGeom prst="roundRect">
            <a:avLst>
              <a:gd name="adj" fmla="val 12651"/>
            </a:avLst>
          </a:prstGeom>
          <a:solidFill>
            <a:srgbClr val="FFFFFF">
              <a:alpha val="5000"/>
            </a:srgbClr>
          </a:solidFill>
          <a:ln w="12700">
            <a:solidFill>
              <a:srgbClr val="F2661A">
                <a:alpha val="37000"/>
              </a:srgbClr>
            </a:solidFill>
            <a:prstDash val="solid"/>
          </a:ln>
        </p:spPr>
      </p:sp>
      <p:sp>
        <p:nvSpPr>
          <p:cNvPr id="17" name="Text 15"/>
          <p:cNvSpPr/>
          <p:nvPr/>
        </p:nvSpPr>
        <p:spPr>
          <a:xfrm>
            <a:off x="13783549" y="4149473"/>
            <a:ext cx="3508216"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2661A">
                    <a:alpha val="92000"/>
                  </a:srgbClr>
                </a:solidFill>
                <a:latin typeface="Courier New" pitchFamily="34" charset="0"/>
                <a:ea typeface="Courier New" pitchFamily="34" charset="-122"/>
                <a:cs typeface="Courier New" pitchFamily="34" charset="-120"/>
              </a:rPr>
              <a:t>04</a:t>
            </a:r>
            <a:endParaRPr lang="en-US" sz="1200" dirty="0"/>
          </a:p>
        </p:txBody>
      </p:sp>
      <p:sp>
        <p:nvSpPr>
          <p:cNvPr id="18" name="Text 16"/>
          <p:cNvSpPr/>
          <p:nvPr/>
        </p:nvSpPr>
        <p:spPr>
          <a:xfrm>
            <a:off x="13783549" y="4416173"/>
            <a:ext cx="3508216"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Client awards bid</a:t>
            </a:r>
            <a:endParaRPr lang="en-US" sz="1800" dirty="0"/>
          </a:p>
        </p:txBody>
      </p:sp>
      <p:sp>
        <p:nvSpPr>
          <p:cNvPr id="19" name="Text 17"/>
          <p:cNvSpPr/>
          <p:nvPr/>
        </p:nvSpPr>
        <p:spPr>
          <a:xfrm>
            <a:off x="133350" y="5267073"/>
            <a:ext cx="18021300" cy="444500"/>
          </a:xfrm>
          <a:prstGeom prst="rect">
            <a:avLst/>
          </a:prstGeom>
          <a:noFill/>
          <a:ln/>
        </p:spPr>
        <p:txBody>
          <a:bodyPr wrap="square" lIns="25400" tIns="25400" rIns="25400" bIns="25400" rtlCol="0" anchor="t">
            <a:normAutofit/>
          </a:bodyPr>
          <a:lstStyle/>
          <a:p>
            <a:pPr marL="0" indent="0" algn="ctr">
              <a:buNone/>
            </a:pPr>
            <a:r>
              <a:rPr lang="en-US" sz="2400" dirty="0">
                <a:solidFill>
                  <a:srgbClr val="2F8F57">
                    <a:alpha val="92000"/>
                  </a:srgbClr>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952500" y="6048123"/>
            <a:ext cx="3179564" cy="1054100"/>
          </a:xfrm>
          <a:prstGeom prst="roundRect">
            <a:avLst>
              <a:gd name="adj" fmla="val 12651"/>
            </a:avLst>
          </a:prstGeom>
          <a:solidFill>
            <a:srgbClr val="2F8F57">
              <a:alpha val="11000"/>
            </a:srgbClr>
          </a:solidFill>
          <a:ln w="12700">
            <a:solidFill>
              <a:srgbClr val="2F8F57">
                <a:alpha val="46000"/>
              </a:srgbClr>
            </a:solidFill>
            <a:prstDash val="solid"/>
          </a:ln>
        </p:spPr>
      </p:sp>
      <p:sp>
        <p:nvSpPr>
          <p:cNvPr id="21" name="Text 19"/>
          <p:cNvSpPr/>
          <p:nvPr/>
        </p:nvSpPr>
        <p:spPr>
          <a:xfrm>
            <a:off x="1017042" y="6308473"/>
            <a:ext cx="3050481"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2F8F57">
                    <a:alpha val="92000"/>
                  </a:srgbClr>
                </a:solidFill>
                <a:latin typeface="Courier New" pitchFamily="34" charset="0"/>
                <a:ea typeface="Courier New" pitchFamily="34" charset="-122"/>
                <a:cs typeface="Courier New" pitchFamily="34" charset="-120"/>
              </a:rPr>
              <a:t>05</a:t>
            </a:r>
            <a:endParaRPr lang="en-US" sz="1200" dirty="0"/>
          </a:p>
        </p:txBody>
      </p:sp>
      <p:sp>
        <p:nvSpPr>
          <p:cNvPr id="22" name="Text 20"/>
          <p:cNvSpPr/>
          <p:nvPr/>
        </p:nvSpPr>
        <p:spPr>
          <a:xfrm>
            <a:off x="1017042" y="6575172"/>
            <a:ext cx="3050481"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Contract signed</a:t>
            </a:r>
            <a:endParaRPr lang="en-US" sz="1800" dirty="0"/>
          </a:p>
        </p:txBody>
      </p:sp>
      <p:sp>
        <p:nvSpPr>
          <p:cNvPr id="23" name="Text 21"/>
          <p:cNvSpPr/>
          <p:nvPr/>
        </p:nvSpPr>
        <p:spPr>
          <a:xfrm>
            <a:off x="4303514" y="6365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2F8F57">
                    <a:alpha val="92000"/>
                  </a:srgbClr>
                </a:solidFill>
                <a:latin typeface="Arial" pitchFamily="34" charset="0"/>
                <a:ea typeface="Arial" pitchFamily="34" charset="-122"/>
                <a:cs typeface="Arial" pitchFamily="34" charset="-120"/>
              </a:rPr>
              <a:t>→</a:t>
            </a:r>
            <a:endParaRPr lang="en-US" sz="2550" dirty="0"/>
          </a:p>
        </p:txBody>
      </p:sp>
      <p:sp>
        <p:nvSpPr>
          <p:cNvPr id="24" name="Shape 22"/>
          <p:cNvSpPr/>
          <p:nvPr/>
        </p:nvSpPr>
        <p:spPr>
          <a:xfrm>
            <a:off x="4798814" y="5997323"/>
            <a:ext cx="4843661" cy="1155700"/>
          </a:xfrm>
          <a:prstGeom prst="roundRect">
            <a:avLst>
              <a:gd name="adj" fmla="val 11538"/>
            </a:avLst>
          </a:prstGeom>
          <a:solidFill>
            <a:srgbClr val="2F8F57">
              <a:alpha val="11000"/>
            </a:srgbClr>
          </a:solidFill>
          <a:ln w="12700">
            <a:solidFill>
              <a:srgbClr val="2F8F57">
                <a:alpha val="46000"/>
              </a:srgbClr>
            </a:solidFill>
            <a:prstDash val="solid"/>
          </a:ln>
        </p:spPr>
      </p:sp>
      <p:sp>
        <p:nvSpPr>
          <p:cNvPr id="25" name="Text 23"/>
          <p:cNvSpPr/>
          <p:nvPr/>
        </p:nvSpPr>
        <p:spPr>
          <a:xfrm>
            <a:off x="4780151" y="6200523"/>
            <a:ext cx="4880987"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2F8F57">
                    <a:alpha val="92000"/>
                  </a:srgbClr>
                </a:solidFill>
                <a:latin typeface="Courier New" pitchFamily="34" charset="0"/>
                <a:ea typeface="Courier New" pitchFamily="34" charset="-122"/>
                <a:cs typeface="Courier New" pitchFamily="34" charset="-120"/>
              </a:rPr>
              <a:t>06 · Milestone loop</a:t>
            </a:r>
            <a:endParaRPr lang="en-US" sz="1200" dirty="0"/>
          </a:p>
        </p:txBody>
      </p:sp>
      <p:sp>
        <p:nvSpPr>
          <p:cNvPr id="26" name="Text 24"/>
          <p:cNvSpPr/>
          <p:nvPr/>
        </p:nvSpPr>
        <p:spPr>
          <a:xfrm>
            <a:off x="4935456" y="6467223"/>
            <a:ext cx="4570379" cy="520700"/>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F7F4EF">
                    <a:alpha val="92000"/>
                  </a:srgbClr>
                </a:solidFill>
                <a:latin typeface="Arial" pitchFamily="34" charset="0"/>
                <a:ea typeface="Arial" pitchFamily="34" charset="-122"/>
                <a:cs typeface="Arial" pitchFamily="34" charset="-120"/>
              </a:rPr>
              <a:t>Work → mark complete → client approves → payment → builder confirms</a:t>
            </a:r>
            <a:endParaRPr lang="en-US" sz="1650" dirty="0"/>
          </a:p>
        </p:txBody>
      </p:sp>
      <p:sp>
        <p:nvSpPr>
          <p:cNvPr id="27" name="Text 25"/>
          <p:cNvSpPr/>
          <p:nvPr/>
        </p:nvSpPr>
        <p:spPr>
          <a:xfrm>
            <a:off x="9813925" y="6365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2F8F57">
                    <a:alpha val="92000"/>
                  </a:srgbClr>
                </a:solidFill>
                <a:latin typeface="Arial" pitchFamily="34" charset="0"/>
                <a:ea typeface="Arial" pitchFamily="34" charset="-122"/>
                <a:cs typeface="Arial" pitchFamily="34" charset="-120"/>
              </a:rPr>
              <a:t>→</a:t>
            </a:r>
            <a:endParaRPr lang="en-US" sz="2550" dirty="0"/>
          </a:p>
        </p:txBody>
      </p:sp>
      <p:sp>
        <p:nvSpPr>
          <p:cNvPr id="28" name="Shape 26"/>
          <p:cNvSpPr/>
          <p:nvPr/>
        </p:nvSpPr>
        <p:spPr>
          <a:xfrm>
            <a:off x="10309225" y="6048123"/>
            <a:ext cx="3179763" cy="1054100"/>
          </a:xfrm>
          <a:prstGeom prst="roundRect">
            <a:avLst>
              <a:gd name="adj" fmla="val 12651"/>
            </a:avLst>
          </a:prstGeom>
          <a:solidFill>
            <a:srgbClr val="2F8F57">
              <a:alpha val="11000"/>
            </a:srgbClr>
          </a:solidFill>
          <a:ln w="12700">
            <a:solidFill>
              <a:srgbClr val="2F8F57">
                <a:alpha val="46000"/>
              </a:srgbClr>
            </a:solidFill>
            <a:prstDash val="solid"/>
          </a:ln>
        </p:spPr>
      </p:sp>
      <p:sp>
        <p:nvSpPr>
          <p:cNvPr id="29" name="Text 27"/>
          <p:cNvSpPr/>
          <p:nvPr/>
        </p:nvSpPr>
        <p:spPr>
          <a:xfrm>
            <a:off x="10373758" y="6308473"/>
            <a:ext cx="3050699"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2F8F57">
                    <a:alpha val="92000"/>
                  </a:srgbClr>
                </a:solidFill>
                <a:latin typeface="Courier New" pitchFamily="34" charset="0"/>
                <a:ea typeface="Courier New" pitchFamily="34" charset="-122"/>
                <a:cs typeface="Courier New" pitchFamily="34" charset="-120"/>
              </a:rPr>
              <a:t>07</a:t>
            </a:r>
            <a:endParaRPr lang="en-US" sz="1200" dirty="0"/>
          </a:p>
        </p:txBody>
      </p:sp>
      <p:sp>
        <p:nvSpPr>
          <p:cNvPr id="30" name="Text 28"/>
          <p:cNvSpPr/>
          <p:nvPr/>
        </p:nvSpPr>
        <p:spPr>
          <a:xfrm>
            <a:off x="10373758" y="6575172"/>
            <a:ext cx="3050699"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Project completed</a:t>
            </a:r>
            <a:endParaRPr lang="en-US" sz="1800" dirty="0"/>
          </a:p>
        </p:txBody>
      </p:sp>
      <p:sp>
        <p:nvSpPr>
          <p:cNvPr id="31" name="Text 29"/>
          <p:cNvSpPr/>
          <p:nvPr/>
        </p:nvSpPr>
        <p:spPr>
          <a:xfrm>
            <a:off x="13660438" y="6365623"/>
            <a:ext cx="400050" cy="457200"/>
          </a:xfrm>
          <a:prstGeom prst="rect">
            <a:avLst/>
          </a:prstGeom>
          <a:noFill/>
          <a:ln/>
        </p:spPr>
        <p:txBody>
          <a:bodyPr wrap="square" lIns="25400" tIns="25400" rIns="25400" bIns="25400" rtlCol="0" anchor="t">
            <a:normAutofit/>
          </a:bodyPr>
          <a:lstStyle/>
          <a:p>
            <a:pPr marL="0" indent="0" algn="l">
              <a:buNone/>
            </a:pPr>
            <a:r>
              <a:rPr lang="en-US" sz="2550" dirty="0">
                <a:solidFill>
                  <a:srgbClr val="2F8F57">
                    <a:alpha val="92000"/>
                  </a:srgbClr>
                </a:solidFill>
                <a:latin typeface="Arial" pitchFamily="34" charset="0"/>
                <a:ea typeface="Arial" pitchFamily="34" charset="-122"/>
                <a:cs typeface="Arial" pitchFamily="34" charset="-120"/>
              </a:rPr>
              <a:t>→</a:t>
            </a:r>
            <a:endParaRPr lang="en-US" sz="2550" dirty="0"/>
          </a:p>
        </p:txBody>
      </p:sp>
      <p:sp>
        <p:nvSpPr>
          <p:cNvPr id="32" name="Shape 30"/>
          <p:cNvSpPr/>
          <p:nvPr/>
        </p:nvSpPr>
        <p:spPr>
          <a:xfrm>
            <a:off x="14155738" y="6048123"/>
            <a:ext cx="3179763" cy="1054100"/>
          </a:xfrm>
          <a:prstGeom prst="roundRect">
            <a:avLst>
              <a:gd name="adj" fmla="val 12651"/>
            </a:avLst>
          </a:prstGeom>
          <a:solidFill>
            <a:srgbClr val="2F8F57">
              <a:alpha val="11000"/>
            </a:srgbClr>
          </a:solidFill>
          <a:ln w="12700">
            <a:solidFill>
              <a:srgbClr val="2F8F57">
                <a:alpha val="46000"/>
              </a:srgbClr>
            </a:solidFill>
            <a:prstDash val="solid"/>
          </a:ln>
        </p:spPr>
      </p:sp>
      <p:sp>
        <p:nvSpPr>
          <p:cNvPr id="33" name="Text 31"/>
          <p:cNvSpPr/>
          <p:nvPr/>
        </p:nvSpPr>
        <p:spPr>
          <a:xfrm>
            <a:off x="14220269" y="6308473"/>
            <a:ext cx="3050699" cy="228600"/>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2F8F57">
                    <a:alpha val="92000"/>
                  </a:srgbClr>
                </a:solidFill>
                <a:latin typeface="Courier New" pitchFamily="34" charset="0"/>
                <a:ea typeface="Courier New" pitchFamily="34" charset="-122"/>
                <a:cs typeface="Courier New" pitchFamily="34" charset="-120"/>
              </a:rPr>
              <a:t>08</a:t>
            </a:r>
            <a:endParaRPr lang="en-US" sz="1200" dirty="0"/>
          </a:p>
        </p:txBody>
      </p:sp>
      <p:sp>
        <p:nvSpPr>
          <p:cNvPr id="34" name="Text 32"/>
          <p:cNvSpPr/>
          <p:nvPr/>
        </p:nvSpPr>
        <p:spPr>
          <a:xfrm>
            <a:off x="14220269" y="6575172"/>
            <a:ext cx="3050699" cy="304800"/>
          </a:xfrm>
          <a:prstGeom prst="rect">
            <a:avLst/>
          </a:prstGeom>
          <a:noFill/>
          <a:ln/>
        </p:spPr>
        <p:txBody>
          <a:bodyPr wrap="square" lIns="25400" tIns="25400" rIns="25400" bIns="25400" rtlCol="0" anchor="t">
            <a:normAutofit lnSpcReduction="10000"/>
          </a:bodyPr>
          <a:lstStyle/>
          <a:p>
            <a:pPr marL="0" indent="0" algn="ctr">
              <a:buNone/>
            </a:pPr>
            <a:r>
              <a:rPr lang="en-US" sz="1800" b="1" dirty="0">
                <a:solidFill>
                  <a:srgbClr val="F7F4EF">
                    <a:alpha val="92000"/>
                  </a:srgbClr>
                </a:solidFill>
                <a:latin typeface="Arial" pitchFamily="34" charset="0"/>
                <a:ea typeface="Arial" pitchFamily="34" charset="-122"/>
                <a:cs typeface="Arial" pitchFamily="34" charset="-120"/>
              </a:rPr>
              <a:t>Client leaves review</a:t>
            </a:r>
            <a:endParaRPr lang="en-US" sz="1800" dirty="0"/>
          </a:p>
        </p:txBody>
      </p:sp>
      <p:sp>
        <p:nvSpPr>
          <p:cNvPr id="35" name="Text 33"/>
          <p:cNvSpPr/>
          <p:nvPr/>
        </p:nvSpPr>
        <p:spPr>
          <a:xfrm>
            <a:off x="133350" y="7572123"/>
            <a:ext cx="18021300" cy="317500"/>
          </a:xfrm>
          <a:prstGeom prst="rect">
            <a:avLst/>
          </a:prstGeom>
          <a:noFill/>
          <a:ln/>
        </p:spPr>
        <p:txBody>
          <a:bodyPr wrap="square" lIns="25400" tIns="25400" rIns="25400" bIns="25400" rtlCol="0" anchor="t">
            <a:normAutofit/>
          </a:bodyPr>
          <a:lstStyle/>
          <a:p>
            <a:pPr marL="0" indent="0" algn="ctr">
              <a:buNone/>
            </a:pPr>
            <a:r>
              <a:rPr lang="en-US" sz="1650" dirty="0">
                <a:solidFill>
                  <a:srgbClr val="8F857A">
                    <a:alpha val="92000"/>
                  </a:srgbClr>
                </a:solidFill>
                <a:latin typeface="Arial" pitchFamily="34" charset="0"/>
                <a:ea typeface="Arial" pitchFamily="34" charset="-122"/>
                <a:cs typeface="Arial" pitchFamily="34" charset="-120"/>
              </a:rPr>
              <a:t>Throughout: real-time chat, notifications, supervisor site logs, inspections &amp; dispute handling.</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952500" y="762605"/>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STACK</a:t>
            </a:r>
            <a:endParaRPr lang="en-US" sz="1650" dirty="0"/>
          </a:p>
        </p:txBody>
      </p:sp>
      <p:sp>
        <p:nvSpPr>
          <p:cNvPr id="3" name="Text 1"/>
          <p:cNvSpPr/>
          <p:nvPr/>
        </p:nvSpPr>
        <p:spPr>
          <a:xfrm>
            <a:off x="952500" y="1142484"/>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1A1714">
                    <a:alpha val="98000"/>
                  </a:srgbClr>
                </a:solidFill>
                <a:latin typeface="Arial" pitchFamily="34" charset="0"/>
                <a:ea typeface="Arial" pitchFamily="34" charset="-122"/>
                <a:cs typeface="Arial" pitchFamily="34" charset="-120"/>
              </a:rPr>
              <a:t>Hardware &amp; Software Components</a:t>
            </a:r>
            <a:endParaRPr lang="en-US" sz="4350" dirty="0"/>
          </a:p>
        </p:txBody>
      </p:sp>
      <p:sp>
        <p:nvSpPr>
          <p:cNvPr id="4" name="Shape 2"/>
          <p:cNvSpPr/>
          <p:nvPr/>
        </p:nvSpPr>
        <p:spPr>
          <a:xfrm>
            <a:off x="952500" y="2101589"/>
            <a:ext cx="5308600" cy="3606800"/>
          </a:xfrm>
          <a:prstGeom prst="roundRect">
            <a:avLst>
              <a:gd name="adj" fmla="val 4225"/>
            </a:avLst>
          </a:prstGeom>
          <a:solidFill>
            <a:srgbClr val="FFFFFF">
              <a:alpha val="92000"/>
            </a:srgbClr>
          </a:solidFill>
          <a:ln/>
          <a:effectLst>
            <a:outerShdw blurRad="285750" dist="114300" dir="5400000" algn="bl" rotWithShape="0">
              <a:srgbClr val="1A1714">
                <a:alpha val="5545"/>
              </a:srgbClr>
            </a:outerShdw>
          </a:effectLst>
        </p:spPr>
      </p:sp>
      <p:sp>
        <p:nvSpPr>
          <p:cNvPr id="5" name="Text 3"/>
          <p:cNvSpPr/>
          <p:nvPr/>
        </p:nvSpPr>
        <p:spPr>
          <a:xfrm>
            <a:off x="1238250" y="2387339"/>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2661A">
                    <a:alpha val="92000"/>
                  </a:srgbClr>
                </a:solidFill>
                <a:latin typeface="Arial" pitchFamily="34" charset="0"/>
                <a:ea typeface="Arial" pitchFamily="34" charset="-122"/>
                <a:cs typeface="Arial" pitchFamily="34" charset="-120"/>
              </a:rPr>
              <a:t>Frontend</a:t>
            </a:r>
            <a:endParaRPr lang="en-US" sz="2025" dirty="0"/>
          </a:p>
        </p:txBody>
      </p:sp>
      <p:sp>
        <p:nvSpPr>
          <p:cNvPr id="6" name="Text 4"/>
          <p:cNvSpPr/>
          <p:nvPr/>
        </p:nvSpPr>
        <p:spPr>
          <a:xfrm>
            <a:off x="1238250" y="2831839"/>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4A423B">
                    <a:alpha val="92000"/>
                  </a:srgbClr>
                </a:solidFill>
                <a:latin typeface="Arial" pitchFamily="34" charset="0"/>
                <a:ea typeface="Arial" pitchFamily="34" charset="-122"/>
                <a:cs typeface="Arial" pitchFamily="34" charset="-120"/>
              </a:rPr>
              <a:t>React 18 · TypeScript 5 Vite · Tailwind CSS React Query · Radix UI</a:t>
            </a:r>
            <a:endParaRPr lang="en-US" sz="1650" dirty="0"/>
          </a:p>
        </p:txBody>
      </p:sp>
      <p:sp>
        <p:nvSpPr>
          <p:cNvPr id="7" name="Shape 5"/>
          <p:cNvSpPr/>
          <p:nvPr/>
        </p:nvSpPr>
        <p:spPr>
          <a:xfrm>
            <a:off x="6489700" y="2101589"/>
            <a:ext cx="5308600" cy="3606800"/>
          </a:xfrm>
          <a:prstGeom prst="roundRect">
            <a:avLst>
              <a:gd name="adj" fmla="val 4225"/>
            </a:avLst>
          </a:prstGeom>
          <a:solidFill>
            <a:srgbClr val="FFFFFF">
              <a:alpha val="92000"/>
            </a:srgbClr>
          </a:solidFill>
          <a:ln/>
          <a:effectLst>
            <a:outerShdw blurRad="285750" dist="114300" dir="5400000" algn="bl" rotWithShape="0">
              <a:srgbClr val="1A1714">
                <a:alpha val="5545"/>
              </a:srgbClr>
            </a:outerShdw>
          </a:effectLst>
        </p:spPr>
      </p:sp>
      <p:sp>
        <p:nvSpPr>
          <p:cNvPr id="8" name="Text 6"/>
          <p:cNvSpPr/>
          <p:nvPr/>
        </p:nvSpPr>
        <p:spPr>
          <a:xfrm>
            <a:off x="6775450" y="2387339"/>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2661A">
                    <a:alpha val="92000"/>
                  </a:srgbClr>
                </a:solidFill>
                <a:latin typeface="Arial" pitchFamily="34" charset="0"/>
                <a:ea typeface="Arial" pitchFamily="34" charset="-122"/>
                <a:cs typeface="Arial" pitchFamily="34" charset="-120"/>
              </a:rPr>
              <a:t>Backend</a:t>
            </a:r>
            <a:endParaRPr lang="en-US" sz="2025" dirty="0"/>
          </a:p>
        </p:txBody>
      </p:sp>
      <p:sp>
        <p:nvSpPr>
          <p:cNvPr id="9" name="Text 7"/>
          <p:cNvSpPr/>
          <p:nvPr/>
        </p:nvSpPr>
        <p:spPr>
          <a:xfrm>
            <a:off x="6775450" y="2831839"/>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4A423B">
                    <a:alpha val="92000"/>
                  </a:srgbClr>
                </a:solidFill>
                <a:latin typeface="Arial" pitchFamily="34" charset="0"/>
                <a:ea typeface="Arial" pitchFamily="34" charset="-122"/>
                <a:cs typeface="Arial" pitchFamily="34" charset="-120"/>
              </a:rPr>
              <a:t>Java 17 · Spring Boot 3.2 Spring Security + JWT REST · MVC · Maven</a:t>
            </a:r>
            <a:endParaRPr lang="en-US" sz="1650" dirty="0"/>
          </a:p>
        </p:txBody>
      </p:sp>
      <p:sp>
        <p:nvSpPr>
          <p:cNvPr id="10" name="Shape 8"/>
          <p:cNvSpPr/>
          <p:nvPr/>
        </p:nvSpPr>
        <p:spPr>
          <a:xfrm>
            <a:off x="12026901" y="2101589"/>
            <a:ext cx="5308600" cy="3606800"/>
          </a:xfrm>
          <a:prstGeom prst="roundRect">
            <a:avLst>
              <a:gd name="adj" fmla="val 4225"/>
            </a:avLst>
          </a:prstGeom>
          <a:solidFill>
            <a:srgbClr val="FFFFFF">
              <a:alpha val="92000"/>
            </a:srgbClr>
          </a:solidFill>
          <a:ln/>
          <a:effectLst>
            <a:outerShdw blurRad="285750" dist="114300" dir="5400000" algn="bl" rotWithShape="0">
              <a:srgbClr val="1A1714">
                <a:alpha val="5545"/>
              </a:srgbClr>
            </a:outerShdw>
          </a:effectLst>
        </p:spPr>
      </p:sp>
      <p:sp>
        <p:nvSpPr>
          <p:cNvPr id="11" name="Text 9"/>
          <p:cNvSpPr/>
          <p:nvPr/>
        </p:nvSpPr>
        <p:spPr>
          <a:xfrm>
            <a:off x="12312651" y="2387339"/>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2661A">
                    <a:alpha val="92000"/>
                  </a:srgbClr>
                </a:solidFill>
                <a:latin typeface="Arial" pitchFamily="34" charset="0"/>
                <a:ea typeface="Arial" pitchFamily="34" charset="-122"/>
                <a:cs typeface="Arial" pitchFamily="34" charset="-120"/>
              </a:rPr>
              <a:t>Database</a:t>
            </a:r>
            <a:endParaRPr lang="en-US" sz="2025" dirty="0"/>
          </a:p>
        </p:txBody>
      </p:sp>
      <p:sp>
        <p:nvSpPr>
          <p:cNvPr id="12" name="Text 10"/>
          <p:cNvSpPr/>
          <p:nvPr/>
        </p:nvSpPr>
        <p:spPr>
          <a:xfrm>
            <a:off x="12312651" y="2831839"/>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4A423B">
                    <a:alpha val="92000"/>
                  </a:srgbClr>
                </a:solidFill>
                <a:latin typeface="Arial" pitchFamily="34" charset="0"/>
                <a:ea typeface="Arial" pitchFamily="34" charset="-122"/>
                <a:cs typeface="Arial" pitchFamily="34" charset="-120"/>
              </a:rPr>
              <a:t>MySQL (prod) Flyway migrations JPA / Hibernate</a:t>
            </a:r>
            <a:endParaRPr lang="en-US" sz="1650" dirty="0"/>
          </a:p>
        </p:txBody>
      </p:sp>
      <p:sp>
        <p:nvSpPr>
          <p:cNvPr id="13" name="Shape 11"/>
          <p:cNvSpPr/>
          <p:nvPr/>
        </p:nvSpPr>
        <p:spPr>
          <a:xfrm>
            <a:off x="952500" y="5936990"/>
            <a:ext cx="5308600" cy="3606800"/>
          </a:xfrm>
          <a:prstGeom prst="roundRect">
            <a:avLst>
              <a:gd name="adj" fmla="val 4225"/>
            </a:avLst>
          </a:prstGeom>
          <a:solidFill>
            <a:srgbClr val="FFFFFF">
              <a:alpha val="92000"/>
            </a:srgbClr>
          </a:solidFill>
          <a:ln/>
          <a:effectLst>
            <a:outerShdw blurRad="285750" dist="114300" dir="5400000" algn="bl" rotWithShape="0">
              <a:srgbClr val="1A1714">
                <a:alpha val="5545"/>
              </a:srgbClr>
            </a:outerShdw>
          </a:effectLst>
        </p:spPr>
      </p:sp>
      <p:sp>
        <p:nvSpPr>
          <p:cNvPr id="14" name="Text 12"/>
          <p:cNvSpPr/>
          <p:nvPr/>
        </p:nvSpPr>
        <p:spPr>
          <a:xfrm>
            <a:off x="1238250" y="6222740"/>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2F8F57">
                    <a:alpha val="92000"/>
                  </a:srgbClr>
                </a:solidFill>
                <a:latin typeface="Arial" pitchFamily="34" charset="0"/>
                <a:ea typeface="Arial" pitchFamily="34" charset="-122"/>
                <a:cs typeface="Arial" pitchFamily="34" charset="-120"/>
              </a:rPr>
              <a:t>Realtime &amp; AI</a:t>
            </a:r>
            <a:endParaRPr lang="en-US" sz="2025" dirty="0"/>
          </a:p>
        </p:txBody>
      </p:sp>
      <p:sp>
        <p:nvSpPr>
          <p:cNvPr id="15" name="Text 13"/>
          <p:cNvSpPr/>
          <p:nvPr/>
        </p:nvSpPr>
        <p:spPr>
          <a:xfrm>
            <a:off x="1238250" y="6667240"/>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4A423B">
                    <a:alpha val="92000"/>
                  </a:srgbClr>
                </a:solidFill>
                <a:latin typeface="Arial" pitchFamily="34" charset="0"/>
                <a:ea typeface="Arial" pitchFamily="34" charset="-122"/>
                <a:cs typeface="Arial" pitchFamily="34" charset="-120"/>
              </a:rPr>
              <a:t>STOMP WebSocket Claude / Gemini LLM Chatbot · Floor-plan AI</a:t>
            </a:r>
            <a:endParaRPr lang="en-US" sz="1650" dirty="0"/>
          </a:p>
        </p:txBody>
      </p:sp>
      <p:sp>
        <p:nvSpPr>
          <p:cNvPr id="16" name="Shape 14"/>
          <p:cNvSpPr/>
          <p:nvPr/>
        </p:nvSpPr>
        <p:spPr>
          <a:xfrm>
            <a:off x="6489700" y="5936990"/>
            <a:ext cx="5308600" cy="3606800"/>
          </a:xfrm>
          <a:prstGeom prst="roundRect">
            <a:avLst>
              <a:gd name="adj" fmla="val 4225"/>
            </a:avLst>
          </a:prstGeom>
          <a:solidFill>
            <a:srgbClr val="FFFFFF">
              <a:alpha val="92000"/>
            </a:srgbClr>
          </a:solidFill>
          <a:ln/>
          <a:effectLst>
            <a:outerShdw blurRad="285750" dist="114300" dir="5400000" algn="bl" rotWithShape="0">
              <a:srgbClr val="1A1714">
                <a:alpha val="5545"/>
              </a:srgbClr>
            </a:outerShdw>
          </a:effectLst>
        </p:spPr>
      </p:sp>
      <p:sp>
        <p:nvSpPr>
          <p:cNvPr id="17" name="Text 15"/>
          <p:cNvSpPr/>
          <p:nvPr/>
        </p:nvSpPr>
        <p:spPr>
          <a:xfrm>
            <a:off x="6775450" y="6222740"/>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2F8F57">
                    <a:alpha val="92000"/>
                  </a:srgbClr>
                </a:solidFill>
                <a:latin typeface="Arial" pitchFamily="34" charset="0"/>
                <a:ea typeface="Arial" pitchFamily="34" charset="-122"/>
                <a:cs typeface="Arial" pitchFamily="34" charset="-120"/>
              </a:rPr>
              <a:t>Integrations</a:t>
            </a:r>
            <a:endParaRPr lang="en-US" sz="2025" dirty="0"/>
          </a:p>
        </p:txBody>
      </p:sp>
      <p:sp>
        <p:nvSpPr>
          <p:cNvPr id="18" name="Text 16"/>
          <p:cNvSpPr/>
          <p:nvPr/>
        </p:nvSpPr>
        <p:spPr>
          <a:xfrm>
            <a:off x="6775450" y="6667240"/>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4A423B">
                    <a:alpha val="92000"/>
                  </a:srgbClr>
                </a:solidFill>
                <a:latin typeface="Arial" pitchFamily="34" charset="0"/>
                <a:ea typeface="Arial" pitchFamily="34" charset="-122"/>
                <a:cs typeface="Arial" pitchFamily="34" charset="-120"/>
              </a:rPr>
              <a:t>Stripe payments Google Places API iText PDF generation</a:t>
            </a:r>
            <a:endParaRPr lang="en-US" sz="1650" dirty="0"/>
          </a:p>
        </p:txBody>
      </p:sp>
      <p:sp>
        <p:nvSpPr>
          <p:cNvPr id="19" name="Shape 17"/>
          <p:cNvSpPr/>
          <p:nvPr/>
        </p:nvSpPr>
        <p:spPr>
          <a:xfrm>
            <a:off x="12026901" y="5936990"/>
            <a:ext cx="5308600" cy="3606800"/>
          </a:xfrm>
          <a:prstGeom prst="roundRect">
            <a:avLst>
              <a:gd name="adj" fmla="val 4225"/>
            </a:avLst>
          </a:prstGeom>
          <a:solidFill>
            <a:srgbClr val="1A1714">
              <a:alpha val="92000"/>
            </a:srgbClr>
          </a:solidFill>
          <a:ln/>
          <a:effectLst>
            <a:outerShdw blurRad="285750" dist="114300" dir="5400000" algn="bl" rotWithShape="0">
              <a:srgbClr val="1A1714">
                <a:alpha val="9241"/>
              </a:srgbClr>
            </a:outerShdw>
          </a:effectLst>
        </p:spPr>
      </p:sp>
      <p:sp>
        <p:nvSpPr>
          <p:cNvPr id="20" name="Text 18"/>
          <p:cNvSpPr/>
          <p:nvPr/>
        </p:nvSpPr>
        <p:spPr>
          <a:xfrm>
            <a:off x="12312651" y="6222740"/>
            <a:ext cx="5210810" cy="33020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2661A">
                    <a:alpha val="92000"/>
                  </a:srgbClr>
                </a:solidFill>
                <a:latin typeface="Arial" pitchFamily="34" charset="0"/>
                <a:ea typeface="Arial" pitchFamily="34" charset="-122"/>
                <a:cs typeface="Arial" pitchFamily="34" charset="-120"/>
              </a:rPr>
              <a:t>Hardware</a:t>
            </a:r>
            <a:endParaRPr lang="en-US" sz="2025" dirty="0"/>
          </a:p>
        </p:txBody>
      </p:sp>
      <p:sp>
        <p:nvSpPr>
          <p:cNvPr id="21" name="Text 19"/>
          <p:cNvSpPr/>
          <p:nvPr/>
        </p:nvSpPr>
        <p:spPr>
          <a:xfrm>
            <a:off x="12312651" y="6667240"/>
            <a:ext cx="4879213" cy="1106686"/>
          </a:xfrm>
          <a:prstGeom prst="rect">
            <a:avLst/>
          </a:prstGeom>
          <a:noFill/>
          <a:ln/>
        </p:spPr>
        <p:txBody>
          <a:bodyPr wrap="square" lIns="25400" tIns="25400" rIns="25400" bIns="25400" rtlCol="0" anchor="t">
            <a:normAutofit/>
          </a:bodyPr>
          <a:lstStyle/>
          <a:p>
            <a:pPr marL="0" indent="0" algn="l">
              <a:lnSpc>
                <a:spcPct val="147632"/>
              </a:lnSpc>
              <a:buNone/>
            </a:pPr>
            <a:r>
              <a:rPr lang="en-US" sz="1650" dirty="0">
                <a:solidFill>
                  <a:srgbClr val="E6DDD2">
                    <a:alpha val="92000"/>
                  </a:srgbClr>
                </a:solidFill>
                <a:latin typeface="Arial" pitchFamily="34" charset="0"/>
                <a:ea typeface="Arial" pitchFamily="34" charset="-122"/>
                <a:cs typeface="Arial" pitchFamily="34" charset="-120"/>
              </a:rPr>
              <a:t>Core i5+ · 8 GB+ RAM Stable internet Cloud hosting</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952500" y="762605"/>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HOW WE BUILT IT</a:t>
            </a:r>
            <a:endParaRPr lang="en-US" sz="1650" dirty="0"/>
          </a:p>
        </p:txBody>
      </p:sp>
      <p:sp>
        <p:nvSpPr>
          <p:cNvPr id="3" name="Text 1"/>
          <p:cNvSpPr/>
          <p:nvPr/>
        </p:nvSpPr>
        <p:spPr>
          <a:xfrm>
            <a:off x="952500" y="1142485"/>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1A1714">
                    <a:alpha val="98000"/>
                  </a:srgbClr>
                </a:solidFill>
                <a:latin typeface="Arial" pitchFamily="34" charset="0"/>
                <a:ea typeface="Arial" pitchFamily="34" charset="-122"/>
                <a:cs typeface="Arial" pitchFamily="34" charset="-120"/>
              </a:rPr>
              <a:t>Methodology</a:t>
            </a:r>
            <a:endParaRPr lang="en-US" sz="4350" dirty="0"/>
          </a:p>
        </p:txBody>
      </p:sp>
      <p:sp>
        <p:nvSpPr>
          <p:cNvPr id="4" name="Text 2"/>
          <p:cNvSpPr/>
          <p:nvPr/>
        </p:nvSpPr>
        <p:spPr>
          <a:xfrm>
            <a:off x="952500" y="2063491"/>
            <a:ext cx="6921484" cy="1293812"/>
          </a:xfrm>
          <a:prstGeom prst="rect">
            <a:avLst/>
          </a:prstGeom>
          <a:noFill/>
          <a:ln/>
        </p:spPr>
        <p:txBody>
          <a:bodyPr wrap="square" lIns="25400" tIns="25400" rIns="25400" bIns="25400" rtlCol="0" anchor="t">
            <a:normAutofit/>
          </a:bodyPr>
          <a:lstStyle/>
          <a:p>
            <a:pPr marL="0" indent="0" algn="l">
              <a:lnSpc>
                <a:spcPct val="125481"/>
              </a:lnSpc>
              <a:buNone/>
            </a:pPr>
            <a:r>
              <a:rPr lang="en-US" sz="2250" b="1" dirty="0">
                <a:solidFill>
                  <a:srgbClr val="4A423B">
                    <a:alpha val="92000"/>
                  </a:srgbClr>
                </a:solidFill>
                <a:latin typeface="Arial" pitchFamily="34" charset="0"/>
                <a:ea typeface="Arial" pitchFamily="34" charset="-122"/>
                <a:cs typeface="Arial" pitchFamily="34" charset="-120"/>
              </a:rPr>
              <a:t>Agile (Scrum) </a:t>
            </a:r>
            <a:r>
              <a:rPr lang="en-US" sz="2250" dirty="0">
                <a:solidFill>
                  <a:srgbClr val="4A423B">
                    <a:alpha val="92000"/>
                  </a:srgbClr>
                </a:solidFill>
                <a:latin typeface="Arial" pitchFamily="34" charset="0"/>
                <a:ea typeface="Arial" pitchFamily="34" charset="-122"/>
                <a:cs typeface="Arial" pitchFamily="34" charset="-120"/>
              </a:rPr>
              <a:t>— iterative sprints, each delivering a working, tested module with feedback before the next.</a:t>
            </a:r>
            <a:endParaRPr lang="en-US" sz="2250" dirty="0"/>
          </a:p>
        </p:txBody>
      </p:sp>
      <p:sp>
        <p:nvSpPr>
          <p:cNvPr id="5" name="Shape 3"/>
          <p:cNvSpPr/>
          <p:nvPr/>
        </p:nvSpPr>
        <p:spPr>
          <a:xfrm>
            <a:off x="952500" y="3604954"/>
            <a:ext cx="914797" cy="533400"/>
          </a:xfrm>
          <a:prstGeom prst="roundRect">
            <a:avLst>
              <a:gd name="adj" fmla="val 50000"/>
            </a:avLst>
          </a:prstGeom>
          <a:solidFill>
            <a:srgbClr val="F2661A">
              <a:alpha val="92000"/>
            </a:srgbClr>
          </a:solidFill>
          <a:ln/>
        </p:spPr>
      </p:sp>
      <p:sp>
        <p:nvSpPr>
          <p:cNvPr id="6" name="Text 4"/>
          <p:cNvSpPr/>
          <p:nvPr/>
        </p:nvSpPr>
        <p:spPr>
          <a:xfrm>
            <a:off x="1200150" y="3738304"/>
            <a:ext cx="49569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alpha val="92000"/>
                  </a:srgbClr>
                </a:solidFill>
                <a:latin typeface="Arial" pitchFamily="34" charset="0"/>
                <a:ea typeface="Arial" pitchFamily="34" charset="-122"/>
                <a:cs typeface="Arial" pitchFamily="34" charset="-120"/>
              </a:rPr>
              <a:t>Plan</a:t>
            </a:r>
            <a:endParaRPr lang="en-US" sz="1650" dirty="0"/>
          </a:p>
        </p:txBody>
      </p:sp>
      <p:sp>
        <p:nvSpPr>
          <p:cNvPr id="7" name="Text 5"/>
          <p:cNvSpPr/>
          <p:nvPr/>
        </p:nvSpPr>
        <p:spPr>
          <a:xfrm>
            <a:off x="2000647" y="3776404"/>
            <a:ext cx="228600"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8F857A">
                    <a:alpha val="92000"/>
                  </a:srgbClr>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2257028" y="3604954"/>
            <a:ext cx="1016199" cy="533400"/>
          </a:xfrm>
          <a:prstGeom prst="roundRect">
            <a:avLst>
              <a:gd name="adj" fmla="val 50000"/>
            </a:avLst>
          </a:prstGeom>
          <a:solidFill>
            <a:srgbClr val="FFFFFF">
              <a:alpha val="92000"/>
            </a:srgbClr>
          </a:solidFill>
          <a:ln w="12700">
            <a:solidFill>
              <a:srgbClr val="F2661A">
                <a:alpha val="92000"/>
              </a:srgbClr>
            </a:solidFill>
            <a:prstDash val="solid"/>
          </a:ln>
        </p:spPr>
      </p:sp>
      <p:sp>
        <p:nvSpPr>
          <p:cNvPr id="9" name="Text 7"/>
          <p:cNvSpPr/>
          <p:nvPr/>
        </p:nvSpPr>
        <p:spPr>
          <a:xfrm>
            <a:off x="2546747" y="3751004"/>
            <a:ext cx="542330" cy="27940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2661A">
                    <a:alpha val="92000"/>
                  </a:srgbClr>
                </a:solidFill>
                <a:latin typeface="Arial" pitchFamily="34" charset="0"/>
                <a:ea typeface="Arial" pitchFamily="34" charset="-122"/>
                <a:cs typeface="Arial" pitchFamily="34" charset="-120"/>
              </a:rPr>
              <a:t>Build</a:t>
            </a:r>
            <a:endParaRPr lang="en-US" sz="1650" dirty="0"/>
          </a:p>
        </p:txBody>
      </p:sp>
      <p:sp>
        <p:nvSpPr>
          <p:cNvPr id="10" name="Text 8"/>
          <p:cNvSpPr/>
          <p:nvPr/>
        </p:nvSpPr>
        <p:spPr>
          <a:xfrm>
            <a:off x="3406577" y="3776404"/>
            <a:ext cx="228600"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8F857A">
                    <a:alpha val="92000"/>
                  </a:srgbClr>
                </a:solidFill>
                <a:latin typeface="Arial" pitchFamily="34" charset="0"/>
                <a:ea typeface="Arial" pitchFamily="34" charset="-122"/>
                <a:cs typeface="Arial" pitchFamily="34" charset="-120"/>
              </a:rPr>
              <a:t>→</a:t>
            </a:r>
            <a:endParaRPr lang="en-US" sz="1200" dirty="0"/>
          </a:p>
        </p:txBody>
      </p:sp>
      <p:sp>
        <p:nvSpPr>
          <p:cNvPr id="11" name="Shape 9"/>
          <p:cNvSpPr/>
          <p:nvPr/>
        </p:nvSpPr>
        <p:spPr>
          <a:xfrm>
            <a:off x="3692327" y="3604954"/>
            <a:ext cx="905073" cy="533400"/>
          </a:xfrm>
          <a:prstGeom prst="roundRect">
            <a:avLst>
              <a:gd name="adj" fmla="val 50000"/>
            </a:avLst>
          </a:prstGeom>
          <a:solidFill>
            <a:srgbClr val="FFFFFF">
              <a:alpha val="92000"/>
            </a:srgbClr>
          </a:solidFill>
          <a:ln w="12700">
            <a:solidFill>
              <a:srgbClr val="F2661A">
                <a:alpha val="92000"/>
              </a:srgbClr>
            </a:solidFill>
            <a:prstDash val="solid"/>
          </a:ln>
        </p:spPr>
      </p:sp>
      <p:sp>
        <p:nvSpPr>
          <p:cNvPr id="12" name="Text 10"/>
          <p:cNvSpPr/>
          <p:nvPr/>
        </p:nvSpPr>
        <p:spPr>
          <a:xfrm>
            <a:off x="3952677" y="3751004"/>
            <a:ext cx="460574" cy="27940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2661A">
                    <a:alpha val="92000"/>
                  </a:srgbClr>
                </a:solidFill>
                <a:latin typeface="Arial" pitchFamily="34" charset="0"/>
                <a:ea typeface="Arial" pitchFamily="34" charset="-122"/>
                <a:cs typeface="Arial" pitchFamily="34" charset="-120"/>
              </a:rPr>
              <a:t>Test</a:t>
            </a:r>
            <a:endParaRPr lang="en-US" sz="1650" dirty="0"/>
          </a:p>
        </p:txBody>
      </p:sp>
      <p:sp>
        <p:nvSpPr>
          <p:cNvPr id="13" name="Text 11"/>
          <p:cNvSpPr/>
          <p:nvPr/>
        </p:nvSpPr>
        <p:spPr>
          <a:xfrm>
            <a:off x="4730750" y="3776404"/>
            <a:ext cx="228600"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8F857A">
                    <a:alpha val="92000"/>
                  </a:srgbClr>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5016500" y="3604954"/>
            <a:ext cx="1207889" cy="533400"/>
          </a:xfrm>
          <a:prstGeom prst="roundRect">
            <a:avLst>
              <a:gd name="adj" fmla="val 50000"/>
            </a:avLst>
          </a:prstGeom>
          <a:solidFill>
            <a:srgbClr val="FFFFFF">
              <a:alpha val="92000"/>
            </a:srgbClr>
          </a:solidFill>
          <a:ln w="12700">
            <a:solidFill>
              <a:srgbClr val="F2661A">
                <a:alpha val="92000"/>
              </a:srgbClr>
            </a:solidFill>
            <a:prstDash val="solid"/>
          </a:ln>
        </p:spPr>
      </p:sp>
      <p:sp>
        <p:nvSpPr>
          <p:cNvPr id="15" name="Text 13"/>
          <p:cNvSpPr/>
          <p:nvPr/>
        </p:nvSpPr>
        <p:spPr>
          <a:xfrm>
            <a:off x="5276850" y="3751004"/>
            <a:ext cx="763389" cy="27940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2661A">
                    <a:alpha val="92000"/>
                  </a:srgbClr>
                </a:solidFill>
                <a:latin typeface="Arial" pitchFamily="34" charset="0"/>
                <a:ea typeface="Arial" pitchFamily="34" charset="-122"/>
                <a:cs typeface="Arial" pitchFamily="34" charset="-120"/>
              </a:rPr>
              <a:t>Review</a:t>
            </a:r>
            <a:endParaRPr lang="en-US" sz="1650" dirty="0"/>
          </a:p>
        </p:txBody>
      </p:sp>
      <p:sp>
        <p:nvSpPr>
          <p:cNvPr id="16" name="Text 14"/>
          <p:cNvSpPr/>
          <p:nvPr/>
        </p:nvSpPr>
        <p:spPr>
          <a:xfrm>
            <a:off x="6357739" y="377005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8F857A">
                    <a:alpha val="92000"/>
                  </a:srgbClr>
                </a:solidFill>
                <a:latin typeface="Arial" pitchFamily="34" charset="0"/>
                <a:ea typeface="Arial" pitchFamily="34" charset="-122"/>
                <a:cs typeface="Arial" pitchFamily="34" charset="-120"/>
              </a:rPr>
              <a:t>↺</a:t>
            </a:r>
            <a:endParaRPr lang="en-US" sz="1200" dirty="0"/>
          </a:p>
        </p:txBody>
      </p:sp>
      <p:sp>
        <p:nvSpPr>
          <p:cNvPr id="17" name="Shape 15"/>
          <p:cNvSpPr/>
          <p:nvPr/>
        </p:nvSpPr>
        <p:spPr>
          <a:xfrm>
            <a:off x="8243888" y="2063491"/>
            <a:ext cx="9091613" cy="635000"/>
          </a:xfrm>
          <a:prstGeom prst="roundRect">
            <a:avLst>
              <a:gd name="adj" fmla="val 18000"/>
            </a:avLst>
          </a:prstGeom>
          <a:solidFill>
            <a:srgbClr val="FFFFFF">
              <a:alpha val="92000"/>
            </a:srgbClr>
          </a:solidFill>
          <a:ln/>
          <a:effectLst>
            <a:outerShdw blurRad="209550" dist="76200" dir="5400000" algn="bl" rotWithShape="0">
              <a:srgbClr val="1A1714">
                <a:alpha val="4621"/>
              </a:srgbClr>
            </a:outerShdw>
          </a:effectLst>
        </p:spPr>
      </p:sp>
      <p:sp>
        <p:nvSpPr>
          <p:cNvPr id="18" name="Text 16"/>
          <p:cNvSpPr/>
          <p:nvPr/>
        </p:nvSpPr>
        <p:spPr>
          <a:xfrm>
            <a:off x="8491538" y="2260341"/>
            <a:ext cx="1362075"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2661A">
                    <a:alpha val="92000"/>
                  </a:srgbClr>
                </a:solidFill>
                <a:latin typeface="Courier New" pitchFamily="34" charset="0"/>
                <a:ea typeface="Courier New" pitchFamily="34" charset="-122"/>
                <a:cs typeface="Courier New" pitchFamily="34" charset="-120"/>
              </a:rPr>
              <a:t>Week 1–2</a:t>
            </a:r>
            <a:endParaRPr lang="en-US" sz="1500" dirty="0"/>
          </a:p>
        </p:txBody>
      </p:sp>
      <p:sp>
        <p:nvSpPr>
          <p:cNvPr id="19" name="Text 17"/>
          <p:cNvSpPr/>
          <p:nvPr/>
        </p:nvSpPr>
        <p:spPr>
          <a:xfrm>
            <a:off x="9958388" y="2234941"/>
            <a:ext cx="6335613" cy="330200"/>
          </a:xfrm>
          <a:prstGeom prst="rect">
            <a:avLst/>
          </a:prstGeom>
          <a:noFill/>
          <a:ln/>
        </p:spPr>
        <p:txBody>
          <a:bodyPr wrap="square" lIns="25400" tIns="25400" rIns="25400" bIns="25400" rtlCol="0" anchor="t">
            <a:normAutofit/>
          </a:bodyPr>
          <a:lstStyle/>
          <a:p>
            <a:pPr marL="0" indent="0" algn="l">
              <a:buNone/>
            </a:pPr>
            <a:r>
              <a:rPr lang="en-US" sz="1800" dirty="0">
                <a:solidFill>
                  <a:srgbClr val="1A1714">
                    <a:alpha val="92000"/>
                  </a:srgbClr>
                </a:solidFill>
                <a:latin typeface="Arial" pitchFamily="34" charset="0"/>
                <a:ea typeface="Arial" pitchFamily="34" charset="-122"/>
                <a:cs typeface="Arial" pitchFamily="34" charset="-120"/>
              </a:rPr>
              <a:t>Requirements gathering — modules, roles &amp; system flow</a:t>
            </a:r>
            <a:endParaRPr lang="en-US" sz="1800" dirty="0"/>
          </a:p>
        </p:txBody>
      </p:sp>
      <p:sp>
        <p:nvSpPr>
          <p:cNvPr id="20" name="Shape 18"/>
          <p:cNvSpPr/>
          <p:nvPr/>
        </p:nvSpPr>
        <p:spPr>
          <a:xfrm>
            <a:off x="8243888" y="2831841"/>
            <a:ext cx="9091613" cy="635000"/>
          </a:xfrm>
          <a:prstGeom prst="roundRect">
            <a:avLst>
              <a:gd name="adj" fmla="val 18000"/>
            </a:avLst>
          </a:prstGeom>
          <a:solidFill>
            <a:srgbClr val="FFFFFF">
              <a:alpha val="92000"/>
            </a:srgbClr>
          </a:solidFill>
          <a:ln/>
          <a:effectLst>
            <a:outerShdw blurRad="209550" dist="76200" dir="5400000" algn="bl" rotWithShape="0">
              <a:srgbClr val="1A1714">
                <a:alpha val="4621"/>
              </a:srgbClr>
            </a:outerShdw>
          </a:effectLst>
        </p:spPr>
      </p:sp>
      <p:sp>
        <p:nvSpPr>
          <p:cNvPr id="21" name="Text 19"/>
          <p:cNvSpPr/>
          <p:nvPr/>
        </p:nvSpPr>
        <p:spPr>
          <a:xfrm>
            <a:off x="8491538" y="3028691"/>
            <a:ext cx="1362075"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2661A">
                    <a:alpha val="92000"/>
                  </a:srgbClr>
                </a:solidFill>
                <a:latin typeface="Courier New" pitchFamily="34" charset="0"/>
                <a:ea typeface="Courier New" pitchFamily="34" charset="-122"/>
                <a:cs typeface="Courier New" pitchFamily="34" charset="-120"/>
              </a:rPr>
              <a:t>Week 3–4</a:t>
            </a:r>
            <a:endParaRPr lang="en-US" sz="1500" dirty="0"/>
          </a:p>
        </p:txBody>
      </p:sp>
      <p:sp>
        <p:nvSpPr>
          <p:cNvPr id="22" name="Text 20"/>
          <p:cNvSpPr/>
          <p:nvPr/>
        </p:nvSpPr>
        <p:spPr>
          <a:xfrm>
            <a:off x="9958388" y="3003291"/>
            <a:ext cx="2464832" cy="330200"/>
          </a:xfrm>
          <a:prstGeom prst="rect">
            <a:avLst/>
          </a:prstGeom>
          <a:noFill/>
          <a:ln/>
        </p:spPr>
        <p:txBody>
          <a:bodyPr wrap="square" lIns="25400" tIns="25400" rIns="25400" bIns="25400" rtlCol="0" anchor="t">
            <a:normAutofit/>
          </a:bodyPr>
          <a:lstStyle/>
          <a:p>
            <a:pPr marL="0" indent="0" algn="l">
              <a:buNone/>
            </a:pPr>
            <a:r>
              <a:rPr lang="en-US" sz="1800" dirty="0">
                <a:solidFill>
                  <a:srgbClr val="1A1714">
                    <a:alpha val="92000"/>
                  </a:srgbClr>
                </a:solidFill>
                <a:latin typeface="Arial" pitchFamily="34" charset="0"/>
                <a:ea typeface="Arial" pitchFamily="34" charset="-122"/>
                <a:cs typeface="Arial" pitchFamily="34" charset="-120"/>
              </a:rPr>
              <a:t>UI/UX design in React</a:t>
            </a:r>
            <a:endParaRPr lang="en-US" sz="1800" dirty="0"/>
          </a:p>
        </p:txBody>
      </p:sp>
      <p:sp>
        <p:nvSpPr>
          <p:cNvPr id="23" name="Shape 21"/>
          <p:cNvSpPr/>
          <p:nvPr/>
        </p:nvSpPr>
        <p:spPr>
          <a:xfrm>
            <a:off x="8243888" y="3600191"/>
            <a:ext cx="9091613" cy="635000"/>
          </a:xfrm>
          <a:prstGeom prst="roundRect">
            <a:avLst>
              <a:gd name="adj" fmla="val 18000"/>
            </a:avLst>
          </a:prstGeom>
          <a:solidFill>
            <a:srgbClr val="FFFFFF">
              <a:alpha val="92000"/>
            </a:srgbClr>
          </a:solidFill>
          <a:ln/>
          <a:effectLst>
            <a:outerShdw blurRad="209550" dist="76200" dir="5400000" algn="bl" rotWithShape="0">
              <a:srgbClr val="1A1714">
                <a:alpha val="4621"/>
              </a:srgbClr>
            </a:outerShdw>
          </a:effectLst>
        </p:spPr>
      </p:sp>
      <p:sp>
        <p:nvSpPr>
          <p:cNvPr id="24" name="Text 22"/>
          <p:cNvSpPr/>
          <p:nvPr/>
        </p:nvSpPr>
        <p:spPr>
          <a:xfrm>
            <a:off x="8491538" y="3797041"/>
            <a:ext cx="1362075"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2661A">
                    <a:alpha val="92000"/>
                  </a:srgbClr>
                </a:solidFill>
                <a:latin typeface="Courier New" pitchFamily="34" charset="0"/>
                <a:ea typeface="Courier New" pitchFamily="34" charset="-122"/>
                <a:cs typeface="Courier New" pitchFamily="34" charset="-120"/>
              </a:rPr>
              <a:t>Week 5–8</a:t>
            </a:r>
            <a:endParaRPr lang="en-US" sz="1500" dirty="0"/>
          </a:p>
        </p:txBody>
      </p:sp>
      <p:sp>
        <p:nvSpPr>
          <p:cNvPr id="25" name="Text 23"/>
          <p:cNvSpPr/>
          <p:nvPr/>
        </p:nvSpPr>
        <p:spPr>
          <a:xfrm>
            <a:off x="9958388" y="3771641"/>
            <a:ext cx="5413375" cy="330200"/>
          </a:xfrm>
          <a:prstGeom prst="rect">
            <a:avLst/>
          </a:prstGeom>
          <a:noFill/>
          <a:ln/>
        </p:spPr>
        <p:txBody>
          <a:bodyPr wrap="square" lIns="25400" tIns="25400" rIns="25400" bIns="25400" rtlCol="0" anchor="t">
            <a:normAutofit/>
          </a:bodyPr>
          <a:lstStyle/>
          <a:p>
            <a:pPr marL="0" indent="0" algn="l">
              <a:buNone/>
            </a:pPr>
            <a:r>
              <a:rPr lang="en-US" sz="1800" dirty="0">
                <a:solidFill>
                  <a:srgbClr val="1A1714">
                    <a:alpha val="92000"/>
                  </a:srgbClr>
                </a:solidFill>
                <a:latin typeface="Arial" pitchFamily="34" charset="0"/>
                <a:ea typeface="Arial" pitchFamily="34" charset="-122"/>
                <a:cs typeface="Arial" pitchFamily="34" charset="-120"/>
              </a:rPr>
              <a:t>Backend — REST APIs, database, authentication</a:t>
            </a:r>
            <a:endParaRPr lang="en-US" sz="1800" dirty="0"/>
          </a:p>
        </p:txBody>
      </p:sp>
      <p:sp>
        <p:nvSpPr>
          <p:cNvPr id="26" name="Shape 24"/>
          <p:cNvSpPr/>
          <p:nvPr/>
        </p:nvSpPr>
        <p:spPr>
          <a:xfrm>
            <a:off x="8243888" y="4368541"/>
            <a:ext cx="9091613" cy="635000"/>
          </a:xfrm>
          <a:prstGeom prst="roundRect">
            <a:avLst>
              <a:gd name="adj" fmla="val 18000"/>
            </a:avLst>
          </a:prstGeom>
          <a:solidFill>
            <a:srgbClr val="FFFFFF">
              <a:alpha val="92000"/>
            </a:srgbClr>
          </a:solidFill>
          <a:ln/>
          <a:effectLst>
            <a:outerShdw blurRad="209550" dist="76200" dir="5400000" algn="bl" rotWithShape="0">
              <a:srgbClr val="1A1714">
                <a:alpha val="4621"/>
              </a:srgbClr>
            </a:outerShdw>
          </a:effectLst>
        </p:spPr>
      </p:sp>
      <p:sp>
        <p:nvSpPr>
          <p:cNvPr id="27" name="Text 25"/>
          <p:cNvSpPr/>
          <p:nvPr/>
        </p:nvSpPr>
        <p:spPr>
          <a:xfrm>
            <a:off x="8491538" y="4565391"/>
            <a:ext cx="1362075"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2661A">
                    <a:alpha val="92000"/>
                  </a:srgbClr>
                </a:solidFill>
                <a:latin typeface="Courier New" pitchFamily="34" charset="0"/>
                <a:ea typeface="Courier New" pitchFamily="34" charset="-122"/>
                <a:cs typeface="Courier New" pitchFamily="34" charset="-120"/>
              </a:rPr>
              <a:t>Week 9–10</a:t>
            </a:r>
            <a:endParaRPr lang="en-US" sz="1500" dirty="0"/>
          </a:p>
        </p:txBody>
      </p:sp>
      <p:sp>
        <p:nvSpPr>
          <p:cNvPr id="28" name="Text 26"/>
          <p:cNvSpPr/>
          <p:nvPr/>
        </p:nvSpPr>
        <p:spPr>
          <a:xfrm>
            <a:off x="9958388" y="4539991"/>
            <a:ext cx="2327970" cy="330200"/>
          </a:xfrm>
          <a:prstGeom prst="rect">
            <a:avLst/>
          </a:prstGeom>
          <a:noFill/>
          <a:ln/>
        </p:spPr>
        <p:txBody>
          <a:bodyPr wrap="square" lIns="25400" tIns="25400" rIns="25400" bIns="25400" rtlCol="0" anchor="t">
            <a:normAutofit/>
          </a:bodyPr>
          <a:lstStyle/>
          <a:p>
            <a:pPr marL="0" indent="0" algn="l">
              <a:buNone/>
            </a:pPr>
            <a:r>
              <a:rPr lang="en-US" sz="1800" dirty="0">
                <a:solidFill>
                  <a:srgbClr val="1A1714">
                    <a:alpha val="92000"/>
                  </a:srgbClr>
                </a:solidFill>
                <a:latin typeface="Arial" pitchFamily="34" charset="0"/>
                <a:ea typeface="Arial" pitchFamily="34" charset="-122"/>
                <a:cs typeface="Arial" pitchFamily="34" charset="-120"/>
              </a:rPr>
              <a:t>Integration &amp; testing</a:t>
            </a:r>
            <a:endParaRPr lang="en-US" sz="1800" dirty="0"/>
          </a:p>
        </p:txBody>
      </p:sp>
      <p:sp>
        <p:nvSpPr>
          <p:cNvPr id="29" name="Shape 27"/>
          <p:cNvSpPr/>
          <p:nvPr/>
        </p:nvSpPr>
        <p:spPr>
          <a:xfrm>
            <a:off x="8243888" y="5136891"/>
            <a:ext cx="9091613" cy="635000"/>
          </a:xfrm>
          <a:prstGeom prst="roundRect">
            <a:avLst>
              <a:gd name="adj" fmla="val 18000"/>
            </a:avLst>
          </a:prstGeom>
          <a:solidFill>
            <a:srgbClr val="FFFFFF">
              <a:alpha val="92000"/>
            </a:srgbClr>
          </a:solidFill>
          <a:ln/>
          <a:effectLst>
            <a:outerShdw blurRad="209550" dist="76200" dir="5400000" algn="bl" rotWithShape="0">
              <a:srgbClr val="1A1714">
                <a:alpha val="4621"/>
              </a:srgbClr>
            </a:outerShdw>
          </a:effectLst>
        </p:spPr>
      </p:sp>
      <p:sp>
        <p:nvSpPr>
          <p:cNvPr id="30" name="Text 28"/>
          <p:cNvSpPr/>
          <p:nvPr/>
        </p:nvSpPr>
        <p:spPr>
          <a:xfrm>
            <a:off x="8491538" y="5333741"/>
            <a:ext cx="1362075"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2661A">
                    <a:alpha val="92000"/>
                  </a:srgbClr>
                </a:solidFill>
                <a:latin typeface="Courier New" pitchFamily="34" charset="0"/>
                <a:ea typeface="Courier New" pitchFamily="34" charset="-122"/>
                <a:cs typeface="Courier New" pitchFamily="34" charset="-120"/>
              </a:rPr>
              <a:t>Week 11–12</a:t>
            </a:r>
            <a:endParaRPr lang="en-US" sz="1500" dirty="0"/>
          </a:p>
        </p:txBody>
      </p:sp>
      <p:sp>
        <p:nvSpPr>
          <p:cNvPr id="31" name="Text 29"/>
          <p:cNvSpPr/>
          <p:nvPr/>
        </p:nvSpPr>
        <p:spPr>
          <a:xfrm>
            <a:off x="9958388" y="5308341"/>
            <a:ext cx="3381832" cy="330200"/>
          </a:xfrm>
          <a:prstGeom prst="rect">
            <a:avLst/>
          </a:prstGeom>
          <a:noFill/>
          <a:ln/>
        </p:spPr>
        <p:txBody>
          <a:bodyPr wrap="square" lIns="25400" tIns="25400" rIns="25400" bIns="25400" rtlCol="0" anchor="t">
            <a:normAutofit/>
          </a:bodyPr>
          <a:lstStyle/>
          <a:p>
            <a:pPr marL="0" indent="0" algn="l">
              <a:buNone/>
            </a:pPr>
            <a:r>
              <a:rPr lang="en-US" sz="1800" dirty="0">
                <a:solidFill>
                  <a:srgbClr val="1A1714">
                    <a:alpha val="92000"/>
                  </a:srgbClr>
                </a:solidFill>
                <a:latin typeface="Arial" pitchFamily="34" charset="0"/>
                <a:ea typeface="Arial" pitchFamily="34" charset="-122"/>
                <a:cs typeface="Arial" pitchFamily="34" charset="-120"/>
              </a:rPr>
              <a:t>Documentation &amp; deployment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952500" y="762606"/>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WHAT WE ACHIEVED</a:t>
            </a:r>
            <a:endParaRPr lang="en-US" sz="1650" dirty="0"/>
          </a:p>
        </p:txBody>
      </p:sp>
      <p:sp>
        <p:nvSpPr>
          <p:cNvPr id="3" name="Text 1"/>
          <p:cNvSpPr/>
          <p:nvPr/>
        </p:nvSpPr>
        <p:spPr>
          <a:xfrm>
            <a:off x="952500" y="1142488"/>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F7F4EF">
                    <a:alpha val="98000"/>
                  </a:srgbClr>
                </a:solidFill>
                <a:latin typeface="Arial" pitchFamily="34" charset="0"/>
                <a:ea typeface="Arial" pitchFamily="34" charset="-122"/>
                <a:cs typeface="Arial" pitchFamily="34" charset="-120"/>
              </a:rPr>
              <a:t>Observation &amp; Results</a:t>
            </a:r>
            <a:endParaRPr lang="en-US" sz="4350" dirty="0"/>
          </a:p>
        </p:txBody>
      </p:sp>
      <p:sp>
        <p:nvSpPr>
          <p:cNvPr id="4" name="Shape 2"/>
          <p:cNvSpPr/>
          <p:nvPr/>
        </p:nvSpPr>
        <p:spPr>
          <a:xfrm>
            <a:off x="952500" y="2158747"/>
            <a:ext cx="3924300" cy="1651000"/>
          </a:xfrm>
          <a:prstGeom prst="roundRect">
            <a:avLst>
              <a:gd name="adj" fmla="val 9231"/>
            </a:avLst>
          </a:prstGeom>
          <a:solidFill>
            <a:srgbClr val="FFFFFF">
              <a:alpha val="5000"/>
            </a:srgbClr>
          </a:solidFill>
          <a:ln/>
        </p:spPr>
      </p:sp>
      <p:sp>
        <p:nvSpPr>
          <p:cNvPr id="5" name="Shape 3"/>
          <p:cNvSpPr/>
          <p:nvPr/>
        </p:nvSpPr>
        <p:spPr>
          <a:xfrm>
            <a:off x="952500" y="3771647"/>
            <a:ext cx="3924300" cy="38100"/>
          </a:xfrm>
          <a:prstGeom prst="rect">
            <a:avLst/>
          </a:prstGeom>
          <a:solidFill>
            <a:srgbClr val="F2661A">
              <a:alpha val="92000"/>
            </a:srgbClr>
          </a:solidFill>
          <a:ln/>
        </p:spPr>
      </p:sp>
      <p:sp>
        <p:nvSpPr>
          <p:cNvPr id="6" name="Text 4"/>
          <p:cNvSpPr/>
          <p:nvPr/>
        </p:nvSpPr>
        <p:spPr>
          <a:xfrm>
            <a:off x="1200150" y="2444497"/>
            <a:ext cx="3771900" cy="704850"/>
          </a:xfrm>
          <a:prstGeom prst="rect">
            <a:avLst/>
          </a:prstGeom>
          <a:noFill/>
          <a:ln/>
        </p:spPr>
        <p:txBody>
          <a:bodyPr wrap="square" lIns="25400" tIns="25400" rIns="25400" bIns="25400" rtlCol="0" anchor="t">
            <a:normAutofit lnSpcReduction="10000"/>
          </a:bodyPr>
          <a:lstStyle/>
          <a:p>
            <a:pPr marL="0" indent="0" algn="l">
              <a:lnSpc>
                <a:spcPct val="86066"/>
              </a:lnSpc>
              <a:buNone/>
            </a:pPr>
            <a:r>
              <a:rPr lang="en-US" sz="5250" b="1" dirty="0">
                <a:solidFill>
                  <a:srgbClr val="F2661A">
                    <a:alpha val="92000"/>
                  </a:srgbClr>
                </a:solidFill>
                <a:latin typeface="Arial" pitchFamily="34" charset="0"/>
                <a:ea typeface="Arial" pitchFamily="34" charset="-122"/>
                <a:cs typeface="Arial" pitchFamily="34" charset="-120"/>
              </a:rPr>
              <a:t>8</a:t>
            </a:r>
            <a:endParaRPr lang="en-US" sz="5250" dirty="0"/>
          </a:p>
        </p:txBody>
      </p:sp>
      <p:sp>
        <p:nvSpPr>
          <p:cNvPr id="7" name="Text 5"/>
          <p:cNvSpPr/>
          <p:nvPr/>
        </p:nvSpPr>
        <p:spPr>
          <a:xfrm>
            <a:off x="1200150" y="3206497"/>
            <a:ext cx="3771900" cy="317500"/>
          </a:xfrm>
          <a:prstGeom prst="rect">
            <a:avLst/>
          </a:prstGeom>
          <a:noFill/>
          <a:ln/>
        </p:spPr>
        <p:txBody>
          <a:bodyPr wrap="square" lIns="25400" tIns="25400" rIns="25400" bIns="25400" rtlCol="0" anchor="t">
            <a:normAutofit/>
          </a:bodyPr>
          <a:lstStyle/>
          <a:p>
            <a:pPr marL="0" indent="0" algn="l">
              <a:buNone/>
            </a:pPr>
            <a:r>
              <a:rPr lang="en-US" sz="1650" dirty="0">
                <a:solidFill>
                  <a:srgbClr val="C9BEB2">
                    <a:alpha val="92000"/>
                  </a:srgbClr>
                </a:solidFill>
                <a:latin typeface="Arial" pitchFamily="34" charset="0"/>
                <a:ea typeface="Arial" pitchFamily="34" charset="-122"/>
                <a:cs typeface="Arial" pitchFamily="34" charset="-120"/>
              </a:rPr>
              <a:t>User roles, all with real dashboards</a:t>
            </a:r>
            <a:endParaRPr lang="en-US" sz="1650" dirty="0"/>
          </a:p>
        </p:txBody>
      </p:sp>
      <p:sp>
        <p:nvSpPr>
          <p:cNvPr id="8" name="Shape 6"/>
          <p:cNvSpPr/>
          <p:nvPr/>
        </p:nvSpPr>
        <p:spPr>
          <a:xfrm>
            <a:off x="5105400" y="2158747"/>
            <a:ext cx="3924300" cy="1651000"/>
          </a:xfrm>
          <a:prstGeom prst="roundRect">
            <a:avLst>
              <a:gd name="adj" fmla="val 9231"/>
            </a:avLst>
          </a:prstGeom>
          <a:solidFill>
            <a:srgbClr val="FFFFFF">
              <a:alpha val="5000"/>
            </a:srgbClr>
          </a:solidFill>
          <a:ln/>
        </p:spPr>
      </p:sp>
      <p:sp>
        <p:nvSpPr>
          <p:cNvPr id="9" name="Shape 7"/>
          <p:cNvSpPr/>
          <p:nvPr/>
        </p:nvSpPr>
        <p:spPr>
          <a:xfrm>
            <a:off x="5105400" y="3771647"/>
            <a:ext cx="3924300" cy="38100"/>
          </a:xfrm>
          <a:prstGeom prst="rect">
            <a:avLst/>
          </a:prstGeom>
          <a:solidFill>
            <a:srgbClr val="F2661A">
              <a:alpha val="92000"/>
            </a:srgbClr>
          </a:solidFill>
          <a:ln/>
        </p:spPr>
      </p:sp>
      <p:sp>
        <p:nvSpPr>
          <p:cNvPr id="10" name="Text 8"/>
          <p:cNvSpPr/>
          <p:nvPr/>
        </p:nvSpPr>
        <p:spPr>
          <a:xfrm>
            <a:off x="5353050" y="2444497"/>
            <a:ext cx="3771900" cy="704850"/>
          </a:xfrm>
          <a:prstGeom prst="rect">
            <a:avLst/>
          </a:prstGeom>
          <a:noFill/>
          <a:ln/>
        </p:spPr>
        <p:txBody>
          <a:bodyPr wrap="square" lIns="25400" tIns="25400" rIns="25400" bIns="25400" rtlCol="0" anchor="t">
            <a:normAutofit lnSpcReduction="10000"/>
          </a:bodyPr>
          <a:lstStyle/>
          <a:p>
            <a:pPr marL="0" indent="0" algn="l">
              <a:lnSpc>
                <a:spcPct val="86066"/>
              </a:lnSpc>
              <a:buNone/>
            </a:pPr>
            <a:r>
              <a:rPr lang="en-US" sz="5250" b="1" dirty="0">
                <a:solidFill>
                  <a:srgbClr val="F2661A">
                    <a:alpha val="92000"/>
                  </a:srgbClr>
                </a:solidFill>
                <a:latin typeface="Arial" pitchFamily="34" charset="0"/>
                <a:ea typeface="Arial" pitchFamily="34" charset="-122"/>
                <a:cs typeface="Arial" pitchFamily="34" charset="-120"/>
              </a:rPr>
              <a:t>25</a:t>
            </a:r>
            <a:endParaRPr lang="en-US" sz="5250" dirty="0"/>
          </a:p>
        </p:txBody>
      </p:sp>
      <p:sp>
        <p:nvSpPr>
          <p:cNvPr id="11" name="Text 9"/>
          <p:cNvSpPr/>
          <p:nvPr/>
        </p:nvSpPr>
        <p:spPr>
          <a:xfrm>
            <a:off x="5353050" y="3206497"/>
            <a:ext cx="3771900" cy="317500"/>
          </a:xfrm>
          <a:prstGeom prst="rect">
            <a:avLst/>
          </a:prstGeom>
          <a:noFill/>
          <a:ln/>
        </p:spPr>
        <p:txBody>
          <a:bodyPr wrap="square" lIns="25400" tIns="25400" rIns="25400" bIns="25400" rtlCol="0" anchor="t">
            <a:normAutofit/>
          </a:bodyPr>
          <a:lstStyle/>
          <a:p>
            <a:pPr marL="0" indent="0" algn="l">
              <a:buNone/>
            </a:pPr>
            <a:r>
              <a:rPr lang="en-US" sz="1650" dirty="0">
                <a:solidFill>
                  <a:srgbClr val="C9BEB2">
                    <a:alpha val="92000"/>
                  </a:srgbClr>
                </a:solidFill>
                <a:latin typeface="Arial" pitchFamily="34" charset="0"/>
                <a:ea typeface="Arial" pitchFamily="34" charset="-122"/>
                <a:cs typeface="Arial" pitchFamily="34" charset="-120"/>
              </a:rPr>
              <a:t>REST controllers · ~110 endpoints</a:t>
            </a:r>
            <a:endParaRPr lang="en-US" sz="1650" dirty="0"/>
          </a:p>
        </p:txBody>
      </p:sp>
      <p:sp>
        <p:nvSpPr>
          <p:cNvPr id="12" name="Shape 10"/>
          <p:cNvSpPr/>
          <p:nvPr/>
        </p:nvSpPr>
        <p:spPr>
          <a:xfrm>
            <a:off x="9258300" y="2158747"/>
            <a:ext cx="3924300" cy="1651000"/>
          </a:xfrm>
          <a:prstGeom prst="roundRect">
            <a:avLst>
              <a:gd name="adj" fmla="val 9231"/>
            </a:avLst>
          </a:prstGeom>
          <a:solidFill>
            <a:srgbClr val="FFFFFF">
              <a:alpha val="5000"/>
            </a:srgbClr>
          </a:solidFill>
          <a:ln/>
        </p:spPr>
      </p:sp>
      <p:sp>
        <p:nvSpPr>
          <p:cNvPr id="13" name="Shape 11"/>
          <p:cNvSpPr/>
          <p:nvPr/>
        </p:nvSpPr>
        <p:spPr>
          <a:xfrm>
            <a:off x="9258300" y="3771647"/>
            <a:ext cx="3924300" cy="38100"/>
          </a:xfrm>
          <a:prstGeom prst="rect">
            <a:avLst/>
          </a:prstGeom>
          <a:solidFill>
            <a:srgbClr val="2F8F57">
              <a:alpha val="92000"/>
            </a:srgbClr>
          </a:solidFill>
          <a:ln/>
        </p:spPr>
      </p:sp>
      <p:sp>
        <p:nvSpPr>
          <p:cNvPr id="14" name="Text 12"/>
          <p:cNvSpPr/>
          <p:nvPr/>
        </p:nvSpPr>
        <p:spPr>
          <a:xfrm>
            <a:off x="9505950" y="2444497"/>
            <a:ext cx="3771900" cy="704850"/>
          </a:xfrm>
          <a:prstGeom prst="rect">
            <a:avLst/>
          </a:prstGeom>
          <a:noFill/>
          <a:ln/>
        </p:spPr>
        <p:txBody>
          <a:bodyPr wrap="square" lIns="25400" tIns="25400" rIns="25400" bIns="25400" rtlCol="0" anchor="t">
            <a:normAutofit lnSpcReduction="10000"/>
          </a:bodyPr>
          <a:lstStyle/>
          <a:p>
            <a:pPr marL="0" indent="0" algn="l">
              <a:lnSpc>
                <a:spcPct val="86066"/>
              </a:lnSpc>
              <a:buNone/>
            </a:pPr>
            <a:r>
              <a:rPr lang="en-US" sz="5250" b="1" dirty="0">
                <a:solidFill>
                  <a:srgbClr val="2F8F57">
                    <a:alpha val="92000"/>
                  </a:srgbClr>
                </a:solidFill>
                <a:latin typeface="Arial" pitchFamily="34" charset="0"/>
                <a:ea typeface="Arial" pitchFamily="34" charset="-122"/>
                <a:cs typeface="Arial" pitchFamily="34" charset="-120"/>
              </a:rPr>
              <a:t>47</a:t>
            </a:r>
            <a:endParaRPr lang="en-US" sz="5250" dirty="0"/>
          </a:p>
        </p:txBody>
      </p:sp>
      <p:sp>
        <p:nvSpPr>
          <p:cNvPr id="15" name="Text 13"/>
          <p:cNvSpPr/>
          <p:nvPr/>
        </p:nvSpPr>
        <p:spPr>
          <a:xfrm>
            <a:off x="9505950" y="3206497"/>
            <a:ext cx="3771900" cy="317500"/>
          </a:xfrm>
          <a:prstGeom prst="rect">
            <a:avLst/>
          </a:prstGeom>
          <a:noFill/>
          <a:ln/>
        </p:spPr>
        <p:txBody>
          <a:bodyPr wrap="square" lIns="25400" tIns="25400" rIns="25400" bIns="25400" rtlCol="0" anchor="t">
            <a:normAutofit/>
          </a:bodyPr>
          <a:lstStyle/>
          <a:p>
            <a:pPr marL="0" indent="0" algn="l">
              <a:buNone/>
            </a:pPr>
            <a:r>
              <a:rPr lang="en-US" sz="1650" dirty="0">
                <a:solidFill>
                  <a:srgbClr val="C9BEB2">
                    <a:alpha val="92000"/>
                  </a:srgbClr>
                </a:solidFill>
                <a:latin typeface="Arial" pitchFamily="34" charset="0"/>
                <a:ea typeface="Arial" pitchFamily="34" charset="-122"/>
                <a:cs typeface="Arial" pitchFamily="34" charset="-120"/>
              </a:rPr>
              <a:t>DB migrations · 42 entities</a:t>
            </a:r>
            <a:endParaRPr lang="en-US" sz="1650" dirty="0"/>
          </a:p>
        </p:txBody>
      </p:sp>
      <p:sp>
        <p:nvSpPr>
          <p:cNvPr id="16" name="Shape 14"/>
          <p:cNvSpPr/>
          <p:nvPr/>
        </p:nvSpPr>
        <p:spPr>
          <a:xfrm>
            <a:off x="13411200" y="2158747"/>
            <a:ext cx="3924300" cy="1651000"/>
          </a:xfrm>
          <a:prstGeom prst="roundRect">
            <a:avLst>
              <a:gd name="adj" fmla="val 9231"/>
            </a:avLst>
          </a:prstGeom>
          <a:solidFill>
            <a:srgbClr val="FFFFFF">
              <a:alpha val="5000"/>
            </a:srgbClr>
          </a:solidFill>
          <a:ln/>
        </p:spPr>
      </p:sp>
      <p:sp>
        <p:nvSpPr>
          <p:cNvPr id="17" name="Shape 15"/>
          <p:cNvSpPr/>
          <p:nvPr/>
        </p:nvSpPr>
        <p:spPr>
          <a:xfrm>
            <a:off x="13411200" y="3771647"/>
            <a:ext cx="3924300" cy="38100"/>
          </a:xfrm>
          <a:prstGeom prst="rect">
            <a:avLst/>
          </a:prstGeom>
          <a:solidFill>
            <a:srgbClr val="2F8F57">
              <a:alpha val="92000"/>
            </a:srgbClr>
          </a:solidFill>
          <a:ln/>
        </p:spPr>
      </p:sp>
      <p:sp>
        <p:nvSpPr>
          <p:cNvPr id="18" name="Text 16"/>
          <p:cNvSpPr/>
          <p:nvPr/>
        </p:nvSpPr>
        <p:spPr>
          <a:xfrm>
            <a:off x="13658850" y="2444497"/>
            <a:ext cx="3771900" cy="704850"/>
          </a:xfrm>
          <a:prstGeom prst="rect">
            <a:avLst/>
          </a:prstGeom>
          <a:noFill/>
          <a:ln/>
        </p:spPr>
        <p:txBody>
          <a:bodyPr wrap="square" lIns="25400" tIns="25400" rIns="25400" bIns="25400" rtlCol="0" anchor="t">
            <a:normAutofit lnSpcReduction="10000"/>
          </a:bodyPr>
          <a:lstStyle/>
          <a:p>
            <a:pPr marL="0" indent="0" algn="l">
              <a:lnSpc>
                <a:spcPct val="86066"/>
              </a:lnSpc>
              <a:buNone/>
            </a:pPr>
            <a:r>
              <a:rPr lang="en-US" sz="5250" b="1" dirty="0">
                <a:solidFill>
                  <a:srgbClr val="2F8F57">
                    <a:alpha val="92000"/>
                  </a:srgbClr>
                </a:solidFill>
                <a:latin typeface="Arial" pitchFamily="34" charset="0"/>
                <a:ea typeface="Arial" pitchFamily="34" charset="-122"/>
                <a:cs typeface="Arial" pitchFamily="34" charset="-120"/>
              </a:rPr>
              <a:t>4</a:t>
            </a:r>
            <a:endParaRPr lang="en-US" sz="5250" dirty="0"/>
          </a:p>
        </p:txBody>
      </p:sp>
      <p:sp>
        <p:nvSpPr>
          <p:cNvPr id="19" name="Text 17"/>
          <p:cNvSpPr/>
          <p:nvPr/>
        </p:nvSpPr>
        <p:spPr>
          <a:xfrm>
            <a:off x="13658850" y="3206497"/>
            <a:ext cx="3771900" cy="317500"/>
          </a:xfrm>
          <a:prstGeom prst="rect">
            <a:avLst/>
          </a:prstGeom>
          <a:noFill/>
          <a:ln/>
        </p:spPr>
        <p:txBody>
          <a:bodyPr wrap="square" lIns="25400" tIns="25400" rIns="25400" bIns="25400" rtlCol="0" anchor="t">
            <a:normAutofit/>
          </a:bodyPr>
          <a:lstStyle/>
          <a:p>
            <a:pPr marL="0" indent="0" algn="l">
              <a:buNone/>
            </a:pPr>
            <a:r>
              <a:rPr lang="en-US" sz="1650" dirty="0">
                <a:solidFill>
                  <a:srgbClr val="C9BEB2">
                    <a:alpha val="92000"/>
                  </a:srgbClr>
                </a:solidFill>
                <a:latin typeface="Arial" pitchFamily="34" charset="0"/>
                <a:ea typeface="Arial" pitchFamily="34" charset="-122"/>
                <a:cs typeface="Arial" pitchFamily="34" charset="-120"/>
              </a:rPr>
              <a:t>AI features shipped</a:t>
            </a:r>
            <a:endParaRPr lang="en-US" sz="1650" dirty="0"/>
          </a:p>
        </p:txBody>
      </p:sp>
      <p:sp>
        <p:nvSpPr>
          <p:cNvPr id="20" name="Shape 18"/>
          <p:cNvSpPr/>
          <p:nvPr/>
        </p:nvSpPr>
        <p:spPr>
          <a:xfrm>
            <a:off x="952500" y="4365449"/>
            <a:ext cx="114300" cy="114300"/>
          </a:xfrm>
          <a:prstGeom prst="roundRect">
            <a:avLst>
              <a:gd name="adj" fmla="val 25000"/>
            </a:avLst>
          </a:prstGeom>
          <a:solidFill>
            <a:srgbClr val="2F8F57">
              <a:alpha val="83000"/>
            </a:srgbClr>
          </a:solidFill>
          <a:ln/>
        </p:spPr>
      </p:sp>
      <p:sp>
        <p:nvSpPr>
          <p:cNvPr id="21" name="Text 19"/>
          <p:cNvSpPr/>
          <p:nvPr/>
        </p:nvSpPr>
        <p:spPr>
          <a:xfrm>
            <a:off x="1238250" y="4251149"/>
            <a:ext cx="7799546" cy="731441"/>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1950" dirty="0">
                <a:solidFill>
                  <a:srgbClr val="F7F4EF">
                    <a:alpha val="83000"/>
                  </a:srgbClr>
                </a:solidFill>
                <a:latin typeface="Arial" pitchFamily="34" charset="0"/>
                <a:ea typeface="Arial" pitchFamily="34" charset="-122"/>
                <a:cs typeface="Arial" pitchFamily="34" charset="-120"/>
              </a:rPr>
              <a:t>Full post-award pipeline works end to end — contract, milestones, payment &amp; auto-completion.</a:t>
            </a:r>
            <a:endParaRPr lang="en-US" sz="1950" dirty="0"/>
          </a:p>
        </p:txBody>
      </p:sp>
      <p:sp>
        <p:nvSpPr>
          <p:cNvPr id="22" name="Shape 20"/>
          <p:cNvSpPr/>
          <p:nvPr/>
        </p:nvSpPr>
        <p:spPr>
          <a:xfrm>
            <a:off x="9477375" y="4365449"/>
            <a:ext cx="114300" cy="114300"/>
          </a:xfrm>
          <a:prstGeom prst="roundRect">
            <a:avLst>
              <a:gd name="adj" fmla="val 25000"/>
            </a:avLst>
          </a:prstGeom>
          <a:solidFill>
            <a:srgbClr val="2F8F57">
              <a:alpha val="83000"/>
            </a:srgbClr>
          </a:solidFill>
          <a:ln/>
        </p:spPr>
      </p:sp>
      <p:sp>
        <p:nvSpPr>
          <p:cNvPr id="23" name="Text 21"/>
          <p:cNvSpPr/>
          <p:nvPr/>
        </p:nvSpPr>
        <p:spPr>
          <a:xfrm>
            <a:off x="9763125" y="4251149"/>
            <a:ext cx="7502982" cy="384770"/>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1950" dirty="0">
                <a:solidFill>
                  <a:srgbClr val="F7F4EF">
                    <a:alpha val="83000"/>
                  </a:srgbClr>
                </a:solidFill>
                <a:latin typeface="Arial" pitchFamily="34" charset="0"/>
                <a:ea typeface="Arial" pitchFamily="34" charset="-122"/>
                <a:cs typeface="Arial" pitchFamily="34" charset="-120"/>
              </a:rPr>
              <a:t>Real-time chat &amp; notifications over authenticated WebSocket.</a:t>
            </a:r>
            <a:endParaRPr lang="en-US" sz="1950" dirty="0"/>
          </a:p>
        </p:txBody>
      </p:sp>
      <p:sp>
        <p:nvSpPr>
          <p:cNvPr id="24" name="Shape 22"/>
          <p:cNvSpPr/>
          <p:nvPr/>
        </p:nvSpPr>
        <p:spPr>
          <a:xfrm>
            <a:off x="952500" y="5249289"/>
            <a:ext cx="114300" cy="114300"/>
          </a:xfrm>
          <a:prstGeom prst="roundRect">
            <a:avLst>
              <a:gd name="adj" fmla="val 25000"/>
            </a:avLst>
          </a:prstGeom>
          <a:solidFill>
            <a:srgbClr val="2F8F57">
              <a:alpha val="83000"/>
            </a:srgbClr>
          </a:solidFill>
          <a:ln/>
        </p:spPr>
      </p:sp>
      <p:sp>
        <p:nvSpPr>
          <p:cNvPr id="25" name="Text 23"/>
          <p:cNvSpPr/>
          <p:nvPr/>
        </p:nvSpPr>
        <p:spPr>
          <a:xfrm>
            <a:off x="1238250" y="5134989"/>
            <a:ext cx="7799546" cy="731441"/>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1950" dirty="0">
                <a:solidFill>
                  <a:srgbClr val="F7F4EF">
                    <a:alpha val="83000"/>
                  </a:srgbClr>
                </a:solidFill>
                <a:latin typeface="Arial" pitchFamily="34" charset="0"/>
                <a:ea typeface="Arial" pitchFamily="34" charset="-122"/>
                <a:cs typeface="Arial" pitchFamily="34" charset="-120"/>
              </a:rPr>
              <a:t>AI assistant, FAQ chatbot, floor-plan generator &amp; budget estimator all live.</a:t>
            </a:r>
            <a:endParaRPr lang="en-US" sz="1950" dirty="0"/>
          </a:p>
        </p:txBody>
      </p:sp>
      <p:sp>
        <p:nvSpPr>
          <p:cNvPr id="26" name="Shape 24"/>
          <p:cNvSpPr/>
          <p:nvPr/>
        </p:nvSpPr>
        <p:spPr>
          <a:xfrm>
            <a:off x="9477375" y="5249289"/>
            <a:ext cx="114300" cy="114300"/>
          </a:xfrm>
          <a:prstGeom prst="roundRect">
            <a:avLst>
              <a:gd name="adj" fmla="val 25000"/>
            </a:avLst>
          </a:prstGeom>
          <a:solidFill>
            <a:srgbClr val="2F8F57">
              <a:alpha val="83000"/>
            </a:srgbClr>
          </a:solidFill>
          <a:ln/>
        </p:spPr>
      </p:sp>
      <p:sp>
        <p:nvSpPr>
          <p:cNvPr id="27" name="Text 25"/>
          <p:cNvSpPr/>
          <p:nvPr/>
        </p:nvSpPr>
        <p:spPr>
          <a:xfrm>
            <a:off x="9763125" y="5134989"/>
            <a:ext cx="7799546" cy="731441"/>
          </a:xfrm>
          <a:prstGeom prst="rect">
            <a:avLst/>
          </a:prstGeom>
          <a:noFill/>
          <a:ln/>
        </p:spPr>
        <p:txBody>
          <a:bodyPr wrap="square" lIns="25400" tIns="25400" rIns="25400" bIns="25400" rtlCol="0" anchor="t">
            <a:normAutofit/>
          </a:bodyPr>
          <a:lstStyle/>
          <a:p>
            <a:pPr marL="0" indent="0" algn="l">
              <a:lnSpc>
                <a:spcPct val="118696"/>
              </a:lnSpc>
              <a:buNone/>
            </a:pPr>
            <a:r>
              <a:rPr lang="en-US" sz="1950" dirty="0">
                <a:solidFill>
                  <a:srgbClr val="F7F4EF">
                    <a:alpha val="83000"/>
                  </a:srgbClr>
                </a:solidFill>
                <a:latin typeface="Arial" pitchFamily="34" charset="0"/>
                <a:ea typeface="Arial" pitchFamily="34" charset="-122"/>
                <a:cs typeface="Arial" pitchFamily="34" charset="-120"/>
              </a:rPr>
              <a:t>Security hardened — JWT, account lockout, audit trail &amp; rate limiting.</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952500" y="762610"/>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THE WORKING PRODUCT</a:t>
            </a:r>
            <a:endParaRPr lang="en-US" sz="1650" dirty="0"/>
          </a:p>
        </p:txBody>
      </p:sp>
      <p:sp>
        <p:nvSpPr>
          <p:cNvPr id="3" name="Text 1"/>
          <p:cNvSpPr/>
          <p:nvPr/>
        </p:nvSpPr>
        <p:spPr>
          <a:xfrm>
            <a:off x="952500" y="1142502"/>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1A1714">
                    <a:alpha val="98000"/>
                  </a:srgbClr>
                </a:solidFill>
                <a:latin typeface="Arial" pitchFamily="34" charset="0"/>
                <a:ea typeface="Arial" pitchFamily="34" charset="-122"/>
                <a:cs typeface="Arial" pitchFamily="34" charset="-120"/>
              </a:rPr>
              <a:t>Project as Product</a:t>
            </a:r>
            <a:endParaRPr lang="en-US" sz="4350" dirty="0"/>
          </a:p>
        </p:txBody>
      </p:sp>
      <p:pic>
        <p:nvPicPr>
          <p:cNvPr id="4" name="Image 0" descr="preencoded.png"/>
          <p:cNvPicPr>
            <a:picLocks noChangeAspect="1"/>
          </p:cNvPicPr>
          <p:nvPr/>
        </p:nvPicPr>
        <p:blipFill>
          <a:blip r:embed="rId3"/>
          <a:stretch>
            <a:fillRect/>
          </a:stretch>
        </p:blipFill>
        <p:spPr>
          <a:xfrm>
            <a:off x="952500" y="2101627"/>
            <a:ext cx="8048625" cy="3235325"/>
          </a:xfrm>
          <a:prstGeom prst="rect">
            <a:avLst/>
          </a:prstGeom>
        </p:spPr>
      </p:pic>
      <p:sp>
        <p:nvSpPr>
          <p:cNvPr id="5" name="Text 2"/>
          <p:cNvSpPr/>
          <p:nvPr/>
        </p:nvSpPr>
        <p:spPr>
          <a:xfrm>
            <a:off x="952500" y="5451252"/>
            <a:ext cx="2222321"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714">
                    <a:alpha val="92000"/>
                  </a:srgbClr>
                </a:solidFill>
                <a:latin typeface="Arial" pitchFamily="34" charset="0"/>
                <a:ea typeface="Arial" pitchFamily="34" charset="-122"/>
                <a:cs typeface="Arial" pitchFamily="34" charset="-120"/>
              </a:rPr>
              <a:t>Project Marketplace</a:t>
            </a:r>
            <a:endParaRPr lang="en-US" sz="1800" dirty="0"/>
          </a:p>
        </p:txBody>
      </p:sp>
      <p:sp>
        <p:nvSpPr>
          <p:cNvPr id="6" name="Text 3"/>
          <p:cNvSpPr/>
          <p:nvPr/>
        </p:nvSpPr>
        <p:spPr>
          <a:xfrm>
            <a:off x="3106142" y="5476652"/>
            <a:ext cx="3276838" cy="266700"/>
          </a:xfrm>
          <a:prstGeom prst="rect">
            <a:avLst/>
          </a:prstGeom>
          <a:noFill/>
          <a:ln/>
        </p:spPr>
        <p:txBody>
          <a:bodyPr wrap="square" lIns="25400" tIns="25400" rIns="25400" bIns="25400" rtlCol="0" anchor="t">
            <a:normAutofit/>
          </a:bodyPr>
          <a:lstStyle/>
          <a:p>
            <a:pPr marL="0" indent="0" algn="l">
              <a:buNone/>
            </a:pPr>
            <a:r>
              <a:rPr lang="en-US" sz="1350" dirty="0">
                <a:solidFill>
                  <a:srgbClr val="6B625A">
                    <a:alpha val="92000"/>
                  </a:srgbClr>
                </a:solidFill>
                <a:latin typeface="Arial" pitchFamily="34" charset="0"/>
                <a:ea typeface="Arial" pitchFamily="34" charset="-122"/>
                <a:cs typeface="Arial" pitchFamily="34" charset="-120"/>
              </a:rPr>
              <a:t>Browse, filter &amp; bid on posted projects.</a:t>
            </a:r>
            <a:endParaRPr lang="en-US" sz="1350" dirty="0"/>
          </a:p>
        </p:txBody>
      </p:sp>
      <p:pic>
        <p:nvPicPr>
          <p:cNvPr id="7" name="Image 1" descr="preencoded.png"/>
          <p:cNvPicPr>
            <a:picLocks noChangeAspect="1"/>
          </p:cNvPicPr>
          <p:nvPr/>
        </p:nvPicPr>
        <p:blipFill>
          <a:blip r:embed="rId4"/>
          <a:stretch>
            <a:fillRect/>
          </a:stretch>
        </p:blipFill>
        <p:spPr>
          <a:xfrm>
            <a:off x="9286875" y="2101627"/>
            <a:ext cx="8048625" cy="3235325"/>
          </a:xfrm>
          <a:prstGeom prst="rect">
            <a:avLst/>
          </a:prstGeom>
        </p:spPr>
      </p:pic>
      <p:sp>
        <p:nvSpPr>
          <p:cNvPr id="8" name="Text 4"/>
          <p:cNvSpPr/>
          <p:nvPr/>
        </p:nvSpPr>
        <p:spPr>
          <a:xfrm>
            <a:off x="9286875" y="5451252"/>
            <a:ext cx="2082840"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A1714">
                    <a:alpha val="92000"/>
                  </a:srgbClr>
                </a:solidFill>
                <a:latin typeface="Arial" pitchFamily="34" charset="0"/>
                <a:ea typeface="Arial" pitchFamily="34" charset="-122"/>
                <a:cs typeface="Arial" pitchFamily="34" charset="-120"/>
              </a:rPr>
              <a:t>Project Dashboard</a:t>
            </a:r>
            <a:endParaRPr lang="en-US" sz="1800" dirty="0"/>
          </a:p>
        </p:txBody>
      </p:sp>
      <p:sp>
        <p:nvSpPr>
          <p:cNvPr id="9" name="Text 5"/>
          <p:cNvSpPr/>
          <p:nvPr/>
        </p:nvSpPr>
        <p:spPr>
          <a:xfrm>
            <a:off x="11313716" y="5476652"/>
            <a:ext cx="285817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6B625A">
                    <a:alpha val="92000"/>
                  </a:srgbClr>
                </a:solidFill>
                <a:latin typeface="Arial" pitchFamily="34" charset="0"/>
                <a:ea typeface="Arial" pitchFamily="34" charset="-122"/>
                <a:cs typeface="Arial" pitchFamily="34" charset="-120"/>
              </a:rPr>
              <a:t>Milestones, payments &amp; progress.</a:t>
            </a:r>
            <a:endParaRPr lang="en-US" sz="1350" dirty="0"/>
          </a:p>
        </p:txBody>
      </p:sp>
      <p:pic>
        <p:nvPicPr>
          <p:cNvPr id="10" name="Image 2" descr="preencoded.png"/>
          <p:cNvPicPr>
            <a:picLocks noChangeAspect="1"/>
          </p:cNvPicPr>
          <p:nvPr/>
        </p:nvPicPr>
        <p:blipFill>
          <a:blip r:embed="rId5"/>
          <a:stretch>
            <a:fillRect/>
          </a:stretch>
        </p:blipFill>
        <p:spPr>
          <a:xfrm>
            <a:off x="952500" y="5927502"/>
            <a:ext cx="8048625" cy="3235325"/>
          </a:xfrm>
          <a:prstGeom prst="rect">
            <a:avLst/>
          </a:prstGeom>
        </p:spPr>
      </p:pic>
      <p:sp>
        <p:nvSpPr>
          <p:cNvPr id="11" name="Text 6"/>
          <p:cNvSpPr/>
          <p:nvPr/>
        </p:nvSpPr>
        <p:spPr>
          <a:xfrm>
            <a:off x="952500" y="9277127"/>
            <a:ext cx="192895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A1714">
                    <a:alpha val="92000"/>
                  </a:srgbClr>
                </a:solidFill>
                <a:latin typeface="Arial" pitchFamily="34" charset="0"/>
                <a:ea typeface="Arial" pitchFamily="34" charset="-122"/>
                <a:cs typeface="Arial" pitchFamily="34" charset="-120"/>
              </a:rPr>
              <a:t>Floor Plan Studio</a:t>
            </a:r>
            <a:endParaRPr lang="en-US" sz="1800" dirty="0"/>
          </a:p>
        </p:txBody>
      </p:sp>
      <p:sp>
        <p:nvSpPr>
          <p:cNvPr id="12" name="Text 7"/>
          <p:cNvSpPr/>
          <p:nvPr/>
        </p:nvSpPr>
        <p:spPr>
          <a:xfrm>
            <a:off x="2839442" y="9302527"/>
            <a:ext cx="290576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6B625A">
                    <a:alpha val="92000"/>
                  </a:srgbClr>
                </a:solidFill>
                <a:latin typeface="Arial" pitchFamily="34" charset="0"/>
                <a:ea typeface="Arial" pitchFamily="34" charset="-122"/>
                <a:cs typeface="Arial" pitchFamily="34" charset="-120"/>
              </a:rPr>
              <a:t>AI-generated, editable floor plans.</a:t>
            </a:r>
            <a:endParaRPr lang="en-US" sz="1350" dirty="0"/>
          </a:p>
        </p:txBody>
      </p:sp>
      <p:pic>
        <p:nvPicPr>
          <p:cNvPr id="13" name="Image 3" descr="preencoded.png"/>
          <p:cNvPicPr>
            <a:picLocks noChangeAspect="1"/>
          </p:cNvPicPr>
          <p:nvPr/>
        </p:nvPicPr>
        <p:blipFill>
          <a:blip r:embed="rId6"/>
          <a:stretch>
            <a:fillRect/>
          </a:stretch>
        </p:blipFill>
        <p:spPr>
          <a:xfrm>
            <a:off x="9286875" y="5927502"/>
            <a:ext cx="8048625" cy="3235325"/>
          </a:xfrm>
          <a:prstGeom prst="rect">
            <a:avLst/>
          </a:prstGeom>
        </p:spPr>
      </p:pic>
      <p:sp>
        <p:nvSpPr>
          <p:cNvPr id="14" name="Text 8"/>
          <p:cNvSpPr/>
          <p:nvPr/>
        </p:nvSpPr>
        <p:spPr>
          <a:xfrm>
            <a:off x="9286875" y="9277127"/>
            <a:ext cx="1313835"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A1714">
                    <a:alpha val="92000"/>
                  </a:srgbClr>
                </a:solidFill>
                <a:latin typeface="Arial" pitchFamily="34" charset="0"/>
                <a:ea typeface="Arial" pitchFamily="34" charset="-122"/>
                <a:cs typeface="Arial" pitchFamily="34" charset="-120"/>
              </a:rPr>
              <a:t>AI Assistant</a:t>
            </a:r>
            <a:endParaRPr lang="en-US" sz="1800" dirty="0"/>
          </a:p>
        </p:txBody>
      </p:sp>
      <p:sp>
        <p:nvSpPr>
          <p:cNvPr id="15" name="Text 9"/>
          <p:cNvSpPr/>
          <p:nvPr/>
        </p:nvSpPr>
        <p:spPr>
          <a:xfrm>
            <a:off x="10614621" y="9302527"/>
            <a:ext cx="3048953" cy="266700"/>
          </a:xfrm>
          <a:prstGeom prst="rect">
            <a:avLst/>
          </a:prstGeom>
          <a:noFill/>
          <a:ln/>
        </p:spPr>
        <p:txBody>
          <a:bodyPr wrap="square" lIns="25400" tIns="25400" rIns="25400" bIns="25400" rtlCol="0" anchor="t">
            <a:normAutofit/>
          </a:bodyPr>
          <a:lstStyle/>
          <a:p>
            <a:pPr marL="0" indent="0" algn="l">
              <a:buNone/>
            </a:pPr>
            <a:r>
              <a:rPr lang="en-US" sz="1350" dirty="0">
                <a:solidFill>
                  <a:srgbClr val="6B625A">
                    <a:alpha val="92000"/>
                  </a:srgbClr>
                </a:solidFill>
                <a:latin typeface="Arial" pitchFamily="34" charset="0"/>
                <a:ea typeface="Arial" pitchFamily="34" charset="-122"/>
                <a:cs typeface="Arial" pitchFamily="34" charset="-120"/>
              </a:rPr>
              <a:t>Advice on budgeting &amp; construction.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952500" y="762607"/>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HOW IT SUSTAINS ITSELF</a:t>
            </a:r>
            <a:endParaRPr lang="en-US" sz="1650" dirty="0"/>
          </a:p>
        </p:txBody>
      </p:sp>
      <p:sp>
        <p:nvSpPr>
          <p:cNvPr id="3" name="Text 1"/>
          <p:cNvSpPr/>
          <p:nvPr/>
        </p:nvSpPr>
        <p:spPr>
          <a:xfrm>
            <a:off x="952500" y="1142493"/>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1A1714">
                    <a:alpha val="98000"/>
                  </a:srgbClr>
                </a:solidFill>
                <a:latin typeface="Arial" pitchFamily="34" charset="0"/>
                <a:ea typeface="Arial" pitchFamily="34" charset="-122"/>
                <a:cs typeface="Arial" pitchFamily="34" charset="-120"/>
              </a:rPr>
              <a:t>Business Model</a:t>
            </a:r>
            <a:endParaRPr lang="en-US" sz="4350" dirty="0"/>
          </a:p>
        </p:txBody>
      </p:sp>
      <p:sp>
        <p:nvSpPr>
          <p:cNvPr id="4" name="Shape 2"/>
          <p:cNvSpPr/>
          <p:nvPr/>
        </p:nvSpPr>
        <p:spPr>
          <a:xfrm>
            <a:off x="952500" y="2101609"/>
            <a:ext cx="8362950" cy="7442200"/>
          </a:xfrm>
          <a:prstGeom prst="roundRect">
            <a:avLst>
              <a:gd name="adj" fmla="val 2304"/>
            </a:avLst>
          </a:prstGeom>
          <a:solidFill>
            <a:srgbClr val="FFFFFF">
              <a:alpha val="92000"/>
            </a:srgbClr>
          </a:solidFill>
          <a:ln/>
          <a:effectLst>
            <a:outerShdw blurRad="285750" dist="114300" dir="5400000" algn="bl" rotWithShape="0">
              <a:srgbClr val="1A1714">
                <a:alpha val="5544"/>
              </a:srgbClr>
            </a:outerShdw>
          </a:effectLst>
        </p:spPr>
      </p:sp>
      <p:sp>
        <p:nvSpPr>
          <p:cNvPr id="5" name="Text 3"/>
          <p:cNvSpPr/>
          <p:nvPr/>
        </p:nvSpPr>
        <p:spPr>
          <a:xfrm>
            <a:off x="1276350" y="2463560"/>
            <a:ext cx="8486775" cy="3683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1714">
                    <a:alpha val="92000"/>
                  </a:srgbClr>
                </a:solidFill>
                <a:latin typeface="Arial" pitchFamily="34" charset="0"/>
                <a:ea typeface="Arial" pitchFamily="34" charset="-122"/>
                <a:cs typeface="Arial" pitchFamily="34" charset="-120"/>
              </a:rPr>
              <a:t>Two-sided marketplace</a:t>
            </a:r>
            <a:endParaRPr lang="en-US" sz="2250" dirty="0"/>
          </a:p>
        </p:txBody>
      </p:sp>
      <p:sp>
        <p:nvSpPr>
          <p:cNvPr id="6" name="Text 4"/>
          <p:cNvSpPr/>
          <p:nvPr/>
        </p:nvSpPr>
        <p:spPr>
          <a:xfrm>
            <a:off x="1276350" y="2869959"/>
            <a:ext cx="8486775" cy="317500"/>
          </a:xfrm>
          <a:prstGeom prst="rect">
            <a:avLst/>
          </a:prstGeom>
          <a:noFill/>
          <a:ln/>
        </p:spPr>
        <p:txBody>
          <a:bodyPr wrap="square" lIns="25400" tIns="25400" rIns="25400" bIns="25400" rtlCol="0" anchor="t">
            <a:normAutofit/>
          </a:bodyPr>
          <a:lstStyle/>
          <a:p>
            <a:pPr marL="0" indent="0" algn="l">
              <a:buNone/>
            </a:pPr>
            <a:r>
              <a:rPr lang="en-US" sz="1650" dirty="0">
                <a:solidFill>
                  <a:srgbClr val="6B625A">
                    <a:alpha val="92000"/>
                  </a:srgbClr>
                </a:solidFill>
                <a:latin typeface="Arial" pitchFamily="34" charset="0"/>
                <a:ea typeface="Arial" pitchFamily="34" charset="-122"/>
                <a:cs typeface="Arial" pitchFamily="34" charset="-120"/>
              </a:rPr>
              <a:t>More clients attract more builders — and vice versa.</a:t>
            </a:r>
            <a:endParaRPr lang="en-US" sz="1650" dirty="0"/>
          </a:p>
        </p:txBody>
      </p:sp>
      <p:sp>
        <p:nvSpPr>
          <p:cNvPr id="7" name="Shape 5"/>
          <p:cNvSpPr/>
          <p:nvPr/>
        </p:nvSpPr>
        <p:spPr>
          <a:xfrm>
            <a:off x="1276350" y="3397010"/>
            <a:ext cx="3585369" cy="1003300"/>
          </a:xfrm>
          <a:prstGeom prst="roundRect">
            <a:avLst>
              <a:gd name="adj" fmla="val 11392"/>
            </a:avLst>
          </a:prstGeom>
          <a:solidFill>
            <a:srgbClr val="F7F4EF">
              <a:alpha val="92000"/>
            </a:srgbClr>
          </a:solidFill>
          <a:ln/>
        </p:spPr>
      </p:sp>
      <p:sp>
        <p:nvSpPr>
          <p:cNvPr id="8" name="Text 6"/>
          <p:cNvSpPr/>
          <p:nvPr/>
        </p:nvSpPr>
        <p:spPr>
          <a:xfrm>
            <a:off x="1432119" y="3606560"/>
            <a:ext cx="3273830" cy="622300"/>
          </a:xfrm>
          <a:prstGeom prst="rect">
            <a:avLst/>
          </a:prstGeom>
          <a:noFill/>
          <a:ln/>
        </p:spPr>
        <p:txBody>
          <a:bodyPr wrap="square" lIns="25400" tIns="25400" rIns="25400" bIns="25400" rtlCol="0" anchor="t">
            <a:normAutofit/>
          </a:bodyPr>
          <a:lstStyle/>
          <a:p>
            <a:pPr marL="0" indent="0" algn="ctr">
              <a:buNone/>
            </a:pPr>
            <a:r>
              <a:rPr lang="en-US" sz="1725" b="1" dirty="0">
                <a:solidFill>
                  <a:srgbClr val="1A1714">
                    <a:alpha val="92000"/>
                  </a:srgbClr>
                </a:solidFill>
                <a:latin typeface="Arial" pitchFamily="34" charset="0"/>
                <a:ea typeface="Arial" pitchFamily="34" charset="-122"/>
                <a:cs typeface="Arial" pitchFamily="34" charset="-120"/>
              </a:rPr>
              <a:t>Clients </a:t>
            </a:r>
            <a:r>
              <a:rPr lang="en-US" sz="1725" b="1" dirty="0">
                <a:solidFill>
                  <a:srgbClr val="2F8F57">
                    <a:alpha val="92000"/>
                  </a:srgbClr>
                </a:solidFill>
                <a:latin typeface="Arial" pitchFamily="34" charset="0"/>
                <a:ea typeface="Arial" pitchFamily="34" charset="-122"/>
                <a:cs typeface="Arial" pitchFamily="34" charset="-120"/>
              </a:rPr>
              <a:t>Free to post &amp; hire</a:t>
            </a:r>
            <a:endParaRPr lang="en-US" sz="1725" dirty="0"/>
          </a:p>
        </p:txBody>
      </p:sp>
      <p:sp>
        <p:nvSpPr>
          <p:cNvPr id="9" name="Text 7"/>
          <p:cNvSpPr/>
          <p:nvPr/>
        </p:nvSpPr>
        <p:spPr>
          <a:xfrm>
            <a:off x="5014119" y="3708159"/>
            <a:ext cx="315714" cy="419100"/>
          </a:xfrm>
          <a:prstGeom prst="rect">
            <a:avLst/>
          </a:prstGeom>
          <a:noFill/>
          <a:ln/>
        </p:spPr>
        <p:txBody>
          <a:bodyPr wrap="square" lIns="25400" tIns="25400" rIns="25400" bIns="25400" rtlCol="0" anchor="t">
            <a:normAutofit/>
          </a:bodyPr>
          <a:lstStyle/>
          <a:p>
            <a:pPr marL="0" indent="0" algn="l">
              <a:buNone/>
            </a:pPr>
            <a:r>
              <a:rPr lang="en-US" sz="2250" dirty="0">
                <a:solidFill>
                  <a:srgbClr val="F2661A">
                    <a:alpha val="92000"/>
                  </a:srgbClr>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5406033" y="3397010"/>
            <a:ext cx="3585567" cy="1003300"/>
          </a:xfrm>
          <a:prstGeom prst="roundRect">
            <a:avLst>
              <a:gd name="adj" fmla="val 11392"/>
            </a:avLst>
          </a:prstGeom>
          <a:solidFill>
            <a:srgbClr val="F7F4EF">
              <a:alpha val="92000"/>
            </a:srgbClr>
          </a:solidFill>
          <a:ln/>
        </p:spPr>
      </p:sp>
      <p:sp>
        <p:nvSpPr>
          <p:cNvPr id="11" name="Text 9"/>
          <p:cNvSpPr/>
          <p:nvPr/>
        </p:nvSpPr>
        <p:spPr>
          <a:xfrm>
            <a:off x="5561799" y="3606560"/>
            <a:ext cx="3274034" cy="622300"/>
          </a:xfrm>
          <a:prstGeom prst="rect">
            <a:avLst/>
          </a:prstGeom>
          <a:noFill/>
          <a:ln/>
        </p:spPr>
        <p:txBody>
          <a:bodyPr wrap="square" lIns="25400" tIns="25400" rIns="25400" bIns="25400" rtlCol="0" anchor="t">
            <a:normAutofit/>
          </a:bodyPr>
          <a:lstStyle/>
          <a:p>
            <a:pPr marL="0" indent="0" algn="ctr">
              <a:buNone/>
            </a:pPr>
            <a:r>
              <a:rPr lang="en-US" sz="1725" b="1" dirty="0">
                <a:solidFill>
                  <a:srgbClr val="1A1714">
                    <a:alpha val="92000"/>
                  </a:srgbClr>
                </a:solidFill>
                <a:latin typeface="Arial" pitchFamily="34" charset="0"/>
                <a:ea typeface="Arial" pitchFamily="34" charset="-122"/>
                <a:cs typeface="Arial" pitchFamily="34" charset="-120"/>
              </a:rPr>
              <a:t>Builders </a:t>
            </a:r>
            <a:r>
              <a:rPr lang="en-US" sz="1725" b="1" dirty="0">
                <a:solidFill>
                  <a:srgbClr val="F2661A">
                    <a:alpha val="92000"/>
                  </a:srgbClr>
                </a:solidFill>
                <a:latin typeface="Arial" pitchFamily="34" charset="0"/>
                <a:ea typeface="Arial" pitchFamily="34" charset="-122"/>
                <a:cs typeface="Arial" pitchFamily="34" charset="-120"/>
              </a:rPr>
              <a:t>Pay to reach clients</a:t>
            </a:r>
            <a:endParaRPr lang="en-US" sz="1725" dirty="0"/>
          </a:p>
        </p:txBody>
      </p:sp>
      <p:sp>
        <p:nvSpPr>
          <p:cNvPr id="12" name="Text 10"/>
          <p:cNvSpPr/>
          <p:nvPr/>
        </p:nvSpPr>
        <p:spPr>
          <a:xfrm>
            <a:off x="1276350" y="8867535"/>
            <a:ext cx="7946708" cy="352425"/>
          </a:xfrm>
          <a:prstGeom prst="rect">
            <a:avLst/>
          </a:prstGeom>
          <a:noFill/>
          <a:ln/>
        </p:spPr>
        <p:txBody>
          <a:bodyPr wrap="square" lIns="25400" tIns="25400" rIns="25400" bIns="25400" rtlCol="0" anchor="t">
            <a:normAutofit fontScale="92500"/>
          </a:bodyPr>
          <a:lstStyle/>
          <a:p>
            <a:pPr marL="0" indent="0" algn="l">
              <a:lnSpc>
                <a:spcPct val="130263"/>
              </a:lnSpc>
              <a:buNone/>
            </a:pPr>
            <a:r>
              <a:rPr lang="en-US" sz="1650" dirty="0">
                <a:solidFill>
                  <a:srgbClr val="4A423B">
                    <a:alpha val="92000"/>
                  </a:srgbClr>
                </a:solidFill>
                <a:latin typeface="Arial" pitchFamily="34" charset="0"/>
                <a:ea typeface="Arial" pitchFamily="34" charset="-122"/>
                <a:cs typeface="Arial" pitchFamily="34" charset="-120"/>
              </a:rPr>
              <a:t>Suppliers also sell materials through the marketplace, widening the network.</a:t>
            </a:r>
            <a:endParaRPr lang="en-US" sz="1650" dirty="0"/>
          </a:p>
        </p:txBody>
      </p:sp>
      <p:sp>
        <p:nvSpPr>
          <p:cNvPr id="13" name="Shape 11"/>
          <p:cNvSpPr/>
          <p:nvPr/>
        </p:nvSpPr>
        <p:spPr>
          <a:xfrm>
            <a:off x="9620250" y="2101609"/>
            <a:ext cx="7715250" cy="3606800"/>
          </a:xfrm>
          <a:prstGeom prst="roundRect">
            <a:avLst>
              <a:gd name="adj" fmla="val 4754"/>
            </a:avLst>
          </a:prstGeom>
          <a:solidFill>
            <a:srgbClr val="1A1714">
              <a:alpha val="92000"/>
            </a:srgbClr>
          </a:solidFill>
          <a:ln/>
        </p:spPr>
      </p:sp>
      <p:sp>
        <p:nvSpPr>
          <p:cNvPr id="14" name="Shape 12"/>
          <p:cNvSpPr/>
          <p:nvPr/>
        </p:nvSpPr>
        <p:spPr>
          <a:xfrm>
            <a:off x="9620250" y="2101609"/>
            <a:ext cx="50800" cy="3606800"/>
          </a:xfrm>
          <a:prstGeom prst="rect">
            <a:avLst/>
          </a:prstGeom>
          <a:solidFill>
            <a:srgbClr val="F2661A">
              <a:alpha val="92000"/>
            </a:srgbClr>
          </a:solidFill>
          <a:ln/>
        </p:spPr>
      </p:sp>
      <p:sp>
        <p:nvSpPr>
          <p:cNvPr id="15" name="Text 13"/>
          <p:cNvSpPr/>
          <p:nvPr/>
        </p:nvSpPr>
        <p:spPr>
          <a:xfrm>
            <a:off x="9994900" y="2425459"/>
            <a:ext cx="771842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7F4EF">
                    <a:alpha val="92000"/>
                  </a:srgbClr>
                </a:solidFill>
                <a:latin typeface="Arial" pitchFamily="34" charset="0"/>
                <a:ea typeface="Arial" pitchFamily="34" charset="-122"/>
                <a:cs typeface="Arial" pitchFamily="34" charset="-120"/>
              </a:rPr>
              <a:t>Builder subscriptions</a:t>
            </a:r>
            <a:endParaRPr lang="en-US" sz="2100" dirty="0"/>
          </a:p>
        </p:txBody>
      </p:sp>
      <p:sp>
        <p:nvSpPr>
          <p:cNvPr id="16" name="Text 14"/>
          <p:cNvSpPr/>
          <p:nvPr/>
        </p:nvSpPr>
        <p:spPr>
          <a:xfrm>
            <a:off x="9994900" y="2844560"/>
            <a:ext cx="7227253" cy="687388"/>
          </a:xfrm>
          <a:prstGeom prst="rect">
            <a:avLst/>
          </a:prstGeom>
          <a:noFill/>
          <a:ln/>
        </p:spPr>
        <p:txBody>
          <a:bodyPr wrap="square" lIns="25400" tIns="25400" rIns="25400" bIns="25400" rtlCol="0" anchor="t">
            <a:normAutofit lnSpcReduction="10000"/>
          </a:bodyPr>
          <a:lstStyle/>
          <a:p>
            <a:pPr marL="0" indent="0" algn="l">
              <a:lnSpc>
                <a:spcPct val="134605"/>
              </a:lnSpc>
              <a:buNone/>
            </a:pPr>
            <a:r>
              <a:rPr lang="en-US" sz="1650" dirty="0">
                <a:solidFill>
                  <a:srgbClr val="E6DDD2">
                    <a:alpha val="92000"/>
                  </a:srgbClr>
                </a:solidFill>
                <a:latin typeface="Arial" pitchFamily="34" charset="0"/>
                <a:ea typeface="Arial" pitchFamily="34" charset="-122"/>
                <a:cs typeface="Arial" pitchFamily="34" charset="-120"/>
              </a:rPr>
              <a:t>Tiered plans (Free → Enterprise) unlock more active bids, portfolio slots &amp; featured placement.</a:t>
            </a:r>
            <a:endParaRPr lang="en-US" sz="1650" dirty="0"/>
          </a:p>
        </p:txBody>
      </p:sp>
      <p:sp>
        <p:nvSpPr>
          <p:cNvPr id="17" name="Shape 15"/>
          <p:cNvSpPr/>
          <p:nvPr/>
        </p:nvSpPr>
        <p:spPr>
          <a:xfrm>
            <a:off x="9620250" y="5937010"/>
            <a:ext cx="7715250" cy="3606800"/>
          </a:xfrm>
          <a:prstGeom prst="roundRect">
            <a:avLst>
              <a:gd name="adj" fmla="val 4754"/>
            </a:avLst>
          </a:prstGeom>
          <a:solidFill>
            <a:srgbClr val="EFE7DB">
              <a:alpha val="92000"/>
            </a:srgbClr>
          </a:solidFill>
          <a:ln/>
        </p:spPr>
      </p:sp>
      <p:sp>
        <p:nvSpPr>
          <p:cNvPr id="18" name="Shape 16"/>
          <p:cNvSpPr/>
          <p:nvPr/>
        </p:nvSpPr>
        <p:spPr>
          <a:xfrm>
            <a:off x="9620250" y="5937010"/>
            <a:ext cx="50800" cy="3606800"/>
          </a:xfrm>
          <a:prstGeom prst="rect">
            <a:avLst/>
          </a:prstGeom>
          <a:solidFill>
            <a:srgbClr val="2F8F57">
              <a:alpha val="92000"/>
            </a:srgbClr>
          </a:solidFill>
          <a:ln/>
        </p:spPr>
      </p:sp>
      <p:sp>
        <p:nvSpPr>
          <p:cNvPr id="19" name="Text 17"/>
          <p:cNvSpPr/>
          <p:nvPr/>
        </p:nvSpPr>
        <p:spPr>
          <a:xfrm>
            <a:off x="9994900" y="6260860"/>
            <a:ext cx="771842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1714">
                    <a:alpha val="92000"/>
                  </a:srgbClr>
                </a:solidFill>
                <a:latin typeface="Arial" pitchFamily="34" charset="0"/>
                <a:ea typeface="Arial" pitchFamily="34" charset="-122"/>
                <a:cs typeface="Arial" pitchFamily="34" charset="-120"/>
              </a:rPr>
              <a:t>Lead credits</a:t>
            </a:r>
            <a:endParaRPr lang="en-US" sz="2100" dirty="0"/>
          </a:p>
        </p:txBody>
      </p:sp>
      <p:sp>
        <p:nvSpPr>
          <p:cNvPr id="20" name="Text 18"/>
          <p:cNvSpPr/>
          <p:nvPr/>
        </p:nvSpPr>
        <p:spPr>
          <a:xfrm>
            <a:off x="9994900" y="6679960"/>
            <a:ext cx="7227253" cy="687388"/>
          </a:xfrm>
          <a:prstGeom prst="rect">
            <a:avLst/>
          </a:prstGeom>
          <a:noFill/>
          <a:ln/>
        </p:spPr>
        <p:txBody>
          <a:bodyPr wrap="square" lIns="25400" tIns="25400" rIns="25400" bIns="25400" rtlCol="0" anchor="t">
            <a:normAutofit lnSpcReduction="10000"/>
          </a:bodyPr>
          <a:lstStyle/>
          <a:p>
            <a:pPr marL="0" indent="0" algn="l">
              <a:lnSpc>
                <a:spcPct val="134605"/>
              </a:lnSpc>
              <a:buNone/>
            </a:pPr>
            <a:r>
              <a:rPr lang="en-US" sz="1650" dirty="0">
                <a:solidFill>
                  <a:srgbClr val="4A423B">
                    <a:alpha val="92000"/>
                  </a:srgbClr>
                </a:solidFill>
                <a:latin typeface="Arial" pitchFamily="34" charset="0"/>
                <a:ea typeface="Arial" pitchFamily="34" charset="-122"/>
                <a:cs typeface="Arial" pitchFamily="34" charset="-120"/>
              </a:rPr>
              <a:t>Builders spend credits to unlock project leads — pay-as-you-grow on top of subscriptions.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952500" y="762278"/>
            <a:ext cx="180213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COSTING &amp; PRICING</a:t>
            </a:r>
            <a:endParaRPr lang="en-US" sz="1650" dirty="0"/>
          </a:p>
        </p:txBody>
      </p:sp>
      <p:sp>
        <p:nvSpPr>
          <p:cNvPr id="3" name="Text 1"/>
          <p:cNvSpPr/>
          <p:nvPr/>
        </p:nvSpPr>
        <p:spPr>
          <a:xfrm>
            <a:off x="952500" y="1141174"/>
            <a:ext cx="18021300" cy="660400"/>
          </a:xfrm>
          <a:prstGeom prst="rect">
            <a:avLst/>
          </a:prstGeom>
          <a:noFill/>
          <a:ln/>
        </p:spPr>
        <p:txBody>
          <a:bodyPr wrap="square" lIns="25400" tIns="25400" rIns="25400" bIns="25400" rtlCol="0" anchor="t">
            <a:normAutofit lnSpcReduction="10000"/>
          </a:bodyPr>
          <a:lstStyle/>
          <a:p>
            <a:pPr marL="0" indent="0" algn="l">
              <a:buNone/>
            </a:pPr>
            <a:r>
              <a:rPr lang="en-US" sz="4350" b="1" kern="0" spc="-43" dirty="0">
                <a:solidFill>
                  <a:srgbClr val="F7F4EF">
                    <a:alpha val="98000"/>
                  </a:srgbClr>
                </a:solidFill>
                <a:latin typeface="Arial" pitchFamily="34" charset="0"/>
                <a:ea typeface="Arial" pitchFamily="34" charset="-122"/>
                <a:cs typeface="Arial" pitchFamily="34" charset="-120"/>
              </a:rPr>
              <a:t>Product Costing</a:t>
            </a:r>
            <a:endParaRPr lang="en-US" sz="4350" dirty="0"/>
          </a:p>
        </p:txBody>
      </p:sp>
      <p:sp>
        <p:nvSpPr>
          <p:cNvPr id="4" name="Text 2"/>
          <p:cNvSpPr/>
          <p:nvPr/>
        </p:nvSpPr>
        <p:spPr>
          <a:xfrm>
            <a:off x="952500" y="2098739"/>
            <a:ext cx="7057688"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2661A">
                    <a:alpha val="94000"/>
                  </a:srgbClr>
                </a:solidFill>
                <a:latin typeface="Arial" pitchFamily="34" charset="0"/>
                <a:ea typeface="Arial" pitchFamily="34" charset="-122"/>
                <a:cs typeface="Arial" pitchFamily="34" charset="-120"/>
              </a:rPr>
              <a:t>Development cost</a:t>
            </a:r>
            <a:endParaRPr lang="en-US" sz="2100" dirty="0"/>
          </a:p>
        </p:txBody>
      </p:sp>
      <p:sp>
        <p:nvSpPr>
          <p:cNvPr id="5" name="Shape 3"/>
          <p:cNvSpPr/>
          <p:nvPr/>
        </p:nvSpPr>
        <p:spPr>
          <a:xfrm>
            <a:off x="952500" y="2594039"/>
            <a:ext cx="6416080" cy="635000"/>
          </a:xfrm>
          <a:prstGeom prst="roundRect">
            <a:avLst>
              <a:gd name="adj" fmla="val 15000"/>
            </a:avLst>
          </a:prstGeom>
          <a:solidFill>
            <a:srgbClr val="FFFFFF">
              <a:alpha val="5000"/>
            </a:srgbClr>
          </a:solidFill>
          <a:ln/>
        </p:spPr>
      </p:sp>
      <p:sp>
        <p:nvSpPr>
          <p:cNvPr id="6" name="Text 4"/>
          <p:cNvSpPr/>
          <p:nvPr/>
        </p:nvSpPr>
        <p:spPr>
          <a:xfrm>
            <a:off x="1162050" y="2765489"/>
            <a:ext cx="2348051" cy="330200"/>
          </a:xfrm>
          <a:prstGeom prst="rect">
            <a:avLst/>
          </a:prstGeom>
          <a:noFill/>
          <a:ln/>
        </p:spPr>
        <p:txBody>
          <a:bodyPr wrap="square" lIns="25400" tIns="25400" rIns="25400" bIns="25400" rtlCol="0" anchor="t">
            <a:normAutofit/>
          </a:bodyPr>
          <a:lstStyle/>
          <a:p>
            <a:pPr marL="0" indent="0" algn="l">
              <a:buNone/>
            </a:pPr>
            <a:r>
              <a:rPr lang="en-US" sz="1725" dirty="0">
                <a:solidFill>
                  <a:srgbClr val="F7F4EF">
                    <a:alpha val="94000"/>
                  </a:srgbClr>
                </a:solidFill>
                <a:latin typeface="Arial" pitchFamily="34" charset="0"/>
                <a:ea typeface="Arial" pitchFamily="34" charset="-122"/>
                <a:cs typeface="Arial" pitchFamily="34" charset="-120"/>
              </a:rPr>
              <a:t>Tooling &amp; frameworks</a:t>
            </a:r>
            <a:endParaRPr lang="en-US" sz="1725" dirty="0"/>
          </a:p>
        </p:txBody>
      </p:sp>
      <p:sp>
        <p:nvSpPr>
          <p:cNvPr id="7" name="Text 5"/>
          <p:cNvSpPr/>
          <p:nvPr/>
        </p:nvSpPr>
        <p:spPr>
          <a:xfrm>
            <a:off x="5892602" y="2765489"/>
            <a:ext cx="1393071" cy="330200"/>
          </a:xfrm>
          <a:prstGeom prst="rect">
            <a:avLst/>
          </a:prstGeom>
          <a:noFill/>
          <a:ln/>
        </p:spPr>
        <p:txBody>
          <a:bodyPr wrap="square" lIns="25400" tIns="25400" rIns="25400" bIns="25400" rtlCol="0" anchor="t">
            <a:normAutofit fontScale="92500"/>
          </a:bodyPr>
          <a:lstStyle/>
          <a:p>
            <a:pPr marL="0" indent="0" algn="l">
              <a:buNone/>
            </a:pPr>
            <a:r>
              <a:rPr lang="en-US" sz="1725" b="1" dirty="0">
                <a:solidFill>
                  <a:srgbClr val="2F8F57">
                    <a:alpha val="94000"/>
                  </a:srgbClr>
                </a:solidFill>
                <a:latin typeface="Arial" pitchFamily="34" charset="0"/>
                <a:ea typeface="Arial" pitchFamily="34" charset="-122"/>
                <a:cs typeface="Arial" pitchFamily="34" charset="-120"/>
              </a:rPr>
              <a:t>Open-source</a:t>
            </a:r>
            <a:endParaRPr lang="en-US" sz="1725" dirty="0"/>
          </a:p>
        </p:txBody>
      </p:sp>
      <p:sp>
        <p:nvSpPr>
          <p:cNvPr id="8" name="Shape 6"/>
          <p:cNvSpPr/>
          <p:nvPr/>
        </p:nvSpPr>
        <p:spPr>
          <a:xfrm>
            <a:off x="952500" y="3362389"/>
            <a:ext cx="6416080" cy="635000"/>
          </a:xfrm>
          <a:prstGeom prst="roundRect">
            <a:avLst>
              <a:gd name="adj" fmla="val 15000"/>
            </a:avLst>
          </a:prstGeom>
          <a:solidFill>
            <a:srgbClr val="FFFFFF">
              <a:alpha val="5000"/>
            </a:srgbClr>
          </a:solidFill>
          <a:ln/>
        </p:spPr>
      </p:sp>
      <p:sp>
        <p:nvSpPr>
          <p:cNvPr id="9" name="Text 7"/>
          <p:cNvSpPr/>
          <p:nvPr/>
        </p:nvSpPr>
        <p:spPr>
          <a:xfrm>
            <a:off x="1162050" y="3533839"/>
            <a:ext cx="2904669" cy="330200"/>
          </a:xfrm>
          <a:prstGeom prst="rect">
            <a:avLst/>
          </a:prstGeom>
          <a:noFill/>
          <a:ln/>
        </p:spPr>
        <p:txBody>
          <a:bodyPr wrap="square" lIns="25400" tIns="25400" rIns="25400" bIns="25400" rtlCol="0" anchor="t">
            <a:normAutofit/>
          </a:bodyPr>
          <a:lstStyle/>
          <a:p>
            <a:pPr marL="0" indent="0" algn="l">
              <a:buNone/>
            </a:pPr>
            <a:r>
              <a:rPr lang="en-US" sz="1725" dirty="0">
                <a:solidFill>
                  <a:srgbClr val="F7F4EF">
                    <a:alpha val="94000"/>
                  </a:srgbClr>
                </a:solidFill>
                <a:latin typeface="Arial" pitchFamily="34" charset="0"/>
                <a:ea typeface="Arial" pitchFamily="34" charset="-122"/>
                <a:cs typeface="Arial" pitchFamily="34" charset="-120"/>
              </a:rPr>
              <a:t>Team effort (4 × 12 weeks)</a:t>
            </a:r>
            <a:endParaRPr lang="en-US" sz="1725" dirty="0"/>
          </a:p>
        </p:txBody>
      </p:sp>
      <p:sp>
        <p:nvSpPr>
          <p:cNvPr id="10" name="Text 8"/>
          <p:cNvSpPr/>
          <p:nvPr/>
        </p:nvSpPr>
        <p:spPr>
          <a:xfrm>
            <a:off x="6437709" y="3533839"/>
            <a:ext cx="797520" cy="330200"/>
          </a:xfrm>
          <a:prstGeom prst="rect">
            <a:avLst/>
          </a:prstGeom>
          <a:noFill/>
          <a:ln/>
        </p:spPr>
        <p:txBody>
          <a:bodyPr wrap="square" lIns="25400" tIns="25400" rIns="25400" bIns="25400" rtlCol="0" anchor="t">
            <a:normAutofit/>
          </a:bodyPr>
          <a:lstStyle/>
          <a:p>
            <a:pPr marL="0" indent="0" algn="l">
              <a:buNone/>
            </a:pPr>
            <a:r>
              <a:rPr lang="en-US" sz="1725" dirty="0">
                <a:solidFill>
                  <a:srgbClr val="C9BEB2">
                    <a:alpha val="94000"/>
                  </a:srgbClr>
                </a:solidFill>
                <a:latin typeface="Arial" pitchFamily="34" charset="0"/>
                <a:ea typeface="Arial" pitchFamily="34" charset="-122"/>
                <a:cs typeface="Arial" pitchFamily="34" charset="-120"/>
              </a:rPr>
              <a:t>In-kind</a:t>
            </a:r>
            <a:endParaRPr lang="en-US" sz="1725" dirty="0"/>
          </a:p>
        </p:txBody>
      </p:sp>
      <p:sp>
        <p:nvSpPr>
          <p:cNvPr id="11" name="Shape 9"/>
          <p:cNvSpPr/>
          <p:nvPr/>
        </p:nvSpPr>
        <p:spPr>
          <a:xfrm>
            <a:off x="952500" y="4130739"/>
            <a:ext cx="6416080" cy="635000"/>
          </a:xfrm>
          <a:prstGeom prst="roundRect">
            <a:avLst>
              <a:gd name="adj" fmla="val 15000"/>
            </a:avLst>
          </a:prstGeom>
          <a:solidFill>
            <a:srgbClr val="FFFFFF">
              <a:alpha val="5000"/>
            </a:srgbClr>
          </a:solidFill>
          <a:ln/>
        </p:spPr>
      </p:sp>
      <p:sp>
        <p:nvSpPr>
          <p:cNvPr id="12" name="Text 10"/>
          <p:cNvSpPr/>
          <p:nvPr/>
        </p:nvSpPr>
        <p:spPr>
          <a:xfrm>
            <a:off x="1162050" y="4302189"/>
            <a:ext cx="1480165" cy="330200"/>
          </a:xfrm>
          <a:prstGeom prst="rect">
            <a:avLst/>
          </a:prstGeom>
          <a:noFill/>
          <a:ln/>
        </p:spPr>
        <p:txBody>
          <a:bodyPr wrap="square" lIns="25400" tIns="25400" rIns="25400" bIns="25400" rtlCol="0" anchor="t">
            <a:normAutofit/>
          </a:bodyPr>
          <a:lstStyle/>
          <a:p>
            <a:pPr marL="0" indent="0" algn="l">
              <a:buNone/>
            </a:pPr>
            <a:r>
              <a:rPr lang="en-US" sz="1725" dirty="0">
                <a:solidFill>
                  <a:srgbClr val="F7F4EF">
                    <a:alpha val="94000"/>
                  </a:srgbClr>
                </a:solidFill>
                <a:latin typeface="Arial" pitchFamily="34" charset="0"/>
                <a:ea typeface="Arial" pitchFamily="34" charset="-122"/>
                <a:cs typeface="Arial" pitchFamily="34" charset="-120"/>
              </a:rPr>
              <a:t>Cloud hosting</a:t>
            </a:r>
            <a:endParaRPr lang="en-US" sz="1725" dirty="0"/>
          </a:p>
        </p:txBody>
      </p:sp>
      <p:sp>
        <p:nvSpPr>
          <p:cNvPr id="13" name="Text 11"/>
          <p:cNvSpPr/>
          <p:nvPr/>
        </p:nvSpPr>
        <p:spPr>
          <a:xfrm>
            <a:off x="5929114" y="4302189"/>
            <a:ext cx="1352907" cy="330200"/>
          </a:xfrm>
          <a:prstGeom prst="rect">
            <a:avLst/>
          </a:prstGeom>
          <a:noFill/>
          <a:ln/>
        </p:spPr>
        <p:txBody>
          <a:bodyPr wrap="square" lIns="25400" tIns="25400" rIns="25400" bIns="25400" rtlCol="0" anchor="t">
            <a:normAutofit/>
          </a:bodyPr>
          <a:lstStyle/>
          <a:p>
            <a:pPr marL="0" indent="0" algn="l">
              <a:buNone/>
            </a:pPr>
            <a:r>
              <a:rPr lang="en-US" sz="1725" dirty="0">
                <a:solidFill>
                  <a:srgbClr val="C9BEB2">
                    <a:alpha val="94000"/>
                  </a:srgbClr>
                </a:solidFill>
                <a:latin typeface="Arial" pitchFamily="34" charset="0"/>
                <a:ea typeface="Arial" pitchFamily="34" charset="-122"/>
                <a:cs typeface="Arial" pitchFamily="34" charset="-120"/>
              </a:rPr>
              <a:t>~ Rs 6k / mo</a:t>
            </a:r>
            <a:endParaRPr lang="en-US" sz="1725" dirty="0"/>
          </a:p>
        </p:txBody>
      </p:sp>
      <p:sp>
        <p:nvSpPr>
          <p:cNvPr id="14" name="Shape 12"/>
          <p:cNvSpPr/>
          <p:nvPr/>
        </p:nvSpPr>
        <p:spPr>
          <a:xfrm>
            <a:off x="952500" y="4899089"/>
            <a:ext cx="6416080" cy="635000"/>
          </a:xfrm>
          <a:prstGeom prst="roundRect">
            <a:avLst>
              <a:gd name="adj" fmla="val 15000"/>
            </a:avLst>
          </a:prstGeom>
          <a:solidFill>
            <a:srgbClr val="FFFFFF">
              <a:alpha val="5000"/>
            </a:srgbClr>
          </a:solidFill>
          <a:ln/>
        </p:spPr>
      </p:sp>
      <p:sp>
        <p:nvSpPr>
          <p:cNvPr id="15" name="Text 13"/>
          <p:cNvSpPr/>
          <p:nvPr/>
        </p:nvSpPr>
        <p:spPr>
          <a:xfrm>
            <a:off x="1162050" y="5070539"/>
            <a:ext cx="1626632" cy="330200"/>
          </a:xfrm>
          <a:prstGeom prst="rect">
            <a:avLst/>
          </a:prstGeom>
          <a:noFill/>
          <a:ln/>
        </p:spPr>
        <p:txBody>
          <a:bodyPr wrap="square" lIns="25400" tIns="25400" rIns="25400" bIns="25400" rtlCol="0" anchor="t">
            <a:normAutofit/>
          </a:bodyPr>
          <a:lstStyle/>
          <a:p>
            <a:pPr marL="0" indent="0" algn="l">
              <a:buNone/>
            </a:pPr>
            <a:r>
              <a:rPr lang="en-US" sz="1725" dirty="0">
                <a:solidFill>
                  <a:srgbClr val="F7F4EF">
                    <a:alpha val="94000"/>
                  </a:srgbClr>
                </a:solidFill>
                <a:latin typeface="Arial" pitchFamily="34" charset="0"/>
                <a:ea typeface="Arial" pitchFamily="34" charset="-122"/>
                <a:cs typeface="Arial" pitchFamily="34" charset="-120"/>
              </a:rPr>
              <a:t>AI &amp; API usage</a:t>
            </a:r>
            <a:endParaRPr lang="en-US" sz="1725" dirty="0"/>
          </a:p>
        </p:txBody>
      </p:sp>
      <p:sp>
        <p:nvSpPr>
          <p:cNvPr id="16" name="Text 14"/>
          <p:cNvSpPr/>
          <p:nvPr/>
        </p:nvSpPr>
        <p:spPr>
          <a:xfrm>
            <a:off x="5864423" y="5070539"/>
            <a:ext cx="1424067" cy="330200"/>
          </a:xfrm>
          <a:prstGeom prst="rect">
            <a:avLst/>
          </a:prstGeom>
          <a:noFill/>
          <a:ln/>
        </p:spPr>
        <p:txBody>
          <a:bodyPr wrap="square" lIns="25400" tIns="25400" rIns="25400" bIns="25400" rtlCol="0" anchor="t">
            <a:normAutofit/>
          </a:bodyPr>
          <a:lstStyle/>
          <a:p>
            <a:pPr marL="0" indent="0" algn="l">
              <a:buNone/>
            </a:pPr>
            <a:r>
              <a:rPr lang="en-US" sz="1725" dirty="0">
                <a:solidFill>
                  <a:srgbClr val="C9BEB2">
                    <a:alpha val="94000"/>
                  </a:srgbClr>
                </a:solidFill>
                <a:latin typeface="Arial" pitchFamily="34" charset="0"/>
                <a:ea typeface="Arial" pitchFamily="34" charset="-122"/>
                <a:cs typeface="Arial" pitchFamily="34" charset="-120"/>
              </a:rPr>
              <a:t>Usage-based</a:t>
            </a:r>
            <a:endParaRPr lang="en-US" sz="1725" dirty="0"/>
          </a:p>
        </p:txBody>
      </p:sp>
      <p:sp>
        <p:nvSpPr>
          <p:cNvPr id="17" name="Text 15"/>
          <p:cNvSpPr/>
          <p:nvPr/>
        </p:nvSpPr>
        <p:spPr>
          <a:xfrm>
            <a:off x="952500" y="9312339"/>
            <a:ext cx="6608562"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F857A">
                    <a:alpha val="94000"/>
                  </a:srgbClr>
                </a:solidFill>
                <a:latin typeface="Courier New" pitchFamily="34" charset="0"/>
                <a:ea typeface="Courier New" pitchFamily="34" charset="-122"/>
                <a:cs typeface="Courier New" pitchFamily="34" charset="-120"/>
              </a:rPr>
              <a:t>Recurring run cost is low and scales with usage.</a:t>
            </a:r>
            <a:endParaRPr lang="en-US" sz="1350" dirty="0"/>
          </a:p>
        </p:txBody>
      </p:sp>
      <p:sp>
        <p:nvSpPr>
          <p:cNvPr id="18" name="Text 16"/>
          <p:cNvSpPr/>
          <p:nvPr/>
        </p:nvSpPr>
        <p:spPr>
          <a:xfrm>
            <a:off x="7711480" y="2098739"/>
            <a:ext cx="1058642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2F8F57">
                    <a:alpha val="94000"/>
                  </a:srgbClr>
                </a:solidFill>
                <a:latin typeface="Arial" pitchFamily="34" charset="0"/>
                <a:ea typeface="Arial" pitchFamily="34" charset="-122"/>
                <a:cs typeface="Arial" pitchFamily="34" charset="-120"/>
              </a:rPr>
              <a:t>Builder subscription tiers</a:t>
            </a:r>
            <a:endParaRPr lang="en-US" sz="2100" dirty="0"/>
          </a:p>
        </p:txBody>
      </p:sp>
      <p:sp>
        <p:nvSpPr>
          <p:cNvPr id="19" name="Shape 17"/>
          <p:cNvSpPr/>
          <p:nvPr/>
        </p:nvSpPr>
        <p:spPr>
          <a:xfrm>
            <a:off x="7711480" y="2594039"/>
            <a:ext cx="2286000" cy="2181225"/>
          </a:xfrm>
          <a:prstGeom prst="roundRect">
            <a:avLst>
              <a:gd name="adj" fmla="val 6114"/>
            </a:avLst>
          </a:prstGeom>
          <a:solidFill>
            <a:srgbClr val="FFFFFF">
              <a:alpha val="5000"/>
            </a:srgbClr>
          </a:solidFill>
          <a:ln/>
        </p:spPr>
      </p:sp>
      <p:sp>
        <p:nvSpPr>
          <p:cNvPr id="20" name="Shape 18"/>
          <p:cNvSpPr/>
          <p:nvPr/>
        </p:nvSpPr>
        <p:spPr>
          <a:xfrm>
            <a:off x="7711480" y="2594039"/>
            <a:ext cx="2286000" cy="38100"/>
          </a:xfrm>
          <a:prstGeom prst="rect">
            <a:avLst/>
          </a:prstGeom>
          <a:solidFill>
            <a:srgbClr val="8F857A">
              <a:alpha val="94000"/>
            </a:srgbClr>
          </a:solidFill>
          <a:ln/>
        </p:spPr>
      </p:sp>
      <p:sp>
        <p:nvSpPr>
          <p:cNvPr id="21" name="Text 19"/>
          <p:cNvSpPr/>
          <p:nvPr/>
        </p:nvSpPr>
        <p:spPr>
          <a:xfrm>
            <a:off x="7901980" y="2860739"/>
            <a:ext cx="20955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F7F4EF">
                    <a:alpha val="94000"/>
                  </a:srgbClr>
                </a:solidFill>
                <a:latin typeface="Arial" pitchFamily="34" charset="0"/>
                <a:ea typeface="Arial" pitchFamily="34" charset="-122"/>
                <a:cs typeface="Arial" pitchFamily="34" charset="-120"/>
              </a:rPr>
              <a:t>Free</a:t>
            </a:r>
            <a:endParaRPr lang="en-US" sz="1575" dirty="0"/>
          </a:p>
        </p:txBody>
      </p:sp>
      <p:sp>
        <p:nvSpPr>
          <p:cNvPr id="22" name="Text 20"/>
          <p:cNvSpPr/>
          <p:nvPr/>
        </p:nvSpPr>
        <p:spPr>
          <a:xfrm>
            <a:off x="7901980" y="3165539"/>
            <a:ext cx="2095500" cy="323850"/>
          </a:xfrm>
          <a:prstGeom prst="rect">
            <a:avLst/>
          </a:prstGeom>
          <a:noFill/>
          <a:ln/>
        </p:spPr>
        <p:txBody>
          <a:bodyPr wrap="square" lIns="25400" tIns="25400" rIns="25400" bIns="25400" rtlCol="0" anchor="t">
            <a:normAutofit lnSpcReduction="10000"/>
          </a:bodyPr>
          <a:lstStyle/>
          <a:p>
            <a:pPr marL="0" indent="0" algn="l">
              <a:lnSpc>
                <a:spcPct val="86538"/>
              </a:lnSpc>
              <a:buNone/>
            </a:pPr>
            <a:r>
              <a:rPr lang="en-US" sz="2250" b="1" dirty="0">
                <a:solidFill>
                  <a:srgbClr val="C9BEB2">
                    <a:alpha val="94000"/>
                  </a:srgbClr>
                </a:solidFill>
                <a:latin typeface="Arial" pitchFamily="34" charset="0"/>
                <a:ea typeface="Arial" pitchFamily="34" charset="-122"/>
                <a:cs typeface="Arial" pitchFamily="34" charset="-120"/>
              </a:rPr>
              <a:t>Rs 0</a:t>
            </a:r>
            <a:endParaRPr lang="en-US" sz="2250" dirty="0"/>
          </a:p>
        </p:txBody>
      </p:sp>
      <p:sp>
        <p:nvSpPr>
          <p:cNvPr id="23" name="Shape 21"/>
          <p:cNvSpPr/>
          <p:nvPr/>
        </p:nvSpPr>
        <p:spPr>
          <a:xfrm>
            <a:off x="7901980" y="3603689"/>
            <a:ext cx="1905000" cy="9525"/>
          </a:xfrm>
          <a:prstGeom prst="rect">
            <a:avLst/>
          </a:prstGeom>
          <a:solidFill>
            <a:srgbClr val="FFFFFF">
              <a:alpha val="9000"/>
            </a:srgbClr>
          </a:solidFill>
          <a:ln/>
        </p:spPr>
      </p:sp>
      <p:sp>
        <p:nvSpPr>
          <p:cNvPr id="24" name="Text 22"/>
          <p:cNvSpPr/>
          <p:nvPr/>
        </p:nvSpPr>
        <p:spPr>
          <a:xfrm>
            <a:off x="7901980" y="37656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8102005" y="3765614"/>
            <a:ext cx="1404422"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5 lead credits / mo</a:t>
            </a:r>
            <a:endParaRPr lang="en-US" sz="1200" dirty="0"/>
          </a:p>
        </p:txBody>
      </p:sp>
      <p:sp>
        <p:nvSpPr>
          <p:cNvPr id="26" name="Text 24"/>
          <p:cNvSpPr/>
          <p:nvPr/>
        </p:nvSpPr>
        <p:spPr>
          <a:xfrm>
            <a:off x="7901980" y="40545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8102005" y="4054539"/>
            <a:ext cx="935831"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3 active bids</a:t>
            </a:r>
            <a:endParaRPr lang="en-US" sz="1200" dirty="0"/>
          </a:p>
        </p:txBody>
      </p:sp>
      <p:sp>
        <p:nvSpPr>
          <p:cNvPr id="28" name="Text 26"/>
          <p:cNvSpPr/>
          <p:nvPr/>
        </p:nvSpPr>
        <p:spPr>
          <a:xfrm>
            <a:off x="7901980" y="434346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8102005" y="4343464"/>
            <a:ext cx="1358146"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5 portfolio images</a:t>
            </a:r>
            <a:endParaRPr lang="en-US" sz="1200" dirty="0"/>
          </a:p>
        </p:txBody>
      </p:sp>
      <p:sp>
        <p:nvSpPr>
          <p:cNvPr id="30" name="Shape 28"/>
          <p:cNvSpPr/>
          <p:nvPr/>
        </p:nvSpPr>
        <p:spPr>
          <a:xfrm>
            <a:off x="10149880" y="2594039"/>
            <a:ext cx="2286000" cy="2470150"/>
          </a:xfrm>
          <a:prstGeom prst="roundRect">
            <a:avLst>
              <a:gd name="adj" fmla="val 5833"/>
            </a:avLst>
          </a:prstGeom>
          <a:solidFill>
            <a:srgbClr val="FFFFFF">
              <a:alpha val="5000"/>
            </a:srgbClr>
          </a:solidFill>
          <a:ln/>
        </p:spPr>
      </p:sp>
      <p:sp>
        <p:nvSpPr>
          <p:cNvPr id="31" name="Shape 29"/>
          <p:cNvSpPr/>
          <p:nvPr/>
        </p:nvSpPr>
        <p:spPr>
          <a:xfrm>
            <a:off x="10149880" y="2594039"/>
            <a:ext cx="2286000" cy="38100"/>
          </a:xfrm>
          <a:prstGeom prst="rect">
            <a:avLst/>
          </a:prstGeom>
          <a:solidFill>
            <a:srgbClr val="F2661A">
              <a:alpha val="94000"/>
            </a:srgbClr>
          </a:solidFill>
          <a:ln/>
        </p:spPr>
      </p:sp>
      <p:sp>
        <p:nvSpPr>
          <p:cNvPr id="32" name="Text 30"/>
          <p:cNvSpPr/>
          <p:nvPr/>
        </p:nvSpPr>
        <p:spPr>
          <a:xfrm>
            <a:off x="10340380" y="2860739"/>
            <a:ext cx="20955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F7F4EF">
                    <a:alpha val="94000"/>
                  </a:srgbClr>
                </a:solidFill>
                <a:latin typeface="Arial" pitchFamily="34" charset="0"/>
                <a:ea typeface="Arial" pitchFamily="34" charset="-122"/>
                <a:cs typeface="Arial" pitchFamily="34" charset="-120"/>
              </a:rPr>
              <a:t>Basic</a:t>
            </a:r>
            <a:endParaRPr lang="en-US" sz="1575" dirty="0"/>
          </a:p>
        </p:txBody>
      </p:sp>
      <p:sp>
        <p:nvSpPr>
          <p:cNvPr id="33" name="Text 31"/>
          <p:cNvSpPr/>
          <p:nvPr/>
        </p:nvSpPr>
        <p:spPr>
          <a:xfrm>
            <a:off x="10340380" y="3165539"/>
            <a:ext cx="2095500" cy="323850"/>
          </a:xfrm>
          <a:prstGeom prst="rect">
            <a:avLst/>
          </a:prstGeom>
          <a:noFill/>
          <a:ln/>
        </p:spPr>
        <p:txBody>
          <a:bodyPr wrap="square" lIns="25400" tIns="25400" rIns="25400" bIns="25400" rtlCol="0" anchor="t">
            <a:normAutofit lnSpcReduction="10000"/>
          </a:bodyPr>
          <a:lstStyle/>
          <a:p>
            <a:pPr marL="0" indent="0" algn="l">
              <a:lnSpc>
                <a:spcPct val="86538"/>
              </a:lnSpc>
              <a:buNone/>
            </a:pPr>
            <a:r>
              <a:rPr lang="en-US" sz="2250" b="1" dirty="0">
                <a:solidFill>
                  <a:srgbClr val="F2661A">
                    <a:alpha val="94000"/>
                  </a:srgbClr>
                </a:solidFill>
                <a:latin typeface="Arial" pitchFamily="34" charset="0"/>
                <a:ea typeface="Arial" pitchFamily="34" charset="-122"/>
                <a:cs typeface="Arial" pitchFamily="34" charset="-120"/>
              </a:rPr>
              <a:t>Rs 2,999</a:t>
            </a:r>
            <a:r>
              <a:rPr lang="en-US" sz="1050" dirty="0">
                <a:solidFill>
                  <a:srgbClr val="8F857A">
                    <a:alpha val="94000"/>
                  </a:srgbClr>
                </a:solidFill>
                <a:latin typeface="Arial" pitchFamily="34" charset="0"/>
                <a:ea typeface="Arial" pitchFamily="34" charset="-122"/>
                <a:cs typeface="Arial" pitchFamily="34" charset="-120"/>
              </a:rPr>
              <a:t>/30 days</a:t>
            </a:r>
            <a:endParaRPr lang="en-US" sz="2250" dirty="0"/>
          </a:p>
        </p:txBody>
      </p:sp>
      <p:sp>
        <p:nvSpPr>
          <p:cNvPr id="34" name="Shape 32"/>
          <p:cNvSpPr/>
          <p:nvPr/>
        </p:nvSpPr>
        <p:spPr>
          <a:xfrm>
            <a:off x="10340380" y="3603689"/>
            <a:ext cx="1905000" cy="9525"/>
          </a:xfrm>
          <a:prstGeom prst="rect">
            <a:avLst/>
          </a:prstGeom>
          <a:solidFill>
            <a:srgbClr val="FFFFFF">
              <a:alpha val="9000"/>
            </a:srgbClr>
          </a:solidFill>
          <a:ln/>
        </p:spPr>
      </p:sp>
      <p:sp>
        <p:nvSpPr>
          <p:cNvPr id="35" name="Text 33"/>
          <p:cNvSpPr/>
          <p:nvPr/>
        </p:nvSpPr>
        <p:spPr>
          <a:xfrm>
            <a:off x="10340380" y="37656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36" name="Text 34"/>
          <p:cNvSpPr/>
          <p:nvPr/>
        </p:nvSpPr>
        <p:spPr>
          <a:xfrm>
            <a:off x="10540405" y="3765614"/>
            <a:ext cx="1505049"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20 lead credits / mo</a:t>
            </a:r>
            <a:endParaRPr lang="en-US" sz="1200" dirty="0"/>
          </a:p>
        </p:txBody>
      </p:sp>
      <p:sp>
        <p:nvSpPr>
          <p:cNvPr id="37" name="Text 35"/>
          <p:cNvSpPr/>
          <p:nvPr/>
        </p:nvSpPr>
        <p:spPr>
          <a:xfrm>
            <a:off x="10340380" y="40545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38" name="Text 36"/>
          <p:cNvSpPr/>
          <p:nvPr/>
        </p:nvSpPr>
        <p:spPr>
          <a:xfrm>
            <a:off x="10540405" y="4054539"/>
            <a:ext cx="1027311"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10 active bids</a:t>
            </a:r>
            <a:endParaRPr lang="en-US" sz="1200" dirty="0"/>
          </a:p>
        </p:txBody>
      </p:sp>
      <p:sp>
        <p:nvSpPr>
          <p:cNvPr id="39" name="Text 37"/>
          <p:cNvSpPr/>
          <p:nvPr/>
        </p:nvSpPr>
        <p:spPr>
          <a:xfrm>
            <a:off x="10340380" y="434346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40" name="Text 38"/>
          <p:cNvSpPr/>
          <p:nvPr/>
        </p:nvSpPr>
        <p:spPr>
          <a:xfrm>
            <a:off x="10540405" y="4343464"/>
            <a:ext cx="1458774"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15 portfolio images</a:t>
            </a:r>
            <a:endParaRPr lang="en-US" sz="1200" dirty="0"/>
          </a:p>
        </p:txBody>
      </p:sp>
      <p:sp>
        <p:nvSpPr>
          <p:cNvPr id="41" name="Text 39"/>
          <p:cNvSpPr/>
          <p:nvPr/>
        </p:nvSpPr>
        <p:spPr>
          <a:xfrm>
            <a:off x="10340380" y="463238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42" name="Text 40"/>
          <p:cNvSpPr/>
          <p:nvPr/>
        </p:nvSpPr>
        <p:spPr>
          <a:xfrm>
            <a:off x="10540405" y="4632389"/>
            <a:ext cx="1451134"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Advanced analytics</a:t>
            </a:r>
            <a:endParaRPr lang="en-US" sz="1200" dirty="0"/>
          </a:p>
        </p:txBody>
      </p:sp>
      <p:sp>
        <p:nvSpPr>
          <p:cNvPr id="43" name="Shape 41"/>
          <p:cNvSpPr/>
          <p:nvPr/>
        </p:nvSpPr>
        <p:spPr>
          <a:xfrm>
            <a:off x="12588280" y="2594039"/>
            <a:ext cx="2308622" cy="3048000"/>
          </a:xfrm>
          <a:prstGeom prst="roundRect">
            <a:avLst>
              <a:gd name="adj" fmla="val 5776"/>
            </a:avLst>
          </a:prstGeom>
          <a:solidFill>
            <a:srgbClr val="F2661A">
              <a:alpha val="15000"/>
            </a:srgbClr>
          </a:solidFill>
          <a:ln/>
        </p:spPr>
      </p:sp>
      <p:sp>
        <p:nvSpPr>
          <p:cNvPr id="44" name="Shape 42"/>
          <p:cNvSpPr/>
          <p:nvPr/>
        </p:nvSpPr>
        <p:spPr>
          <a:xfrm>
            <a:off x="12588280" y="2594039"/>
            <a:ext cx="2308622" cy="38100"/>
          </a:xfrm>
          <a:prstGeom prst="rect">
            <a:avLst/>
          </a:prstGeom>
          <a:solidFill>
            <a:srgbClr val="F2661A">
              <a:alpha val="94000"/>
            </a:srgbClr>
          </a:solidFill>
          <a:ln/>
        </p:spPr>
      </p:sp>
      <p:sp>
        <p:nvSpPr>
          <p:cNvPr id="45" name="Text 43"/>
          <p:cNvSpPr/>
          <p:nvPr/>
        </p:nvSpPr>
        <p:spPr>
          <a:xfrm>
            <a:off x="12778780" y="2860739"/>
            <a:ext cx="1176933" cy="266700"/>
          </a:xfrm>
          <a:prstGeom prst="rect">
            <a:avLst/>
          </a:prstGeom>
          <a:noFill/>
          <a:ln/>
        </p:spPr>
        <p:txBody>
          <a:bodyPr wrap="square" lIns="25400" tIns="25400" rIns="25400" bIns="25400" rtlCol="0" anchor="t">
            <a:normAutofit fontScale="85000" lnSpcReduction="10000"/>
          </a:bodyPr>
          <a:lstStyle/>
          <a:p>
            <a:pPr marL="0" indent="0" algn="l">
              <a:buNone/>
            </a:pPr>
            <a:r>
              <a:rPr lang="en-US" sz="1575" b="1" dirty="0">
                <a:solidFill>
                  <a:srgbClr val="F7F4EF">
                    <a:alpha val="94000"/>
                  </a:srgbClr>
                </a:solidFill>
                <a:latin typeface="Arial" pitchFamily="34" charset="0"/>
                <a:ea typeface="Arial" pitchFamily="34" charset="-122"/>
                <a:cs typeface="Arial" pitchFamily="34" charset="-120"/>
              </a:rPr>
              <a:t>Professional</a:t>
            </a:r>
            <a:endParaRPr lang="en-US" sz="1575" dirty="0"/>
          </a:p>
        </p:txBody>
      </p:sp>
      <p:sp>
        <p:nvSpPr>
          <p:cNvPr id="46" name="Shape 44"/>
          <p:cNvSpPr/>
          <p:nvPr/>
        </p:nvSpPr>
        <p:spPr>
          <a:xfrm>
            <a:off x="13974763" y="2876614"/>
            <a:ext cx="731639" cy="196850"/>
          </a:xfrm>
          <a:prstGeom prst="roundRect">
            <a:avLst>
              <a:gd name="adj" fmla="val 50000"/>
            </a:avLst>
          </a:prstGeom>
          <a:solidFill>
            <a:srgbClr val="F2661A">
              <a:alpha val="94000"/>
            </a:srgbClr>
          </a:solidFill>
          <a:ln/>
        </p:spPr>
      </p:sp>
      <p:sp>
        <p:nvSpPr>
          <p:cNvPr id="47" name="Text 45"/>
          <p:cNvSpPr/>
          <p:nvPr/>
        </p:nvSpPr>
        <p:spPr>
          <a:xfrm>
            <a:off x="14060488" y="2905189"/>
            <a:ext cx="636389" cy="177800"/>
          </a:xfrm>
          <a:prstGeom prst="rect">
            <a:avLst/>
          </a:prstGeom>
          <a:noFill/>
          <a:ln/>
        </p:spPr>
        <p:txBody>
          <a:bodyPr wrap="square" lIns="25400" tIns="25400" rIns="25400" bIns="25400" rtlCol="0" anchor="t">
            <a:normAutofit lnSpcReduction="10000"/>
          </a:bodyPr>
          <a:lstStyle/>
          <a:p>
            <a:pPr marL="0" indent="0" algn="l">
              <a:buNone/>
            </a:pPr>
            <a:r>
              <a:rPr lang="en-US" sz="900" kern="0" spc="90" dirty="0">
                <a:solidFill>
                  <a:srgbClr val="FFFFFF">
                    <a:alpha val="94000"/>
                  </a:srgbClr>
                </a:solidFill>
                <a:latin typeface="Courier New" pitchFamily="34" charset="0"/>
                <a:ea typeface="Courier New" pitchFamily="34" charset="-122"/>
                <a:cs typeface="Courier New" pitchFamily="34" charset="-120"/>
              </a:rPr>
              <a:t>POPULAR</a:t>
            </a:r>
            <a:endParaRPr lang="en-US" sz="900" dirty="0"/>
          </a:p>
        </p:txBody>
      </p:sp>
      <p:sp>
        <p:nvSpPr>
          <p:cNvPr id="48" name="Text 46"/>
          <p:cNvSpPr/>
          <p:nvPr/>
        </p:nvSpPr>
        <p:spPr>
          <a:xfrm>
            <a:off x="12778780" y="3165539"/>
            <a:ext cx="2120384" cy="323850"/>
          </a:xfrm>
          <a:prstGeom prst="rect">
            <a:avLst/>
          </a:prstGeom>
          <a:noFill/>
          <a:ln/>
        </p:spPr>
        <p:txBody>
          <a:bodyPr wrap="square" lIns="25400" tIns="25400" rIns="25400" bIns="25400" rtlCol="0" anchor="t">
            <a:normAutofit lnSpcReduction="10000"/>
          </a:bodyPr>
          <a:lstStyle/>
          <a:p>
            <a:pPr marL="0" indent="0" algn="l">
              <a:lnSpc>
                <a:spcPct val="86538"/>
              </a:lnSpc>
              <a:buNone/>
            </a:pPr>
            <a:r>
              <a:rPr lang="en-US" sz="2250" b="1" dirty="0">
                <a:solidFill>
                  <a:srgbClr val="F2661A">
                    <a:alpha val="94000"/>
                  </a:srgbClr>
                </a:solidFill>
                <a:latin typeface="Arial" pitchFamily="34" charset="0"/>
                <a:ea typeface="Arial" pitchFamily="34" charset="-122"/>
                <a:cs typeface="Arial" pitchFamily="34" charset="-120"/>
              </a:rPr>
              <a:t>Rs 7,999</a:t>
            </a:r>
            <a:r>
              <a:rPr lang="en-US" sz="1050" dirty="0">
                <a:solidFill>
                  <a:srgbClr val="8F857A">
                    <a:alpha val="94000"/>
                  </a:srgbClr>
                </a:solidFill>
                <a:latin typeface="Arial" pitchFamily="34" charset="0"/>
                <a:ea typeface="Arial" pitchFamily="34" charset="-122"/>
                <a:cs typeface="Arial" pitchFamily="34" charset="-120"/>
              </a:rPr>
              <a:t>/30 days</a:t>
            </a:r>
            <a:endParaRPr lang="en-US" sz="2250" dirty="0"/>
          </a:p>
        </p:txBody>
      </p:sp>
      <p:sp>
        <p:nvSpPr>
          <p:cNvPr id="49" name="Shape 47"/>
          <p:cNvSpPr/>
          <p:nvPr/>
        </p:nvSpPr>
        <p:spPr>
          <a:xfrm>
            <a:off x="12778780" y="3603689"/>
            <a:ext cx="1927622" cy="9525"/>
          </a:xfrm>
          <a:prstGeom prst="rect">
            <a:avLst/>
          </a:prstGeom>
          <a:solidFill>
            <a:srgbClr val="FFFFFF">
              <a:alpha val="13000"/>
            </a:srgbClr>
          </a:solidFill>
          <a:ln/>
        </p:spPr>
      </p:sp>
      <p:sp>
        <p:nvSpPr>
          <p:cNvPr id="50" name="Text 48"/>
          <p:cNvSpPr/>
          <p:nvPr/>
        </p:nvSpPr>
        <p:spPr>
          <a:xfrm>
            <a:off x="12778780" y="37656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51" name="Text 49"/>
          <p:cNvSpPr/>
          <p:nvPr/>
        </p:nvSpPr>
        <p:spPr>
          <a:xfrm>
            <a:off x="12978805" y="3765614"/>
            <a:ext cx="1505049"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50 lead credits / mo</a:t>
            </a:r>
            <a:endParaRPr lang="en-US" sz="1200" dirty="0"/>
          </a:p>
        </p:txBody>
      </p:sp>
      <p:sp>
        <p:nvSpPr>
          <p:cNvPr id="52" name="Text 50"/>
          <p:cNvSpPr/>
          <p:nvPr/>
        </p:nvSpPr>
        <p:spPr>
          <a:xfrm>
            <a:off x="12778780" y="40545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53" name="Text 51"/>
          <p:cNvSpPr/>
          <p:nvPr/>
        </p:nvSpPr>
        <p:spPr>
          <a:xfrm>
            <a:off x="12978805" y="4054539"/>
            <a:ext cx="1027311"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25 active bids</a:t>
            </a:r>
            <a:endParaRPr lang="en-US" sz="1200" dirty="0"/>
          </a:p>
        </p:txBody>
      </p:sp>
      <p:sp>
        <p:nvSpPr>
          <p:cNvPr id="54" name="Text 52"/>
          <p:cNvSpPr/>
          <p:nvPr/>
        </p:nvSpPr>
        <p:spPr>
          <a:xfrm>
            <a:off x="12778780" y="434346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55" name="Text 53"/>
          <p:cNvSpPr/>
          <p:nvPr/>
        </p:nvSpPr>
        <p:spPr>
          <a:xfrm>
            <a:off x="12978805" y="4343464"/>
            <a:ext cx="1458774"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50 portfolio images</a:t>
            </a:r>
            <a:endParaRPr lang="en-US" sz="1200" dirty="0"/>
          </a:p>
        </p:txBody>
      </p:sp>
      <p:sp>
        <p:nvSpPr>
          <p:cNvPr id="56" name="Text 54"/>
          <p:cNvSpPr/>
          <p:nvPr/>
        </p:nvSpPr>
        <p:spPr>
          <a:xfrm>
            <a:off x="12778780" y="463238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57" name="Text 55"/>
          <p:cNvSpPr/>
          <p:nvPr/>
        </p:nvSpPr>
        <p:spPr>
          <a:xfrm>
            <a:off x="12978805" y="4632389"/>
            <a:ext cx="1137245"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Featured listing</a:t>
            </a:r>
            <a:endParaRPr lang="en-US" sz="1200" dirty="0"/>
          </a:p>
        </p:txBody>
      </p:sp>
      <p:sp>
        <p:nvSpPr>
          <p:cNvPr id="58" name="Text 56"/>
          <p:cNvSpPr/>
          <p:nvPr/>
        </p:nvSpPr>
        <p:spPr>
          <a:xfrm>
            <a:off x="12778780" y="49213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59" name="Text 57"/>
          <p:cNvSpPr/>
          <p:nvPr/>
        </p:nvSpPr>
        <p:spPr>
          <a:xfrm>
            <a:off x="12978805" y="4921314"/>
            <a:ext cx="1139031"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Priority support</a:t>
            </a:r>
            <a:endParaRPr lang="en-US" sz="1200" dirty="0"/>
          </a:p>
        </p:txBody>
      </p:sp>
      <p:sp>
        <p:nvSpPr>
          <p:cNvPr id="60" name="Text 58"/>
          <p:cNvSpPr/>
          <p:nvPr/>
        </p:nvSpPr>
        <p:spPr>
          <a:xfrm>
            <a:off x="12778780" y="52102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61" name="Text 59"/>
          <p:cNvSpPr/>
          <p:nvPr/>
        </p:nvSpPr>
        <p:spPr>
          <a:xfrm>
            <a:off x="12978805" y="5210239"/>
            <a:ext cx="1451134" cy="241300"/>
          </a:xfrm>
          <a:prstGeom prst="rect">
            <a:avLst/>
          </a:prstGeom>
          <a:noFill/>
          <a:ln/>
        </p:spPr>
        <p:txBody>
          <a:bodyPr wrap="square" lIns="25400" tIns="25400" rIns="25400" bIns="25400" rtlCol="0" anchor="t">
            <a:normAutofit/>
          </a:bodyPr>
          <a:lstStyle/>
          <a:p>
            <a:pPr marL="0" indent="0" algn="l">
              <a:buNone/>
            </a:pPr>
            <a:r>
              <a:rPr lang="en-US" sz="1200" dirty="0">
                <a:solidFill>
                  <a:srgbClr val="E6DDD2">
                    <a:alpha val="94000"/>
                  </a:srgbClr>
                </a:solidFill>
                <a:latin typeface="Arial" pitchFamily="34" charset="0"/>
                <a:ea typeface="Arial" pitchFamily="34" charset="-122"/>
                <a:cs typeface="Arial" pitchFamily="34" charset="-120"/>
              </a:rPr>
              <a:t>Advanced analytics</a:t>
            </a:r>
            <a:endParaRPr lang="en-US" sz="1200" dirty="0"/>
          </a:p>
        </p:txBody>
      </p:sp>
      <p:sp>
        <p:nvSpPr>
          <p:cNvPr id="62" name="Shape 60"/>
          <p:cNvSpPr/>
          <p:nvPr/>
        </p:nvSpPr>
        <p:spPr>
          <a:xfrm>
            <a:off x="15049302" y="2594039"/>
            <a:ext cx="2286000" cy="3048000"/>
          </a:xfrm>
          <a:prstGeom prst="roundRect">
            <a:avLst>
              <a:gd name="adj" fmla="val 5833"/>
            </a:avLst>
          </a:prstGeom>
          <a:solidFill>
            <a:srgbClr val="FFFFFF">
              <a:alpha val="5000"/>
            </a:srgbClr>
          </a:solidFill>
          <a:ln/>
        </p:spPr>
      </p:sp>
      <p:sp>
        <p:nvSpPr>
          <p:cNvPr id="63" name="Shape 61"/>
          <p:cNvSpPr/>
          <p:nvPr/>
        </p:nvSpPr>
        <p:spPr>
          <a:xfrm>
            <a:off x="15049302" y="2594039"/>
            <a:ext cx="2286000" cy="38100"/>
          </a:xfrm>
          <a:prstGeom prst="rect">
            <a:avLst/>
          </a:prstGeom>
          <a:solidFill>
            <a:srgbClr val="2F8F57">
              <a:alpha val="94000"/>
            </a:srgbClr>
          </a:solidFill>
          <a:ln/>
        </p:spPr>
      </p:sp>
      <p:sp>
        <p:nvSpPr>
          <p:cNvPr id="64" name="Text 62"/>
          <p:cNvSpPr/>
          <p:nvPr/>
        </p:nvSpPr>
        <p:spPr>
          <a:xfrm>
            <a:off x="15239802" y="2860739"/>
            <a:ext cx="20955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F7F4EF">
                    <a:alpha val="94000"/>
                  </a:srgbClr>
                </a:solidFill>
                <a:latin typeface="Arial" pitchFamily="34" charset="0"/>
                <a:ea typeface="Arial" pitchFamily="34" charset="-122"/>
                <a:cs typeface="Arial" pitchFamily="34" charset="-120"/>
              </a:rPr>
              <a:t>Enterprise</a:t>
            </a:r>
            <a:endParaRPr lang="en-US" sz="1575" dirty="0"/>
          </a:p>
        </p:txBody>
      </p:sp>
      <p:sp>
        <p:nvSpPr>
          <p:cNvPr id="65" name="Text 63"/>
          <p:cNvSpPr/>
          <p:nvPr/>
        </p:nvSpPr>
        <p:spPr>
          <a:xfrm>
            <a:off x="15239802" y="3165539"/>
            <a:ext cx="2095500" cy="323850"/>
          </a:xfrm>
          <a:prstGeom prst="rect">
            <a:avLst/>
          </a:prstGeom>
          <a:noFill/>
          <a:ln/>
        </p:spPr>
        <p:txBody>
          <a:bodyPr wrap="square" lIns="25400" tIns="25400" rIns="25400" bIns="25400" rtlCol="0" anchor="t">
            <a:normAutofit lnSpcReduction="10000"/>
          </a:bodyPr>
          <a:lstStyle/>
          <a:p>
            <a:pPr marL="0" indent="0" algn="l">
              <a:lnSpc>
                <a:spcPct val="86538"/>
              </a:lnSpc>
              <a:buNone/>
            </a:pPr>
            <a:r>
              <a:rPr lang="en-US" sz="2250" b="1" dirty="0">
                <a:solidFill>
                  <a:srgbClr val="2F8F57">
                    <a:alpha val="94000"/>
                  </a:srgbClr>
                </a:solidFill>
                <a:latin typeface="Arial" pitchFamily="34" charset="0"/>
                <a:ea typeface="Arial" pitchFamily="34" charset="-122"/>
                <a:cs typeface="Arial" pitchFamily="34" charset="-120"/>
              </a:rPr>
              <a:t>Rs 14,999</a:t>
            </a:r>
            <a:r>
              <a:rPr lang="en-US" sz="1050" dirty="0">
                <a:solidFill>
                  <a:srgbClr val="8F857A">
                    <a:alpha val="94000"/>
                  </a:srgbClr>
                </a:solidFill>
                <a:latin typeface="Arial" pitchFamily="34" charset="0"/>
                <a:ea typeface="Arial" pitchFamily="34" charset="-122"/>
                <a:cs typeface="Arial" pitchFamily="34" charset="-120"/>
              </a:rPr>
              <a:t>/30 days</a:t>
            </a:r>
            <a:endParaRPr lang="en-US" sz="2250" dirty="0"/>
          </a:p>
        </p:txBody>
      </p:sp>
      <p:sp>
        <p:nvSpPr>
          <p:cNvPr id="66" name="Shape 64"/>
          <p:cNvSpPr/>
          <p:nvPr/>
        </p:nvSpPr>
        <p:spPr>
          <a:xfrm>
            <a:off x="15239802" y="3603689"/>
            <a:ext cx="1905000" cy="9525"/>
          </a:xfrm>
          <a:prstGeom prst="rect">
            <a:avLst/>
          </a:prstGeom>
          <a:solidFill>
            <a:srgbClr val="FFFFFF">
              <a:alpha val="9000"/>
            </a:srgbClr>
          </a:solidFill>
          <a:ln/>
        </p:spPr>
      </p:sp>
      <p:sp>
        <p:nvSpPr>
          <p:cNvPr id="67" name="Text 65"/>
          <p:cNvSpPr/>
          <p:nvPr/>
        </p:nvSpPr>
        <p:spPr>
          <a:xfrm>
            <a:off x="15239802" y="37656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68" name="Text 66"/>
          <p:cNvSpPr/>
          <p:nvPr/>
        </p:nvSpPr>
        <p:spPr>
          <a:xfrm>
            <a:off x="15439827" y="3765614"/>
            <a:ext cx="1605677"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999 lead credits / mo</a:t>
            </a:r>
            <a:endParaRPr lang="en-US" sz="1200" dirty="0"/>
          </a:p>
        </p:txBody>
      </p:sp>
      <p:sp>
        <p:nvSpPr>
          <p:cNvPr id="69" name="Text 67"/>
          <p:cNvSpPr/>
          <p:nvPr/>
        </p:nvSpPr>
        <p:spPr>
          <a:xfrm>
            <a:off x="15239802" y="40545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70" name="Text 68"/>
          <p:cNvSpPr/>
          <p:nvPr/>
        </p:nvSpPr>
        <p:spPr>
          <a:xfrm>
            <a:off x="15439827" y="4054539"/>
            <a:ext cx="1577082"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Unlimited active bids</a:t>
            </a:r>
            <a:endParaRPr lang="en-US" sz="1200" dirty="0"/>
          </a:p>
        </p:txBody>
      </p:sp>
      <p:sp>
        <p:nvSpPr>
          <p:cNvPr id="71" name="Text 69"/>
          <p:cNvSpPr/>
          <p:nvPr/>
        </p:nvSpPr>
        <p:spPr>
          <a:xfrm>
            <a:off x="15239802" y="434346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72" name="Text 70"/>
          <p:cNvSpPr/>
          <p:nvPr/>
        </p:nvSpPr>
        <p:spPr>
          <a:xfrm>
            <a:off x="15439827" y="4343464"/>
            <a:ext cx="1411188"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Unlimited portfolio</a:t>
            </a:r>
            <a:endParaRPr lang="en-US" sz="1200" dirty="0"/>
          </a:p>
        </p:txBody>
      </p:sp>
      <p:sp>
        <p:nvSpPr>
          <p:cNvPr id="73" name="Text 71"/>
          <p:cNvSpPr/>
          <p:nvPr/>
        </p:nvSpPr>
        <p:spPr>
          <a:xfrm>
            <a:off x="15239802" y="463238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74" name="Text 72"/>
          <p:cNvSpPr/>
          <p:nvPr/>
        </p:nvSpPr>
        <p:spPr>
          <a:xfrm>
            <a:off x="15439827" y="4632389"/>
            <a:ext cx="1137245"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Featured listing</a:t>
            </a:r>
            <a:endParaRPr lang="en-US" sz="1200" dirty="0"/>
          </a:p>
        </p:txBody>
      </p:sp>
      <p:sp>
        <p:nvSpPr>
          <p:cNvPr id="75" name="Text 73"/>
          <p:cNvSpPr/>
          <p:nvPr/>
        </p:nvSpPr>
        <p:spPr>
          <a:xfrm>
            <a:off x="15239802" y="4921314"/>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76" name="Text 74"/>
          <p:cNvSpPr/>
          <p:nvPr/>
        </p:nvSpPr>
        <p:spPr>
          <a:xfrm>
            <a:off x="15439827" y="4921314"/>
            <a:ext cx="1139031"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Priority support</a:t>
            </a:r>
            <a:endParaRPr lang="en-US" sz="1200" dirty="0"/>
          </a:p>
        </p:txBody>
      </p:sp>
      <p:sp>
        <p:nvSpPr>
          <p:cNvPr id="77" name="Text 75"/>
          <p:cNvSpPr/>
          <p:nvPr/>
        </p:nvSpPr>
        <p:spPr>
          <a:xfrm>
            <a:off x="15239802" y="5210239"/>
            <a:ext cx="190500" cy="241300"/>
          </a:xfrm>
          <a:prstGeom prst="rect">
            <a:avLst/>
          </a:prstGeom>
          <a:noFill/>
          <a:ln/>
        </p:spPr>
        <p:txBody>
          <a:bodyPr wrap="square" lIns="25400" tIns="25400" rIns="25400" bIns="25400" rtlCol="0" anchor="t">
            <a:normAutofit/>
          </a:bodyPr>
          <a:lstStyle/>
          <a:p>
            <a:pPr marL="0" indent="0" algn="l">
              <a:buNone/>
            </a:pPr>
            <a:r>
              <a:rPr lang="en-US" sz="1200" dirty="0">
                <a:solidFill>
                  <a:srgbClr val="2F8F57">
                    <a:alpha val="94000"/>
                  </a:srgbClr>
                </a:solidFill>
                <a:latin typeface="Arial" pitchFamily="34" charset="0"/>
                <a:ea typeface="Arial" pitchFamily="34" charset="-122"/>
                <a:cs typeface="Arial" pitchFamily="34" charset="-120"/>
              </a:rPr>
              <a:t>✓</a:t>
            </a:r>
            <a:endParaRPr lang="en-US" sz="1200" dirty="0"/>
          </a:p>
        </p:txBody>
      </p:sp>
      <p:sp>
        <p:nvSpPr>
          <p:cNvPr id="78" name="Text 76"/>
          <p:cNvSpPr/>
          <p:nvPr/>
        </p:nvSpPr>
        <p:spPr>
          <a:xfrm>
            <a:off x="15439827" y="5210239"/>
            <a:ext cx="1451134" cy="241300"/>
          </a:xfrm>
          <a:prstGeom prst="rect">
            <a:avLst/>
          </a:prstGeom>
          <a:noFill/>
          <a:ln/>
        </p:spPr>
        <p:txBody>
          <a:bodyPr wrap="square" lIns="25400" tIns="25400" rIns="25400" bIns="25400" rtlCol="0" anchor="t">
            <a:normAutofit/>
          </a:bodyPr>
          <a:lstStyle/>
          <a:p>
            <a:pPr marL="0" indent="0" algn="l">
              <a:buNone/>
            </a:pPr>
            <a:r>
              <a:rPr lang="en-US" sz="1200" dirty="0">
                <a:solidFill>
                  <a:srgbClr val="D8CEC2">
                    <a:alpha val="94000"/>
                  </a:srgbClr>
                </a:solidFill>
                <a:latin typeface="Arial" pitchFamily="34" charset="0"/>
                <a:ea typeface="Arial" pitchFamily="34" charset="-122"/>
                <a:cs typeface="Arial" pitchFamily="34" charset="-120"/>
              </a:rPr>
              <a:t>Advanced analytics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1143000" y="857854"/>
            <a:ext cx="176022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solidFill>
                <a:latin typeface="Courier New" pitchFamily="34" charset="0"/>
                <a:ea typeface="Courier New" pitchFamily="34" charset="-122"/>
                <a:cs typeface="Courier New" pitchFamily="34" charset="-120"/>
              </a:rPr>
              <a:t>WHAT'S NEXT</a:t>
            </a:r>
            <a:endParaRPr lang="en-US" sz="1650" dirty="0"/>
          </a:p>
        </p:txBody>
      </p:sp>
      <p:sp>
        <p:nvSpPr>
          <p:cNvPr id="3" name="Text 1"/>
          <p:cNvSpPr/>
          <p:nvPr/>
        </p:nvSpPr>
        <p:spPr>
          <a:xfrm>
            <a:off x="1143000" y="1256784"/>
            <a:ext cx="17602200" cy="762000"/>
          </a:xfrm>
          <a:prstGeom prst="rect">
            <a:avLst/>
          </a:prstGeom>
          <a:noFill/>
          <a:ln/>
        </p:spPr>
        <p:txBody>
          <a:bodyPr wrap="square" lIns="25400" tIns="25400" rIns="25400" bIns="25400" rtlCol="0" anchor="t">
            <a:normAutofit lnSpcReduction="10000"/>
          </a:bodyPr>
          <a:lstStyle/>
          <a:p>
            <a:pPr marL="0" indent="0" algn="l">
              <a:buNone/>
            </a:pPr>
            <a:r>
              <a:rPr lang="en-US" sz="4950" b="1" kern="0" spc="-49" dirty="0">
                <a:solidFill>
                  <a:srgbClr val="1A1714">
                    <a:alpha val="98000"/>
                  </a:srgbClr>
                </a:solidFill>
                <a:latin typeface="Arial" pitchFamily="34" charset="0"/>
                <a:ea typeface="Arial" pitchFamily="34" charset="-122"/>
                <a:cs typeface="Arial" pitchFamily="34" charset="-120"/>
              </a:rPr>
              <a:t>Future Scope</a:t>
            </a:r>
            <a:endParaRPr lang="en-US" sz="4950" dirty="0"/>
          </a:p>
        </p:txBody>
      </p:sp>
      <p:sp>
        <p:nvSpPr>
          <p:cNvPr id="4" name="Shape 2"/>
          <p:cNvSpPr/>
          <p:nvPr/>
        </p:nvSpPr>
        <p:spPr>
          <a:xfrm>
            <a:off x="1143000" y="2412738"/>
            <a:ext cx="7886700" cy="2192734"/>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5" name="Text 3"/>
          <p:cNvSpPr/>
          <p:nvPr/>
        </p:nvSpPr>
        <p:spPr>
          <a:xfrm>
            <a:off x="1466850" y="3312256"/>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2661A">
                    <a:alpha val="92000"/>
                  </a:srgbClr>
                </a:solidFill>
                <a:latin typeface="Arial" pitchFamily="34" charset="0"/>
                <a:ea typeface="Arial" pitchFamily="34" charset="-122"/>
                <a:cs typeface="Arial" pitchFamily="34" charset="-120"/>
              </a:rPr>
              <a:t>→</a:t>
            </a:r>
            <a:endParaRPr lang="en-US" sz="2700" dirty="0"/>
          </a:p>
        </p:txBody>
      </p:sp>
      <p:sp>
        <p:nvSpPr>
          <p:cNvPr id="6" name="Text 4"/>
          <p:cNvSpPr/>
          <p:nvPr/>
        </p:nvSpPr>
        <p:spPr>
          <a:xfrm>
            <a:off x="2019300" y="3322376"/>
            <a:ext cx="4911547"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Native mobile apps </a:t>
            </a:r>
            <a:r>
              <a:rPr lang="en-US" sz="2100" dirty="0">
                <a:solidFill>
                  <a:srgbClr val="1A1714">
                    <a:alpha val="92000"/>
                  </a:srgbClr>
                </a:solidFill>
                <a:latin typeface="Arial" pitchFamily="34" charset="0"/>
                <a:ea typeface="Arial" pitchFamily="34" charset="-122"/>
                <a:cs typeface="Arial" pitchFamily="34" charset="-120"/>
              </a:rPr>
              <a:t>for Android &amp; iOS.</a:t>
            </a:r>
            <a:endParaRPr lang="en-US" sz="2100" dirty="0"/>
          </a:p>
        </p:txBody>
      </p:sp>
      <p:sp>
        <p:nvSpPr>
          <p:cNvPr id="7" name="Shape 5"/>
          <p:cNvSpPr/>
          <p:nvPr/>
        </p:nvSpPr>
        <p:spPr>
          <a:xfrm>
            <a:off x="9258300" y="2412738"/>
            <a:ext cx="7886700" cy="2192734"/>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8" name="Text 6"/>
          <p:cNvSpPr/>
          <p:nvPr/>
        </p:nvSpPr>
        <p:spPr>
          <a:xfrm>
            <a:off x="9582150" y="3312256"/>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2661A">
                    <a:alpha val="92000"/>
                  </a:srgbClr>
                </a:solidFill>
                <a:latin typeface="Arial" pitchFamily="34" charset="0"/>
                <a:ea typeface="Arial" pitchFamily="34" charset="-122"/>
                <a:cs typeface="Arial" pitchFamily="34" charset="-120"/>
              </a:rPr>
              <a:t>→</a:t>
            </a:r>
            <a:endParaRPr lang="en-US" sz="2700" dirty="0"/>
          </a:p>
        </p:txBody>
      </p:sp>
      <p:sp>
        <p:nvSpPr>
          <p:cNvPr id="9" name="Text 7"/>
          <p:cNvSpPr/>
          <p:nvPr/>
        </p:nvSpPr>
        <p:spPr>
          <a:xfrm>
            <a:off x="10134600" y="3322376"/>
            <a:ext cx="4861560"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Full online escrow payments </a:t>
            </a:r>
            <a:r>
              <a:rPr lang="en-US" sz="2100" dirty="0">
                <a:solidFill>
                  <a:srgbClr val="1A1714">
                    <a:alpha val="92000"/>
                  </a:srgbClr>
                </a:solidFill>
                <a:latin typeface="Arial" pitchFamily="34" charset="0"/>
                <a:ea typeface="Arial" pitchFamily="34" charset="-122"/>
                <a:cs typeface="Arial" pitchFamily="34" charset="-120"/>
              </a:rPr>
              <a:t>at scale.</a:t>
            </a:r>
            <a:endParaRPr lang="en-US" sz="2100" dirty="0"/>
          </a:p>
        </p:txBody>
      </p:sp>
      <p:sp>
        <p:nvSpPr>
          <p:cNvPr id="10" name="Shape 8"/>
          <p:cNvSpPr/>
          <p:nvPr/>
        </p:nvSpPr>
        <p:spPr>
          <a:xfrm>
            <a:off x="1143000" y="4834073"/>
            <a:ext cx="7886700" cy="2192932"/>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11" name="Text 9"/>
          <p:cNvSpPr/>
          <p:nvPr/>
        </p:nvSpPr>
        <p:spPr>
          <a:xfrm>
            <a:off x="1466850" y="5733590"/>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F8F57">
                    <a:alpha val="92000"/>
                  </a:srgbClr>
                </a:solidFill>
                <a:latin typeface="Arial" pitchFamily="34" charset="0"/>
                <a:ea typeface="Arial" pitchFamily="34" charset="-122"/>
                <a:cs typeface="Arial" pitchFamily="34" charset="-120"/>
              </a:rPr>
              <a:t>→</a:t>
            </a:r>
            <a:endParaRPr lang="en-US" sz="2700" dirty="0"/>
          </a:p>
        </p:txBody>
      </p:sp>
      <p:sp>
        <p:nvSpPr>
          <p:cNvPr id="12" name="Text 10"/>
          <p:cNvSpPr/>
          <p:nvPr/>
        </p:nvSpPr>
        <p:spPr>
          <a:xfrm>
            <a:off x="2019300" y="5743909"/>
            <a:ext cx="5677059"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Smarter AI matching </a:t>
            </a:r>
            <a:r>
              <a:rPr lang="en-US" sz="2100" dirty="0">
                <a:solidFill>
                  <a:srgbClr val="1A1714">
                    <a:alpha val="92000"/>
                  </a:srgbClr>
                </a:solidFill>
                <a:latin typeface="Arial" pitchFamily="34" charset="0"/>
                <a:ea typeface="Arial" pitchFamily="34" charset="-122"/>
                <a:cs typeface="Arial" pitchFamily="34" charset="-120"/>
              </a:rPr>
              <a:t>of builders to projects.</a:t>
            </a:r>
            <a:endParaRPr lang="en-US" sz="2100" dirty="0"/>
          </a:p>
        </p:txBody>
      </p:sp>
      <p:sp>
        <p:nvSpPr>
          <p:cNvPr id="13" name="Shape 11"/>
          <p:cNvSpPr/>
          <p:nvPr/>
        </p:nvSpPr>
        <p:spPr>
          <a:xfrm>
            <a:off x="9258300" y="4834073"/>
            <a:ext cx="7886700" cy="2192932"/>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14" name="Text 12"/>
          <p:cNvSpPr/>
          <p:nvPr/>
        </p:nvSpPr>
        <p:spPr>
          <a:xfrm>
            <a:off x="9582150" y="5733590"/>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F8F57">
                    <a:alpha val="92000"/>
                  </a:srgbClr>
                </a:solidFill>
                <a:latin typeface="Arial" pitchFamily="34" charset="0"/>
                <a:ea typeface="Arial" pitchFamily="34" charset="-122"/>
                <a:cs typeface="Arial" pitchFamily="34" charset="-120"/>
              </a:rPr>
              <a:t>→</a:t>
            </a:r>
            <a:endParaRPr lang="en-US" sz="2700" dirty="0"/>
          </a:p>
        </p:txBody>
      </p:sp>
      <p:sp>
        <p:nvSpPr>
          <p:cNvPr id="15" name="Text 13"/>
          <p:cNvSpPr/>
          <p:nvPr/>
        </p:nvSpPr>
        <p:spPr>
          <a:xfrm>
            <a:off x="10134600" y="5743909"/>
            <a:ext cx="4803934"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Supplier logistics </a:t>
            </a:r>
            <a:r>
              <a:rPr lang="en-US" sz="2100" dirty="0">
                <a:solidFill>
                  <a:srgbClr val="1A1714">
                    <a:alpha val="92000"/>
                  </a:srgbClr>
                </a:solidFill>
                <a:latin typeface="Arial" pitchFamily="34" charset="0"/>
                <a:ea typeface="Arial" pitchFamily="34" charset="-122"/>
                <a:cs typeface="Arial" pitchFamily="34" charset="-120"/>
              </a:rPr>
              <a:t>&amp; delivery tracking.</a:t>
            </a:r>
            <a:endParaRPr lang="en-US" sz="2100" dirty="0"/>
          </a:p>
        </p:txBody>
      </p:sp>
      <p:sp>
        <p:nvSpPr>
          <p:cNvPr id="16" name="Shape 14"/>
          <p:cNvSpPr/>
          <p:nvPr/>
        </p:nvSpPr>
        <p:spPr>
          <a:xfrm>
            <a:off x="1143000" y="7255605"/>
            <a:ext cx="7886700" cy="2192933"/>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17" name="Text 15"/>
          <p:cNvSpPr/>
          <p:nvPr/>
        </p:nvSpPr>
        <p:spPr>
          <a:xfrm>
            <a:off x="1466850" y="8155123"/>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2661A">
                    <a:alpha val="92000"/>
                  </a:srgbClr>
                </a:solidFill>
                <a:latin typeface="Arial" pitchFamily="34" charset="0"/>
                <a:ea typeface="Arial" pitchFamily="34" charset="-122"/>
                <a:cs typeface="Arial" pitchFamily="34" charset="-120"/>
              </a:rPr>
              <a:t>→</a:t>
            </a:r>
            <a:endParaRPr lang="en-US" sz="2700" dirty="0"/>
          </a:p>
        </p:txBody>
      </p:sp>
      <p:sp>
        <p:nvSpPr>
          <p:cNvPr id="18" name="Text 16"/>
          <p:cNvSpPr/>
          <p:nvPr/>
        </p:nvSpPr>
        <p:spPr>
          <a:xfrm>
            <a:off x="2019300" y="8165441"/>
            <a:ext cx="4779705"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Multi-city expansion </a:t>
            </a:r>
            <a:r>
              <a:rPr lang="en-US" sz="2100" dirty="0">
                <a:solidFill>
                  <a:srgbClr val="1A1714">
                    <a:alpha val="92000"/>
                  </a:srgbClr>
                </a:solidFill>
                <a:latin typeface="Arial" pitchFamily="34" charset="0"/>
                <a:ea typeface="Arial" pitchFamily="34" charset="-122"/>
                <a:cs typeface="Arial" pitchFamily="34" charset="-120"/>
              </a:rPr>
              <a:t>across Pakistan.</a:t>
            </a:r>
            <a:endParaRPr lang="en-US" sz="2100" dirty="0"/>
          </a:p>
        </p:txBody>
      </p:sp>
      <p:sp>
        <p:nvSpPr>
          <p:cNvPr id="19" name="Shape 17"/>
          <p:cNvSpPr/>
          <p:nvPr/>
        </p:nvSpPr>
        <p:spPr>
          <a:xfrm>
            <a:off x="9258300" y="7255605"/>
            <a:ext cx="7886700" cy="2192933"/>
          </a:xfrm>
          <a:prstGeom prst="roundRect">
            <a:avLst>
              <a:gd name="adj" fmla="val 6950"/>
            </a:avLst>
          </a:prstGeom>
          <a:solidFill>
            <a:srgbClr val="FFFFFF">
              <a:alpha val="92000"/>
            </a:srgbClr>
          </a:solidFill>
          <a:ln/>
          <a:effectLst>
            <a:outerShdw blurRad="247650" dist="95250" dir="5400000" algn="bl" rotWithShape="0">
              <a:srgbClr val="1A1714">
                <a:alpha val="5545"/>
              </a:srgbClr>
            </a:outerShdw>
          </a:effectLst>
        </p:spPr>
      </p:sp>
      <p:sp>
        <p:nvSpPr>
          <p:cNvPr id="20" name="Text 18"/>
          <p:cNvSpPr/>
          <p:nvPr/>
        </p:nvSpPr>
        <p:spPr>
          <a:xfrm>
            <a:off x="9582150" y="8155123"/>
            <a:ext cx="419100" cy="43180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2F8F57">
                    <a:alpha val="92000"/>
                  </a:srgbClr>
                </a:solidFill>
                <a:latin typeface="Arial" pitchFamily="34" charset="0"/>
                <a:ea typeface="Arial" pitchFamily="34" charset="-122"/>
                <a:cs typeface="Arial" pitchFamily="34" charset="-120"/>
              </a:rPr>
              <a:t>→</a:t>
            </a:r>
            <a:endParaRPr lang="en-US" sz="2700" dirty="0"/>
          </a:p>
        </p:txBody>
      </p:sp>
      <p:sp>
        <p:nvSpPr>
          <p:cNvPr id="21" name="Text 19"/>
          <p:cNvSpPr/>
          <p:nvPr/>
        </p:nvSpPr>
        <p:spPr>
          <a:xfrm>
            <a:off x="10134600" y="8165441"/>
            <a:ext cx="4526062" cy="411361"/>
          </a:xfrm>
          <a:prstGeom prst="rect">
            <a:avLst/>
          </a:prstGeom>
          <a:noFill/>
          <a:ln/>
        </p:spPr>
        <p:txBody>
          <a:bodyPr wrap="square" lIns="25400" tIns="25400" rIns="25400" bIns="25400" rtlCol="0" anchor="t">
            <a:normAutofit fontScale="92500"/>
          </a:bodyPr>
          <a:lstStyle/>
          <a:p>
            <a:pPr marL="0" indent="0" algn="l">
              <a:lnSpc>
                <a:spcPct val="122500"/>
              </a:lnSpc>
              <a:buNone/>
            </a:pPr>
            <a:r>
              <a:rPr lang="en-US" sz="2100" b="1" dirty="0">
                <a:solidFill>
                  <a:srgbClr val="1A1714">
                    <a:alpha val="92000"/>
                  </a:srgbClr>
                </a:solidFill>
                <a:latin typeface="Arial" pitchFamily="34" charset="0"/>
                <a:ea typeface="Arial" pitchFamily="34" charset="-122"/>
                <a:cs typeface="Arial" pitchFamily="34" charset="-120"/>
              </a:rPr>
              <a:t>Full Urdu interface </a:t>
            </a:r>
            <a:r>
              <a:rPr lang="en-US" sz="2100" dirty="0">
                <a:solidFill>
                  <a:srgbClr val="1A1714">
                    <a:alpha val="92000"/>
                  </a:srgbClr>
                </a:solidFill>
                <a:latin typeface="Arial" pitchFamily="34" charset="0"/>
                <a:ea typeface="Arial" pitchFamily="34" charset="-122"/>
                <a:cs typeface="Arial" pitchFamily="34" charset="-120"/>
              </a:rPr>
              <a:t>for wider reach.</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714"/>
        </a:solidFill>
        <a:effectLst/>
      </p:bgPr>
    </p:bg>
    <p:spTree>
      <p:nvGrpSpPr>
        <p:cNvPr id="1" name=""/>
        <p:cNvGrpSpPr/>
        <p:nvPr/>
      </p:nvGrpSpPr>
      <p:grpSpPr>
        <a:xfrm>
          <a:off x="0" y="0"/>
          <a:ext cx="0" cy="0"/>
          <a:chOff x="0" y="0"/>
          <a:chExt cx="0" cy="0"/>
        </a:xfrm>
      </p:grpSpPr>
      <p:sp>
        <p:nvSpPr>
          <p:cNvPr id="2" name="Shape 0"/>
          <p:cNvSpPr/>
          <p:nvPr/>
        </p:nvSpPr>
        <p:spPr>
          <a:xfrm>
            <a:off x="14478000" y="-1332904"/>
            <a:ext cx="4953000" cy="4953000"/>
          </a:xfrm>
          <a:prstGeom prst="ellipse">
            <a:avLst/>
          </a:prstGeom>
          <a:ln w="12700">
            <a:solidFill>
              <a:srgbClr val="F2661A">
                <a:alpha val="14000"/>
              </a:srgbClr>
            </a:solidFill>
            <a:prstDash val="solid"/>
          </a:ln>
        </p:spPr>
      </p:sp>
      <p:sp>
        <p:nvSpPr>
          <p:cNvPr id="3" name="Text 1"/>
          <p:cNvSpPr/>
          <p:nvPr/>
        </p:nvSpPr>
        <p:spPr>
          <a:xfrm>
            <a:off x="1143000" y="2750791"/>
            <a:ext cx="17602200" cy="317500"/>
          </a:xfrm>
          <a:prstGeom prst="rect">
            <a:avLst/>
          </a:prstGeom>
          <a:noFill/>
          <a:ln/>
        </p:spPr>
        <p:txBody>
          <a:bodyPr wrap="square" lIns="25400" tIns="25400" rIns="25400" bIns="25400" rtlCol="0" anchor="t">
            <a:normAutofit/>
          </a:bodyPr>
          <a:lstStyle/>
          <a:p>
            <a:pPr marL="0" indent="0" algn="l">
              <a:buNone/>
            </a:pPr>
            <a:r>
              <a:rPr lang="en-US" sz="1650" kern="0" spc="396" dirty="0">
                <a:solidFill>
                  <a:srgbClr val="F2661A">
                    <a:alpha val="98000"/>
                  </a:srgbClr>
                </a:solidFill>
                <a:latin typeface="Courier New" pitchFamily="34" charset="0"/>
                <a:ea typeface="Courier New" pitchFamily="34" charset="-122"/>
                <a:cs typeface="Courier New" pitchFamily="34" charset="-120"/>
              </a:rPr>
              <a:t>IN SUMMARY</a:t>
            </a:r>
            <a:endParaRPr lang="en-US" sz="1650" dirty="0"/>
          </a:p>
        </p:txBody>
      </p:sp>
      <p:sp>
        <p:nvSpPr>
          <p:cNvPr id="4" name="Text 2"/>
          <p:cNvSpPr/>
          <p:nvPr/>
        </p:nvSpPr>
        <p:spPr>
          <a:xfrm>
            <a:off x="1143000" y="3195514"/>
            <a:ext cx="13735050" cy="1475978"/>
          </a:xfrm>
          <a:prstGeom prst="rect">
            <a:avLst/>
          </a:prstGeom>
          <a:noFill/>
          <a:ln/>
        </p:spPr>
        <p:txBody>
          <a:bodyPr wrap="square" lIns="25400" tIns="25400" rIns="25400" bIns="25400" rtlCol="0" anchor="t">
            <a:normAutofit lnSpcReduction="10000"/>
          </a:bodyPr>
          <a:lstStyle/>
          <a:p>
            <a:pPr marL="0" indent="0" algn="l">
              <a:lnSpc>
                <a:spcPct val="88453"/>
              </a:lnSpc>
              <a:buNone/>
            </a:pPr>
            <a:r>
              <a:rPr lang="en-US" sz="5550" b="1" kern="0" spc="-111" dirty="0">
                <a:solidFill>
                  <a:srgbClr val="F7F4EF">
                    <a:alpha val="92000"/>
                  </a:srgbClr>
                </a:solidFill>
                <a:latin typeface="Arial" pitchFamily="34" charset="0"/>
                <a:ea typeface="Arial" pitchFamily="34" charset="-122"/>
                <a:cs typeface="Arial" pitchFamily="34" charset="-120"/>
              </a:rPr>
              <a:t>A trusted, complete platform for Pakistan's builders</a:t>
            </a:r>
            <a:endParaRPr lang="en-US" sz="5550" dirty="0"/>
          </a:p>
        </p:txBody>
      </p:sp>
      <p:sp>
        <p:nvSpPr>
          <p:cNvPr id="5" name="Shape 3"/>
          <p:cNvSpPr/>
          <p:nvPr/>
        </p:nvSpPr>
        <p:spPr>
          <a:xfrm>
            <a:off x="1143000" y="5122364"/>
            <a:ext cx="133350" cy="133350"/>
          </a:xfrm>
          <a:prstGeom prst="roundRect">
            <a:avLst>
              <a:gd name="adj" fmla="val 21429"/>
            </a:avLst>
          </a:prstGeom>
          <a:solidFill>
            <a:srgbClr val="2F8F57">
              <a:alpha val="83000"/>
            </a:srgbClr>
          </a:solidFill>
          <a:ln/>
        </p:spPr>
      </p:sp>
      <p:sp>
        <p:nvSpPr>
          <p:cNvPr id="6" name="Text 4"/>
          <p:cNvSpPr/>
          <p:nvPr/>
        </p:nvSpPr>
        <p:spPr>
          <a:xfrm>
            <a:off x="1466850" y="4998539"/>
            <a:ext cx="9872643" cy="43815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2250" dirty="0">
                <a:solidFill>
                  <a:srgbClr val="F7F4EF">
                    <a:alpha val="83000"/>
                  </a:srgbClr>
                </a:solidFill>
                <a:latin typeface="Arial" pitchFamily="34" charset="0"/>
                <a:ea typeface="Arial" pitchFamily="34" charset="-122"/>
                <a:cs typeface="Arial" pitchFamily="34" charset="-120"/>
              </a:rPr>
              <a:t>Solves a real, unaddressed problem in Pakistan's construction market.</a:t>
            </a:r>
            <a:endParaRPr lang="en-US" sz="2250" dirty="0"/>
          </a:p>
        </p:txBody>
      </p:sp>
      <p:sp>
        <p:nvSpPr>
          <p:cNvPr id="7" name="Shape 5"/>
          <p:cNvSpPr/>
          <p:nvPr/>
        </p:nvSpPr>
        <p:spPr>
          <a:xfrm>
            <a:off x="1143000" y="5712914"/>
            <a:ext cx="133350" cy="133350"/>
          </a:xfrm>
          <a:prstGeom prst="roundRect">
            <a:avLst>
              <a:gd name="adj" fmla="val 21429"/>
            </a:avLst>
          </a:prstGeom>
          <a:solidFill>
            <a:srgbClr val="2F8F57">
              <a:alpha val="83000"/>
            </a:srgbClr>
          </a:solidFill>
          <a:ln/>
        </p:spPr>
      </p:sp>
      <p:sp>
        <p:nvSpPr>
          <p:cNvPr id="8" name="Text 6"/>
          <p:cNvSpPr/>
          <p:nvPr/>
        </p:nvSpPr>
        <p:spPr>
          <a:xfrm>
            <a:off x="1466850" y="5589089"/>
            <a:ext cx="7568466" cy="43815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2250" dirty="0">
                <a:solidFill>
                  <a:srgbClr val="F7F4EF">
                    <a:alpha val="83000"/>
                  </a:srgbClr>
                </a:solidFill>
                <a:latin typeface="Arial" pitchFamily="34" charset="0"/>
                <a:ea typeface="Arial" pitchFamily="34" charset="-122"/>
                <a:cs typeface="Arial" pitchFamily="34" charset="-120"/>
              </a:rPr>
              <a:t>A complete, working full-stack product across 8 roles.</a:t>
            </a:r>
            <a:endParaRPr lang="en-US" sz="2250" dirty="0"/>
          </a:p>
        </p:txBody>
      </p:sp>
      <p:sp>
        <p:nvSpPr>
          <p:cNvPr id="9" name="Shape 7"/>
          <p:cNvSpPr/>
          <p:nvPr/>
        </p:nvSpPr>
        <p:spPr>
          <a:xfrm>
            <a:off x="1143000" y="6303464"/>
            <a:ext cx="133350" cy="133350"/>
          </a:xfrm>
          <a:prstGeom prst="roundRect">
            <a:avLst>
              <a:gd name="adj" fmla="val 21429"/>
            </a:avLst>
          </a:prstGeom>
          <a:solidFill>
            <a:srgbClr val="2F8F57">
              <a:alpha val="83000"/>
            </a:srgbClr>
          </a:solidFill>
          <a:ln/>
        </p:spPr>
      </p:sp>
      <p:sp>
        <p:nvSpPr>
          <p:cNvPr id="10" name="Text 8"/>
          <p:cNvSpPr/>
          <p:nvPr/>
        </p:nvSpPr>
        <p:spPr>
          <a:xfrm>
            <a:off x="1466850" y="6179639"/>
            <a:ext cx="5502434" cy="438150"/>
          </a:xfrm>
          <a:prstGeom prst="rect">
            <a:avLst/>
          </a:prstGeom>
          <a:noFill/>
          <a:ln/>
        </p:spPr>
        <p:txBody>
          <a:bodyPr wrap="square" lIns="25400" tIns="25400" rIns="25400" bIns="25400" rtlCol="0" anchor="t">
            <a:normAutofit lnSpcReduction="10000"/>
          </a:bodyPr>
          <a:lstStyle/>
          <a:p>
            <a:pPr marL="0" indent="0" algn="l">
              <a:lnSpc>
                <a:spcPct val="121154"/>
              </a:lnSpc>
              <a:buNone/>
            </a:pPr>
            <a:r>
              <a:rPr lang="en-US" sz="2250" dirty="0">
                <a:solidFill>
                  <a:srgbClr val="F7F4EF">
                    <a:alpha val="83000"/>
                  </a:srgbClr>
                </a:solidFill>
                <a:latin typeface="Arial" pitchFamily="34" charset="0"/>
                <a:ea typeface="Arial" pitchFamily="34" charset="-122"/>
                <a:cs typeface="Arial" pitchFamily="34" charset="-120"/>
              </a:rPr>
              <a:t>AI-enhanced, secure and built to scale.</a:t>
            </a:r>
            <a:endParaRPr lang="en-US" sz="2250" dirty="0"/>
          </a:p>
        </p:txBody>
      </p:sp>
      <p:sp>
        <p:nvSpPr>
          <p:cNvPr id="11" name="Text 9"/>
          <p:cNvSpPr/>
          <p:nvPr/>
        </p:nvSpPr>
        <p:spPr>
          <a:xfrm>
            <a:off x="1143000" y="7146752"/>
            <a:ext cx="2054900" cy="5080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F2661A">
                    <a:alpha val="70000"/>
                  </a:srgbClr>
                </a:solidFill>
                <a:latin typeface="Arial" pitchFamily="34" charset="0"/>
                <a:ea typeface="Arial" pitchFamily="34" charset="-122"/>
                <a:cs typeface="Arial" pitchFamily="34" charset="-120"/>
              </a:rPr>
              <a:t>Thank you</a:t>
            </a:r>
            <a:endParaRPr lang="en-US" sz="3150" dirty="0"/>
          </a:p>
        </p:txBody>
      </p:sp>
      <p:sp>
        <p:nvSpPr>
          <p:cNvPr id="12" name="Text 10"/>
          <p:cNvSpPr/>
          <p:nvPr/>
        </p:nvSpPr>
        <p:spPr>
          <a:xfrm>
            <a:off x="3277791" y="7235653"/>
            <a:ext cx="4318476" cy="393700"/>
          </a:xfrm>
          <a:prstGeom prst="rect">
            <a:avLst/>
          </a:prstGeom>
          <a:noFill/>
          <a:ln/>
        </p:spPr>
        <p:txBody>
          <a:bodyPr wrap="square" lIns="25400" tIns="25400" rIns="25400" bIns="25400" rtlCol="0" anchor="t">
            <a:normAutofit/>
          </a:bodyPr>
          <a:lstStyle/>
          <a:p>
            <a:pPr marL="0" indent="0" algn="l">
              <a:buNone/>
            </a:pPr>
            <a:r>
              <a:rPr lang="en-US" sz="2100" dirty="0">
                <a:solidFill>
                  <a:srgbClr val="8F857A">
                    <a:alpha val="70000"/>
                  </a:srgbClr>
                </a:solidFill>
                <a:latin typeface="Arial" pitchFamily="34" charset="0"/>
                <a:ea typeface="Arial" pitchFamily="34" charset="-122"/>
                <a:cs typeface="Arial" pitchFamily="34" charset="-120"/>
              </a:rPr>
              <a:t>Questions &amp; discussion welcome</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1791</Words>
  <Application>Microsoft Office PowerPoint</Application>
  <PresentationFormat>Custom</PresentationFormat>
  <Paragraphs>293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malik tabraiz</cp:lastModifiedBy>
  <cp:revision>2</cp:revision>
  <dcterms:created xsi:type="dcterms:W3CDTF">2026-07-21T19:26:41Z</dcterms:created>
  <dcterms:modified xsi:type="dcterms:W3CDTF">2026-07-21T19:29:50Z</dcterms:modified>
</cp:coreProperties>
</file>